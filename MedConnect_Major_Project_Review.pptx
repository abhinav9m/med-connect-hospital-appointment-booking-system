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ptos Bold" charset="1" panose="020B0004020202020204"/>
      <p:regular r:id="rId17"/>
    </p:embeddedFont>
    <p:embeddedFont>
      <p:font typeface="Aptos" charset="1" panose="020B0004020202020204"/>
      <p:regular r:id="rId18"/>
    </p:embeddedFont>
    <p:embeddedFont>
      <p:font typeface="Calibri (MS) Bold" charset="1" panose="020F0702030404030204"/>
      <p:regular r:id="rId19"/>
    </p:embeddedFont>
    <p:embeddedFont>
      <p:font typeface="Calibri (MS) Bold Italics" charset="1" panose="020F07020304040A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png" Type="http://schemas.openxmlformats.org/officeDocument/2006/relationships/image"/><Relationship Id="rId4"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83052"/>
            </a:solidFill>
          </p:spPr>
        </p:sp>
      </p:grpSp>
      <p:grpSp>
        <p:nvGrpSpPr>
          <p:cNvPr name="Group 4" id="4"/>
          <p:cNvGrpSpPr/>
          <p:nvPr/>
        </p:nvGrpSpPr>
        <p:grpSpPr>
          <a:xfrm rot="0">
            <a:off x="14058900" y="0"/>
            <a:ext cx="4228643" cy="10287000"/>
            <a:chOff x="0" y="0"/>
            <a:chExt cx="5638190" cy="13716000"/>
          </a:xfrm>
        </p:grpSpPr>
        <p:sp>
          <p:nvSpPr>
            <p:cNvPr name="Freeform 5" id="5"/>
            <p:cNvSpPr/>
            <p:nvPr/>
          </p:nvSpPr>
          <p:spPr>
            <a:xfrm flipH="false" flipV="false" rot="0">
              <a:off x="0" y="0"/>
              <a:ext cx="5638165" cy="13716000"/>
            </a:xfrm>
            <a:custGeom>
              <a:avLst/>
              <a:gdLst/>
              <a:ahLst/>
              <a:cxnLst/>
              <a:rect r="r" b="b" t="t" l="l"/>
              <a:pathLst>
                <a:path h="13716000" w="5638165">
                  <a:moveTo>
                    <a:pt x="0" y="0"/>
                  </a:moveTo>
                  <a:lnTo>
                    <a:pt x="5638165" y="0"/>
                  </a:lnTo>
                  <a:lnTo>
                    <a:pt x="5638165" y="13716000"/>
                  </a:lnTo>
                  <a:lnTo>
                    <a:pt x="0" y="13716000"/>
                  </a:lnTo>
                  <a:close/>
                </a:path>
              </a:pathLst>
            </a:custGeom>
            <a:solidFill>
              <a:srgbClr val="0A6FA6"/>
            </a:solidFill>
          </p:spPr>
        </p:sp>
      </p:grpSp>
      <p:grpSp>
        <p:nvGrpSpPr>
          <p:cNvPr name="Group 6" id="6"/>
          <p:cNvGrpSpPr/>
          <p:nvPr/>
        </p:nvGrpSpPr>
        <p:grpSpPr>
          <a:xfrm rot="0">
            <a:off x="15156180" y="0"/>
            <a:ext cx="3131363" cy="10287000"/>
            <a:chOff x="0" y="0"/>
            <a:chExt cx="4175150" cy="13716000"/>
          </a:xfrm>
        </p:grpSpPr>
        <p:sp>
          <p:nvSpPr>
            <p:cNvPr name="Freeform 7" id="7"/>
            <p:cNvSpPr/>
            <p:nvPr/>
          </p:nvSpPr>
          <p:spPr>
            <a:xfrm flipH="false" flipV="false" rot="0">
              <a:off x="0" y="0"/>
              <a:ext cx="4175125" cy="13716000"/>
            </a:xfrm>
            <a:custGeom>
              <a:avLst/>
              <a:gdLst/>
              <a:ahLst/>
              <a:cxnLst/>
              <a:rect r="r" b="b" t="t" l="l"/>
              <a:pathLst>
                <a:path h="13716000" w="4175125">
                  <a:moveTo>
                    <a:pt x="0" y="0"/>
                  </a:moveTo>
                  <a:lnTo>
                    <a:pt x="4175125" y="0"/>
                  </a:lnTo>
                  <a:lnTo>
                    <a:pt x="4175125" y="13716000"/>
                  </a:lnTo>
                  <a:lnTo>
                    <a:pt x="0" y="13716000"/>
                  </a:lnTo>
                  <a:close/>
                </a:path>
              </a:pathLst>
            </a:custGeom>
            <a:solidFill>
              <a:srgbClr val="009DB2"/>
            </a:solidFill>
          </p:spPr>
        </p:sp>
      </p:grpSp>
      <p:sp>
        <p:nvSpPr>
          <p:cNvPr name="TextBox 8" id="8"/>
          <p:cNvSpPr txBox="true"/>
          <p:nvPr/>
        </p:nvSpPr>
        <p:spPr>
          <a:xfrm rot="0">
            <a:off x="3156604" y="623449"/>
            <a:ext cx="9966960" cy="1155059"/>
          </a:xfrm>
          <a:prstGeom prst="rect">
            <a:avLst/>
          </a:prstGeom>
        </p:spPr>
        <p:txBody>
          <a:bodyPr anchor="t" rtlCol="false" tIns="0" lIns="0" bIns="0" rIns="0">
            <a:spAutoFit/>
          </a:bodyPr>
          <a:lstStyle/>
          <a:p>
            <a:pPr algn="l">
              <a:lnSpc>
                <a:spcPts val="4320"/>
              </a:lnSpc>
            </a:pPr>
            <a:r>
              <a:rPr lang="en-US" sz="3600" b="true">
                <a:solidFill>
                  <a:srgbClr val="FFFFFF"/>
                </a:solidFill>
                <a:latin typeface="Aptos Bold"/>
                <a:ea typeface="Aptos Bold"/>
                <a:cs typeface="Aptos Bold"/>
                <a:sym typeface="Aptos Bold"/>
              </a:rPr>
              <a:t>KOMMURI PRATAP REDDY</a:t>
            </a:r>
          </a:p>
          <a:p>
            <a:pPr algn="l">
              <a:lnSpc>
                <a:spcPts val="4320"/>
              </a:lnSpc>
            </a:pPr>
            <a:r>
              <a:rPr lang="en-US" sz="3600" b="true">
                <a:solidFill>
                  <a:srgbClr val="FFFFFF"/>
                </a:solidFill>
                <a:latin typeface="Aptos Bold"/>
                <a:ea typeface="Aptos Bold"/>
                <a:cs typeface="Aptos Bold"/>
                <a:sym typeface="Aptos Bold"/>
              </a:rPr>
              <a:t>INSTITUTE OF TECHNOLOGY</a:t>
            </a:r>
          </a:p>
        </p:txBody>
      </p:sp>
      <p:sp>
        <p:nvSpPr>
          <p:cNvPr name="TextBox 9" id="9"/>
          <p:cNvSpPr txBox="true"/>
          <p:nvPr/>
        </p:nvSpPr>
        <p:spPr>
          <a:xfrm rot="0">
            <a:off x="3156604" y="1828800"/>
            <a:ext cx="10104120" cy="508721"/>
          </a:xfrm>
          <a:prstGeom prst="rect">
            <a:avLst/>
          </a:prstGeom>
        </p:spPr>
        <p:txBody>
          <a:bodyPr anchor="t" rtlCol="false" tIns="0" lIns="0" bIns="0" rIns="0">
            <a:spAutoFit/>
          </a:bodyPr>
          <a:lstStyle/>
          <a:p>
            <a:pPr algn="l">
              <a:lnSpc>
                <a:spcPts val="3600"/>
              </a:lnSpc>
            </a:pPr>
            <a:r>
              <a:rPr lang="en-US" sz="3000" b="true">
                <a:solidFill>
                  <a:srgbClr val="D2EBF5"/>
                </a:solidFill>
                <a:latin typeface="Aptos Bold"/>
                <a:ea typeface="Aptos Bold"/>
                <a:cs typeface="Aptos Bold"/>
                <a:sym typeface="Aptos Bold"/>
              </a:rPr>
              <a:t>Department of Computer Science &amp; Engineering</a:t>
            </a:r>
          </a:p>
        </p:txBody>
      </p:sp>
      <p:sp>
        <p:nvSpPr>
          <p:cNvPr name="TextBox 10" id="10"/>
          <p:cNvSpPr txBox="true"/>
          <p:nvPr/>
        </p:nvSpPr>
        <p:spPr>
          <a:xfrm rot="0">
            <a:off x="1051560" y="2788920"/>
            <a:ext cx="11887200" cy="800100"/>
          </a:xfrm>
          <a:prstGeom prst="rect">
            <a:avLst/>
          </a:prstGeom>
        </p:spPr>
        <p:txBody>
          <a:bodyPr anchor="t" rtlCol="false" tIns="0" lIns="0" bIns="0" rIns="0">
            <a:spAutoFit/>
          </a:bodyPr>
          <a:lstStyle/>
          <a:p>
            <a:pPr algn="l">
              <a:lnSpc>
                <a:spcPts val="5400"/>
              </a:lnSpc>
            </a:pPr>
            <a:r>
              <a:rPr lang="en-US" sz="4500" b="true">
                <a:solidFill>
                  <a:srgbClr val="FFFFFF"/>
                </a:solidFill>
                <a:latin typeface="Aptos Bold"/>
                <a:ea typeface="Aptos Bold"/>
                <a:cs typeface="Aptos Bold"/>
                <a:sym typeface="Aptos Bold"/>
              </a:rPr>
              <a:t>MAJOR PROJECT REVIEW</a:t>
            </a:r>
          </a:p>
        </p:txBody>
      </p:sp>
      <p:sp>
        <p:nvSpPr>
          <p:cNvPr name="TextBox 11" id="11"/>
          <p:cNvSpPr txBox="true"/>
          <p:nvPr/>
        </p:nvSpPr>
        <p:spPr>
          <a:xfrm rot="0">
            <a:off x="1051560" y="3776472"/>
            <a:ext cx="10104120" cy="409575"/>
          </a:xfrm>
          <a:prstGeom prst="rect">
            <a:avLst/>
          </a:prstGeom>
        </p:spPr>
        <p:txBody>
          <a:bodyPr anchor="t" rtlCol="false" tIns="0" lIns="0" bIns="0" rIns="0">
            <a:spAutoFit/>
          </a:bodyPr>
          <a:lstStyle/>
          <a:p>
            <a:pPr algn="l">
              <a:lnSpc>
                <a:spcPts val="3240"/>
              </a:lnSpc>
            </a:pPr>
            <a:r>
              <a:rPr lang="en-US" sz="2700">
                <a:solidFill>
                  <a:srgbClr val="D2EBF5"/>
                </a:solidFill>
                <a:latin typeface="Aptos"/>
                <a:ea typeface="Aptos"/>
                <a:cs typeface="Aptos"/>
                <a:sym typeface="Aptos"/>
              </a:rPr>
              <a:t>IV B.Tech - CSE  |  A.Y. 2026 - 2027</a:t>
            </a:r>
          </a:p>
        </p:txBody>
      </p:sp>
      <p:grpSp>
        <p:nvGrpSpPr>
          <p:cNvPr name="Group 12" id="12"/>
          <p:cNvGrpSpPr/>
          <p:nvPr/>
        </p:nvGrpSpPr>
        <p:grpSpPr>
          <a:xfrm rot="0">
            <a:off x="960120" y="4869180"/>
            <a:ext cx="10287000" cy="1371600"/>
            <a:chOff x="0" y="0"/>
            <a:chExt cx="13716000" cy="1828800"/>
          </a:xfrm>
        </p:grpSpPr>
        <p:sp>
          <p:nvSpPr>
            <p:cNvPr name="Freeform 13" id="13"/>
            <p:cNvSpPr/>
            <p:nvPr/>
          </p:nvSpPr>
          <p:spPr>
            <a:xfrm flipH="false" flipV="false" rot="0">
              <a:off x="0" y="0"/>
              <a:ext cx="13716000" cy="1828800"/>
            </a:xfrm>
            <a:custGeom>
              <a:avLst/>
              <a:gdLst/>
              <a:ahLst/>
              <a:cxnLst/>
              <a:rect r="r" b="b" t="t" l="l"/>
              <a:pathLst>
                <a:path h="1828800" w="13716000">
                  <a:moveTo>
                    <a:pt x="0" y="304800"/>
                  </a:moveTo>
                  <a:cubicBezTo>
                    <a:pt x="0" y="136525"/>
                    <a:pt x="136525" y="0"/>
                    <a:pt x="304800" y="0"/>
                  </a:cubicBezTo>
                  <a:lnTo>
                    <a:pt x="13411200" y="0"/>
                  </a:lnTo>
                  <a:cubicBezTo>
                    <a:pt x="13579602" y="0"/>
                    <a:pt x="13716000" y="136525"/>
                    <a:pt x="13716000" y="304800"/>
                  </a:cubicBezTo>
                  <a:lnTo>
                    <a:pt x="13716000" y="1524000"/>
                  </a:lnTo>
                  <a:cubicBezTo>
                    <a:pt x="13716000" y="1692402"/>
                    <a:pt x="13579475" y="1828800"/>
                    <a:pt x="13411200" y="1828800"/>
                  </a:cubicBezTo>
                  <a:lnTo>
                    <a:pt x="304800" y="1828800"/>
                  </a:lnTo>
                  <a:cubicBezTo>
                    <a:pt x="136398" y="1828800"/>
                    <a:pt x="0" y="1692275"/>
                    <a:pt x="0" y="1524000"/>
                  </a:cubicBezTo>
                  <a:close/>
                </a:path>
              </a:pathLst>
            </a:custGeom>
            <a:solidFill>
              <a:srgbClr val="FFFFFF"/>
            </a:solidFill>
          </p:spPr>
        </p:sp>
      </p:grpSp>
      <p:sp>
        <p:nvSpPr>
          <p:cNvPr name="TextBox 14" id="14"/>
          <p:cNvSpPr txBox="true"/>
          <p:nvPr/>
        </p:nvSpPr>
        <p:spPr>
          <a:xfrm rot="0">
            <a:off x="1394460" y="5042535"/>
            <a:ext cx="2560320" cy="192405"/>
          </a:xfrm>
          <a:prstGeom prst="rect">
            <a:avLst/>
          </a:prstGeom>
        </p:spPr>
        <p:txBody>
          <a:bodyPr anchor="t" rtlCol="false" tIns="0" lIns="0" bIns="0" rIns="0">
            <a:spAutoFit/>
          </a:bodyPr>
          <a:lstStyle/>
          <a:p>
            <a:pPr algn="l">
              <a:lnSpc>
                <a:spcPts val="1620"/>
              </a:lnSpc>
            </a:pPr>
            <a:r>
              <a:rPr lang="en-US" sz="1350" b="true">
                <a:solidFill>
                  <a:srgbClr val="009DB2"/>
                </a:solidFill>
                <a:latin typeface="Aptos Bold"/>
                <a:ea typeface="Aptos Bold"/>
                <a:cs typeface="Aptos Bold"/>
                <a:sym typeface="Aptos Bold"/>
              </a:rPr>
              <a:t>PROJECT TITLE</a:t>
            </a:r>
          </a:p>
        </p:txBody>
      </p:sp>
      <p:sp>
        <p:nvSpPr>
          <p:cNvPr name="TextBox 15" id="15"/>
          <p:cNvSpPr txBox="true"/>
          <p:nvPr/>
        </p:nvSpPr>
        <p:spPr>
          <a:xfrm rot="0">
            <a:off x="1394460" y="5328571"/>
            <a:ext cx="9418320" cy="819150"/>
          </a:xfrm>
          <a:prstGeom prst="rect">
            <a:avLst/>
          </a:prstGeom>
        </p:spPr>
        <p:txBody>
          <a:bodyPr anchor="t" rtlCol="false" tIns="0" lIns="0" bIns="0" rIns="0">
            <a:spAutoFit/>
          </a:bodyPr>
          <a:lstStyle/>
          <a:p>
            <a:pPr algn="l">
              <a:lnSpc>
                <a:spcPts val="3240"/>
              </a:lnSpc>
            </a:pPr>
            <a:r>
              <a:rPr lang="en-US" sz="2700" b="true">
                <a:solidFill>
                  <a:srgbClr val="083052"/>
                </a:solidFill>
                <a:latin typeface="Aptos Bold"/>
                <a:ea typeface="Aptos Bold"/>
                <a:cs typeface="Aptos Bold"/>
                <a:sym typeface="Aptos Bold"/>
              </a:rPr>
              <a:t>Med Connect - Online Appointment Booking System for Streamlined Healthcare</a:t>
            </a:r>
          </a:p>
        </p:txBody>
      </p:sp>
      <p:sp>
        <p:nvSpPr>
          <p:cNvPr name="TextBox 16" id="16"/>
          <p:cNvSpPr txBox="true"/>
          <p:nvPr/>
        </p:nvSpPr>
        <p:spPr>
          <a:xfrm rot="0">
            <a:off x="1051560" y="6903720"/>
            <a:ext cx="3246120" cy="155448"/>
          </a:xfrm>
          <a:prstGeom prst="rect">
            <a:avLst/>
          </a:prstGeom>
        </p:spPr>
        <p:txBody>
          <a:bodyPr anchor="t" rtlCol="false" tIns="0" lIns="0" bIns="0" rIns="0">
            <a:spAutoFit/>
          </a:bodyPr>
          <a:lstStyle/>
          <a:p>
            <a:pPr algn="l">
              <a:lnSpc>
                <a:spcPts val="1439"/>
              </a:lnSpc>
            </a:pPr>
            <a:r>
              <a:rPr lang="en-US" sz="1200" b="true">
                <a:solidFill>
                  <a:srgbClr val="96CDDC"/>
                </a:solidFill>
                <a:latin typeface="Aptos Bold"/>
                <a:ea typeface="Aptos Bold"/>
                <a:cs typeface="Aptos Bold"/>
                <a:sym typeface="Aptos Bold"/>
              </a:rPr>
              <a:t>GUIDE</a:t>
            </a:r>
          </a:p>
        </p:txBody>
      </p:sp>
      <p:sp>
        <p:nvSpPr>
          <p:cNvPr name="TextBox 17" id="17"/>
          <p:cNvSpPr txBox="true"/>
          <p:nvPr/>
        </p:nvSpPr>
        <p:spPr>
          <a:xfrm rot="0">
            <a:off x="1051560" y="7205472"/>
            <a:ext cx="3931920" cy="292608"/>
          </a:xfrm>
          <a:prstGeom prst="rect">
            <a:avLst/>
          </a:prstGeom>
        </p:spPr>
        <p:txBody>
          <a:bodyPr anchor="t" rtlCol="false" tIns="0" lIns="0" bIns="0" rIns="0">
            <a:spAutoFit/>
          </a:bodyPr>
          <a:lstStyle/>
          <a:p>
            <a:pPr algn="l">
              <a:lnSpc>
                <a:spcPts val="1980"/>
              </a:lnSpc>
            </a:pPr>
            <a:r>
              <a:rPr lang="en-US" sz="1650" b="true">
                <a:solidFill>
                  <a:srgbClr val="FFFFFF"/>
                </a:solidFill>
                <a:latin typeface="Aptos Bold"/>
                <a:ea typeface="Aptos Bold"/>
                <a:cs typeface="Aptos Bold"/>
                <a:sym typeface="Aptos Bold"/>
              </a:rPr>
              <a:t>Mrs. C. Vinitha Reddy</a:t>
            </a:r>
          </a:p>
        </p:txBody>
      </p:sp>
      <p:sp>
        <p:nvSpPr>
          <p:cNvPr name="TextBox 18" id="18"/>
          <p:cNvSpPr txBox="true"/>
          <p:nvPr/>
        </p:nvSpPr>
        <p:spPr>
          <a:xfrm rot="0">
            <a:off x="5097780" y="6903720"/>
            <a:ext cx="3246120" cy="155448"/>
          </a:xfrm>
          <a:prstGeom prst="rect">
            <a:avLst/>
          </a:prstGeom>
        </p:spPr>
        <p:txBody>
          <a:bodyPr anchor="t" rtlCol="false" tIns="0" lIns="0" bIns="0" rIns="0">
            <a:spAutoFit/>
          </a:bodyPr>
          <a:lstStyle/>
          <a:p>
            <a:pPr algn="l">
              <a:lnSpc>
                <a:spcPts val="1439"/>
              </a:lnSpc>
            </a:pPr>
            <a:r>
              <a:rPr lang="en-US" sz="1200" b="true">
                <a:solidFill>
                  <a:srgbClr val="96CDDC"/>
                </a:solidFill>
                <a:latin typeface="Aptos Bold"/>
                <a:ea typeface="Aptos Bold"/>
                <a:cs typeface="Aptos Bold"/>
                <a:sym typeface="Aptos Bold"/>
              </a:rPr>
              <a:t>SECTION</a:t>
            </a:r>
          </a:p>
        </p:txBody>
      </p:sp>
      <p:sp>
        <p:nvSpPr>
          <p:cNvPr name="TextBox 19" id="19"/>
          <p:cNvSpPr txBox="true"/>
          <p:nvPr/>
        </p:nvSpPr>
        <p:spPr>
          <a:xfrm rot="0">
            <a:off x="5097780" y="7205472"/>
            <a:ext cx="3931920" cy="247650"/>
          </a:xfrm>
          <a:prstGeom prst="rect">
            <a:avLst/>
          </a:prstGeom>
        </p:spPr>
        <p:txBody>
          <a:bodyPr anchor="t" rtlCol="false" tIns="0" lIns="0" bIns="0" rIns="0">
            <a:spAutoFit/>
          </a:bodyPr>
          <a:lstStyle/>
          <a:p>
            <a:pPr algn="l">
              <a:lnSpc>
                <a:spcPts val="1980"/>
              </a:lnSpc>
            </a:pPr>
            <a:r>
              <a:rPr lang="en-US" sz="1650" b="true">
                <a:solidFill>
                  <a:srgbClr val="FFFFFF"/>
                </a:solidFill>
                <a:latin typeface="Aptos Bold"/>
                <a:ea typeface="Aptos Bold"/>
                <a:cs typeface="Aptos Bold"/>
                <a:sym typeface="Aptos Bold"/>
              </a:rPr>
              <a:t>IV-I CSE - A</a:t>
            </a:r>
          </a:p>
        </p:txBody>
      </p:sp>
      <p:sp>
        <p:nvSpPr>
          <p:cNvPr name="TextBox 20" id="20"/>
          <p:cNvSpPr txBox="true"/>
          <p:nvPr/>
        </p:nvSpPr>
        <p:spPr>
          <a:xfrm rot="0">
            <a:off x="9075420" y="6903720"/>
            <a:ext cx="3246120" cy="155448"/>
          </a:xfrm>
          <a:prstGeom prst="rect">
            <a:avLst/>
          </a:prstGeom>
        </p:spPr>
        <p:txBody>
          <a:bodyPr anchor="t" rtlCol="false" tIns="0" lIns="0" bIns="0" rIns="0">
            <a:spAutoFit/>
          </a:bodyPr>
          <a:lstStyle/>
          <a:p>
            <a:pPr algn="l">
              <a:lnSpc>
                <a:spcPts val="1439"/>
              </a:lnSpc>
            </a:pPr>
            <a:r>
              <a:rPr lang="en-US" sz="1200" b="true">
                <a:solidFill>
                  <a:srgbClr val="96CDDC"/>
                </a:solidFill>
                <a:latin typeface="Aptos Bold"/>
                <a:ea typeface="Aptos Bold"/>
                <a:cs typeface="Aptos Bold"/>
                <a:sym typeface="Aptos Bold"/>
              </a:rPr>
              <a:t>TEAM</a:t>
            </a:r>
          </a:p>
        </p:txBody>
      </p:sp>
      <p:sp>
        <p:nvSpPr>
          <p:cNvPr name="TextBox 21" id="21"/>
          <p:cNvSpPr txBox="true"/>
          <p:nvPr/>
        </p:nvSpPr>
        <p:spPr>
          <a:xfrm rot="0">
            <a:off x="9075420" y="7205472"/>
            <a:ext cx="3931920" cy="292608"/>
          </a:xfrm>
          <a:prstGeom prst="rect">
            <a:avLst/>
          </a:prstGeom>
        </p:spPr>
        <p:txBody>
          <a:bodyPr anchor="t" rtlCol="false" tIns="0" lIns="0" bIns="0" rIns="0">
            <a:spAutoFit/>
          </a:bodyPr>
          <a:lstStyle/>
          <a:p>
            <a:pPr algn="l">
              <a:lnSpc>
                <a:spcPts val="1980"/>
              </a:lnSpc>
            </a:pPr>
            <a:r>
              <a:rPr lang="en-US" sz="1650" b="true">
                <a:solidFill>
                  <a:srgbClr val="FFFFFF"/>
                </a:solidFill>
                <a:latin typeface="Aptos Bold"/>
                <a:ea typeface="Aptos Bold"/>
                <a:cs typeface="Aptos Bold"/>
                <a:sym typeface="Aptos Bold"/>
              </a:rPr>
              <a:t>4 Members</a:t>
            </a:r>
          </a:p>
        </p:txBody>
      </p:sp>
      <p:sp>
        <p:nvSpPr>
          <p:cNvPr name="TextBox 22" id="22"/>
          <p:cNvSpPr txBox="true"/>
          <p:nvPr/>
        </p:nvSpPr>
        <p:spPr>
          <a:xfrm rot="0">
            <a:off x="1051560" y="8275320"/>
            <a:ext cx="3246120" cy="155448"/>
          </a:xfrm>
          <a:prstGeom prst="rect">
            <a:avLst/>
          </a:prstGeom>
        </p:spPr>
        <p:txBody>
          <a:bodyPr anchor="t" rtlCol="false" tIns="0" lIns="0" bIns="0" rIns="0">
            <a:spAutoFit/>
          </a:bodyPr>
          <a:lstStyle/>
          <a:p>
            <a:pPr algn="l">
              <a:lnSpc>
                <a:spcPts val="1439"/>
              </a:lnSpc>
            </a:pPr>
            <a:r>
              <a:rPr lang="en-US" sz="1200" b="true">
                <a:solidFill>
                  <a:srgbClr val="96CDDC"/>
                </a:solidFill>
                <a:latin typeface="Aptos Bold"/>
                <a:ea typeface="Aptos Bold"/>
                <a:cs typeface="Aptos Bold"/>
                <a:sym typeface="Aptos Bold"/>
              </a:rPr>
              <a:t>REVIEW</a:t>
            </a:r>
          </a:p>
        </p:txBody>
      </p:sp>
      <p:sp>
        <p:nvSpPr>
          <p:cNvPr name="TextBox 23" id="23"/>
          <p:cNvSpPr txBox="true"/>
          <p:nvPr/>
        </p:nvSpPr>
        <p:spPr>
          <a:xfrm rot="0">
            <a:off x="1051560" y="8577072"/>
            <a:ext cx="3931920" cy="292608"/>
          </a:xfrm>
          <a:prstGeom prst="rect">
            <a:avLst/>
          </a:prstGeom>
        </p:spPr>
        <p:txBody>
          <a:bodyPr anchor="t" rtlCol="false" tIns="0" lIns="0" bIns="0" rIns="0">
            <a:spAutoFit/>
          </a:bodyPr>
          <a:lstStyle/>
          <a:p>
            <a:pPr algn="l">
              <a:lnSpc>
                <a:spcPts val="1980"/>
              </a:lnSpc>
            </a:pPr>
            <a:r>
              <a:rPr lang="en-US" sz="1650" b="true">
                <a:solidFill>
                  <a:srgbClr val="FFFFFF"/>
                </a:solidFill>
                <a:latin typeface="Aptos Bold"/>
                <a:ea typeface="Aptos Bold"/>
                <a:cs typeface="Aptos Bold"/>
                <a:sym typeface="Aptos Bold"/>
              </a:rPr>
              <a:t>16 / 09 / 2026</a:t>
            </a:r>
          </a:p>
        </p:txBody>
      </p:sp>
      <p:grpSp>
        <p:nvGrpSpPr>
          <p:cNvPr name="Group 24" id="24"/>
          <p:cNvGrpSpPr/>
          <p:nvPr/>
        </p:nvGrpSpPr>
        <p:grpSpPr>
          <a:xfrm rot="0">
            <a:off x="11651456" y="2736056"/>
            <a:ext cx="6631610" cy="4129088"/>
            <a:chOff x="0" y="0"/>
            <a:chExt cx="8842146" cy="5505450"/>
          </a:xfrm>
        </p:grpSpPr>
        <p:sp>
          <p:nvSpPr>
            <p:cNvPr name="Freeform 25" id="25"/>
            <p:cNvSpPr/>
            <p:nvPr/>
          </p:nvSpPr>
          <p:spPr>
            <a:xfrm flipH="false" flipV="false" rot="0">
              <a:off x="0" y="0"/>
              <a:ext cx="8842121" cy="5505450"/>
            </a:xfrm>
            <a:custGeom>
              <a:avLst/>
              <a:gdLst/>
              <a:ahLst/>
              <a:cxnLst/>
              <a:rect r="r" b="b" t="t" l="l"/>
              <a:pathLst>
                <a:path h="5505450" w="8842121">
                  <a:moveTo>
                    <a:pt x="0" y="917575"/>
                  </a:moveTo>
                  <a:cubicBezTo>
                    <a:pt x="0" y="410845"/>
                    <a:pt x="410845" y="0"/>
                    <a:pt x="917575" y="0"/>
                  </a:cubicBezTo>
                  <a:lnTo>
                    <a:pt x="7924546" y="0"/>
                  </a:lnTo>
                  <a:cubicBezTo>
                    <a:pt x="8431276" y="0"/>
                    <a:pt x="8842121" y="410845"/>
                    <a:pt x="8842121" y="917575"/>
                  </a:cubicBezTo>
                  <a:lnTo>
                    <a:pt x="8842121" y="4587875"/>
                  </a:lnTo>
                  <a:cubicBezTo>
                    <a:pt x="8842121" y="5094605"/>
                    <a:pt x="8431276" y="5505450"/>
                    <a:pt x="7924546" y="5505450"/>
                  </a:cubicBezTo>
                  <a:lnTo>
                    <a:pt x="917575" y="5505450"/>
                  </a:lnTo>
                  <a:cubicBezTo>
                    <a:pt x="410845" y="5505450"/>
                    <a:pt x="0" y="5094605"/>
                    <a:pt x="0" y="4587875"/>
                  </a:cubicBezTo>
                  <a:close/>
                </a:path>
              </a:pathLst>
            </a:custGeom>
            <a:blipFill>
              <a:blip r:embed="rId2"/>
              <a:stretch>
                <a:fillRect l="-6440" t="0" r="-6440" b="0"/>
              </a:stretch>
            </a:blipFill>
            <a:ln w="14288" cap="sq">
              <a:solidFill>
                <a:srgbClr val="CDDEE8"/>
              </a:solidFill>
              <a:prstDash val="solid"/>
              <a:miter/>
            </a:ln>
          </p:spPr>
        </p:sp>
      </p:grpSp>
      <p:grpSp>
        <p:nvGrpSpPr>
          <p:cNvPr name="Group 26" id="26"/>
          <p:cNvGrpSpPr/>
          <p:nvPr/>
        </p:nvGrpSpPr>
        <p:grpSpPr>
          <a:xfrm rot="0">
            <a:off x="472069" y="233362"/>
            <a:ext cx="2252396" cy="2201085"/>
            <a:chOff x="0" y="0"/>
            <a:chExt cx="3003194" cy="2934780"/>
          </a:xfrm>
        </p:grpSpPr>
        <p:sp>
          <p:nvSpPr>
            <p:cNvPr name="Freeform 27" id="27"/>
            <p:cNvSpPr/>
            <p:nvPr/>
          </p:nvSpPr>
          <p:spPr>
            <a:xfrm flipH="false" flipV="false" rot="0">
              <a:off x="0" y="0"/>
              <a:ext cx="3003169" cy="2934716"/>
            </a:xfrm>
            <a:custGeom>
              <a:avLst/>
              <a:gdLst/>
              <a:ahLst/>
              <a:cxnLst/>
              <a:rect r="r" b="b" t="t" l="l"/>
              <a:pathLst>
                <a:path h="2934716" w="3003169">
                  <a:moveTo>
                    <a:pt x="0" y="489077"/>
                  </a:moveTo>
                  <a:cubicBezTo>
                    <a:pt x="0" y="218948"/>
                    <a:pt x="218948" y="0"/>
                    <a:pt x="489077" y="0"/>
                  </a:cubicBezTo>
                  <a:lnTo>
                    <a:pt x="2514092" y="0"/>
                  </a:lnTo>
                  <a:cubicBezTo>
                    <a:pt x="2784221" y="0"/>
                    <a:pt x="3003169" y="218948"/>
                    <a:pt x="3003169" y="489077"/>
                  </a:cubicBezTo>
                  <a:lnTo>
                    <a:pt x="3003169" y="2445639"/>
                  </a:lnTo>
                  <a:cubicBezTo>
                    <a:pt x="3003169" y="2715768"/>
                    <a:pt x="2784221" y="2934716"/>
                    <a:pt x="2514092" y="2934716"/>
                  </a:cubicBezTo>
                  <a:lnTo>
                    <a:pt x="489077" y="2934716"/>
                  </a:lnTo>
                  <a:cubicBezTo>
                    <a:pt x="218948" y="2934716"/>
                    <a:pt x="0" y="2715768"/>
                    <a:pt x="0" y="2445639"/>
                  </a:cubicBezTo>
                  <a:close/>
                </a:path>
              </a:pathLst>
            </a:custGeom>
            <a:solidFill>
              <a:srgbClr val="FFFFFF"/>
            </a:solidFill>
            <a:ln w="14288" cap="sq">
              <a:solidFill>
                <a:srgbClr val="CDDEE8"/>
              </a:solidFill>
              <a:prstDash val="solid"/>
              <a:miter/>
            </a:ln>
          </p:spPr>
        </p:sp>
      </p:grpSp>
      <p:grpSp>
        <p:nvGrpSpPr>
          <p:cNvPr name="Group 28" id="28"/>
          <p:cNvGrpSpPr/>
          <p:nvPr/>
        </p:nvGrpSpPr>
        <p:grpSpPr>
          <a:xfrm rot="0">
            <a:off x="543916" y="188747"/>
            <a:ext cx="2142734" cy="2142734"/>
            <a:chOff x="0" y="0"/>
            <a:chExt cx="2856979" cy="2856979"/>
          </a:xfrm>
        </p:grpSpPr>
        <p:sp>
          <p:nvSpPr>
            <p:cNvPr name="Freeform 29" id="29" descr="kprit logo-02 (1).png"/>
            <p:cNvSpPr/>
            <p:nvPr/>
          </p:nvSpPr>
          <p:spPr>
            <a:xfrm flipH="false" flipV="false" rot="0">
              <a:off x="0" y="0"/>
              <a:ext cx="2856992" cy="2856992"/>
            </a:xfrm>
            <a:custGeom>
              <a:avLst/>
              <a:gdLst/>
              <a:ahLst/>
              <a:cxnLst/>
              <a:rect r="r" b="b" t="t" l="l"/>
              <a:pathLst>
                <a:path h="2856992" w="2856992">
                  <a:moveTo>
                    <a:pt x="0" y="0"/>
                  </a:moveTo>
                  <a:lnTo>
                    <a:pt x="2856992" y="0"/>
                  </a:lnTo>
                  <a:lnTo>
                    <a:pt x="2856992" y="2856992"/>
                  </a:lnTo>
                  <a:lnTo>
                    <a:pt x="0" y="2856992"/>
                  </a:lnTo>
                  <a:lnTo>
                    <a:pt x="0" y="0"/>
                  </a:lnTo>
                  <a:close/>
                </a:path>
              </a:pathLst>
            </a:custGeom>
            <a:blipFill>
              <a:blip r:embed="rId3"/>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Team Details</a:t>
            </a:r>
          </a:p>
        </p:txBody>
      </p:sp>
      <p:grpSp>
        <p:nvGrpSpPr>
          <p:cNvPr name="Group 3" id="3"/>
          <p:cNvGrpSpPr/>
          <p:nvPr/>
        </p:nvGrpSpPr>
        <p:grpSpPr>
          <a:xfrm rot="0">
            <a:off x="15527550" y="521208"/>
            <a:ext cx="1617450" cy="576072"/>
            <a:chOff x="0" y="0"/>
            <a:chExt cx="2156600" cy="768096"/>
          </a:xfrm>
        </p:grpSpPr>
        <p:sp>
          <p:nvSpPr>
            <p:cNvPr name="Freeform 4" id="4"/>
            <p:cNvSpPr/>
            <p:nvPr/>
          </p:nvSpPr>
          <p:spPr>
            <a:xfrm flipH="false" flipV="false" rot="0">
              <a:off x="0" y="0"/>
              <a:ext cx="2156587" cy="768096"/>
            </a:xfrm>
            <a:custGeom>
              <a:avLst/>
              <a:gdLst/>
              <a:ahLst/>
              <a:cxnLst/>
              <a:rect r="r" b="b" t="t" l="l"/>
              <a:pathLst>
                <a:path h="768096" w="2156587">
                  <a:moveTo>
                    <a:pt x="0" y="128016"/>
                  </a:moveTo>
                  <a:cubicBezTo>
                    <a:pt x="0" y="57277"/>
                    <a:pt x="57277" y="0"/>
                    <a:pt x="128016" y="0"/>
                  </a:cubicBezTo>
                  <a:lnTo>
                    <a:pt x="2028571" y="0"/>
                  </a:lnTo>
                  <a:cubicBezTo>
                    <a:pt x="2099310" y="0"/>
                    <a:pt x="2156587" y="57277"/>
                    <a:pt x="2156587" y="128016"/>
                  </a:cubicBezTo>
                  <a:lnTo>
                    <a:pt x="2156587" y="640080"/>
                  </a:lnTo>
                  <a:cubicBezTo>
                    <a:pt x="2156587" y="710819"/>
                    <a:pt x="2099310" y="768096"/>
                    <a:pt x="2028571"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5704820" y="596808"/>
            <a:ext cx="1303020" cy="438579"/>
            <a:chOff x="0" y="0"/>
            <a:chExt cx="1737360" cy="584772"/>
          </a:xfrm>
        </p:grpSpPr>
        <p:sp>
          <p:nvSpPr>
            <p:cNvPr name="Freeform 6" id="6"/>
            <p:cNvSpPr/>
            <p:nvPr/>
          </p:nvSpPr>
          <p:spPr>
            <a:xfrm flipH="false" flipV="false" rot="0">
              <a:off x="0" y="0"/>
              <a:ext cx="1737360" cy="584776"/>
            </a:xfrm>
            <a:custGeom>
              <a:avLst/>
              <a:gdLst/>
              <a:ahLst/>
              <a:cxnLst/>
              <a:rect r="r" b="b" t="t" l="l"/>
              <a:pathLst>
                <a:path h="584776" w="1737360">
                  <a:moveTo>
                    <a:pt x="0" y="0"/>
                  </a:moveTo>
                  <a:lnTo>
                    <a:pt x="1737360" y="0"/>
                  </a:lnTo>
                  <a:lnTo>
                    <a:pt x="1737360" y="584776"/>
                  </a:lnTo>
                  <a:lnTo>
                    <a:pt x="0" y="584776"/>
                  </a:lnTo>
                  <a:close/>
                </a:path>
              </a:pathLst>
            </a:custGeom>
            <a:blipFill>
              <a:blip r:embed="rId2">
                <a:alphaModFix amt="0"/>
              </a:blip>
              <a:stretch>
                <a:fillRect l="0" t="-7890" r="0" b="-7889"/>
              </a:stretch>
            </a:blipFill>
          </p:spPr>
        </p:sp>
        <p:sp>
          <p:nvSpPr>
            <p:cNvPr name="TextBox 7" id="7"/>
            <p:cNvSpPr txBox="true"/>
            <p:nvPr/>
          </p:nvSpPr>
          <p:spPr>
            <a:xfrm>
              <a:off x="0" y="0"/>
              <a:ext cx="1737360" cy="584772"/>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Team</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227296" y="1981676"/>
            <a:ext cx="1248727" cy="974407"/>
            <a:chOff x="0" y="0"/>
            <a:chExt cx="1664970" cy="1299210"/>
          </a:xfrm>
        </p:grpSpPr>
        <p:sp>
          <p:nvSpPr>
            <p:cNvPr name="Freeform 14" id="14"/>
            <p:cNvSpPr/>
            <p:nvPr/>
          </p:nvSpPr>
          <p:spPr>
            <a:xfrm flipH="false" flipV="false" rot="0">
              <a:off x="0" y="0"/>
              <a:ext cx="1664970" cy="1299210"/>
            </a:xfrm>
            <a:custGeom>
              <a:avLst/>
              <a:gdLst/>
              <a:ahLst/>
              <a:cxnLst/>
              <a:rect r="r" b="b" t="t" l="l"/>
              <a:pathLst>
                <a:path h="1299210" w="1664970">
                  <a:moveTo>
                    <a:pt x="0" y="0"/>
                  </a:moveTo>
                  <a:lnTo>
                    <a:pt x="1664970" y="0"/>
                  </a:lnTo>
                  <a:lnTo>
                    <a:pt x="1664970" y="1299210"/>
                  </a:lnTo>
                  <a:lnTo>
                    <a:pt x="0" y="1299210"/>
                  </a:lnTo>
                  <a:close/>
                </a:path>
              </a:pathLst>
            </a:custGeom>
            <a:solidFill>
              <a:srgbClr val="083052"/>
            </a:solidFill>
            <a:ln w="14288" cap="sq">
              <a:solidFill>
                <a:srgbClr val="FFFFFF"/>
              </a:solidFill>
              <a:prstDash val="solid"/>
              <a:miter/>
            </a:ln>
          </p:spPr>
        </p:sp>
      </p:grpSp>
      <p:grpSp>
        <p:nvGrpSpPr>
          <p:cNvPr name="Group 15" id="15"/>
          <p:cNvGrpSpPr/>
          <p:nvPr/>
        </p:nvGrpSpPr>
        <p:grpSpPr>
          <a:xfrm rot="0">
            <a:off x="1275588" y="2043684"/>
            <a:ext cx="1152144" cy="850392"/>
            <a:chOff x="0" y="0"/>
            <a:chExt cx="1536192" cy="1133856"/>
          </a:xfrm>
        </p:grpSpPr>
        <p:sp>
          <p:nvSpPr>
            <p:cNvPr name="Freeform 16" id="16"/>
            <p:cNvSpPr/>
            <p:nvPr/>
          </p:nvSpPr>
          <p:spPr>
            <a:xfrm flipH="false" flipV="false" rot="0">
              <a:off x="0" y="0"/>
              <a:ext cx="1536192" cy="1133856"/>
            </a:xfrm>
            <a:custGeom>
              <a:avLst/>
              <a:gdLst/>
              <a:ahLst/>
              <a:cxnLst/>
              <a:rect r="r" b="b" t="t" l="l"/>
              <a:pathLst>
                <a:path h="1133856" w="1536192">
                  <a:moveTo>
                    <a:pt x="0" y="0"/>
                  </a:moveTo>
                  <a:lnTo>
                    <a:pt x="1536192" y="0"/>
                  </a:lnTo>
                  <a:lnTo>
                    <a:pt x="1536192" y="1133856"/>
                  </a:lnTo>
                  <a:lnTo>
                    <a:pt x="0" y="1133856"/>
                  </a:lnTo>
                  <a:close/>
                </a:path>
              </a:pathLst>
            </a:custGeom>
            <a:blipFill>
              <a:blip r:embed="rId2">
                <a:alphaModFix amt="0"/>
              </a:blip>
              <a:stretch>
                <a:fillRect l="-44700" t="0" r="-44700" b="0"/>
              </a:stretch>
            </a:blipFill>
          </p:spPr>
        </p:sp>
        <p:sp>
          <p:nvSpPr>
            <p:cNvPr name="TextBox 17" id="17"/>
            <p:cNvSpPr txBox="true"/>
            <p:nvPr/>
          </p:nvSpPr>
          <p:spPr>
            <a:xfrm>
              <a:off x="0" y="0"/>
              <a:ext cx="1536192" cy="11338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S. No.</a:t>
              </a:r>
            </a:p>
          </p:txBody>
        </p:sp>
      </p:grpSp>
      <p:grpSp>
        <p:nvGrpSpPr>
          <p:cNvPr name="Group 18" id="18"/>
          <p:cNvGrpSpPr/>
          <p:nvPr/>
        </p:nvGrpSpPr>
        <p:grpSpPr>
          <a:xfrm rot="0">
            <a:off x="2461736" y="1981676"/>
            <a:ext cx="4403408" cy="974407"/>
            <a:chOff x="0" y="0"/>
            <a:chExt cx="5871210" cy="1299210"/>
          </a:xfrm>
        </p:grpSpPr>
        <p:sp>
          <p:nvSpPr>
            <p:cNvPr name="Freeform 19" id="19"/>
            <p:cNvSpPr/>
            <p:nvPr/>
          </p:nvSpPr>
          <p:spPr>
            <a:xfrm flipH="false" flipV="false" rot="0">
              <a:off x="0" y="0"/>
              <a:ext cx="5871210" cy="1299210"/>
            </a:xfrm>
            <a:custGeom>
              <a:avLst/>
              <a:gdLst/>
              <a:ahLst/>
              <a:cxnLst/>
              <a:rect r="r" b="b" t="t" l="l"/>
              <a:pathLst>
                <a:path h="1299210" w="5871210">
                  <a:moveTo>
                    <a:pt x="0" y="0"/>
                  </a:moveTo>
                  <a:lnTo>
                    <a:pt x="5871210" y="0"/>
                  </a:lnTo>
                  <a:lnTo>
                    <a:pt x="5871210" y="1299210"/>
                  </a:lnTo>
                  <a:lnTo>
                    <a:pt x="0" y="1299210"/>
                  </a:lnTo>
                  <a:close/>
                </a:path>
              </a:pathLst>
            </a:custGeom>
            <a:solidFill>
              <a:srgbClr val="083052"/>
            </a:solidFill>
            <a:ln w="14288" cap="sq">
              <a:solidFill>
                <a:srgbClr val="FFFFFF"/>
              </a:solidFill>
              <a:prstDash val="solid"/>
              <a:miter/>
            </a:ln>
          </p:spPr>
        </p:sp>
      </p:grpSp>
      <p:grpSp>
        <p:nvGrpSpPr>
          <p:cNvPr name="Group 20" id="20"/>
          <p:cNvGrpSpPr/>
          <p:nvPr/>
        </p:nvGrpSpPr>
        <p:grpSpPr>
          <a:xfrm rot="0">
            <a:off x="2510028" y="2043684"/>
            <a:ext cx="4306824" cy="850392"/>
            <a:chOff x="0" y="0"/>
            <a:chExt cx="5742432" cy="1133856"/>
          </a:xfrm>
        </p:grpSpPr>
        <p:sp>
          <p:nvSpPr>
            <p:cNvPr name="Freeform 21" id="21"/>
            <p:cNvSpPr/>
            <p:nvPr/>
          </p:nvSpPr>
          <p:spPr>
            <a:xfrm flipH="false" flipV="false" rot="0">
              <a:off x="0" y="0"/>
              <a:ext cx="5742432" cy="1133856"/>
            </a:xfrm>
            <a:custGeom>
              <a:avLst/>
              <a:gdLst/>
              <a:ahLst/>
              <a:cxnLst/>
              <a:rect r="r" b="b" t="t" l="l"/>
              <a:pathLst>
                <a:path h="1133856" w="5742432">
                  <a:moveTo>
                    <a:pt x="0" y="0"/>
                  </a:moveTo>
                  <a:lnTo>
                    <a:pt x="5742432" y="0"/>
                  </a:lnTo>
                  <a:lnTo>
                    <a:pt x="5742432" y="1133856"/>
                  </a:lnTo>
                  <a:lnTo>
                    <a:pt x="0" y="1133856"/>
                  </a:lnTo>
                  <a:close/>
                </a:path>
              </a:pathLst>
            </a:custGeom>
            <a:blipFill>
              <a:blip r:embed="rId2">
                <a:alphaModFix amt="0"/>
              </a:blip>
              <a:stretch>
                <a:fillRect l="0" t="-48682" r="0" b="-48682"/>
              </a:stretch>
            </a:blipFill>
          </p:spPr>
        </p:sp>
        <p:sp>
          <p:nvSpPr>
            <p:cNvPr name="TextBox 22" id="22"/>
            <p:cNvSpPr txBox="true"/>
            <p:nvPr/>
          </p:nvSpPr>
          <p:spPr>
            <a:xfrm>
              <a:off x="0" y="0"/>
              <a:ext cx="5742432" cy="11338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Name</a:t>
              </a:r>
            </a:p>
          </p:txBody>
        </p:sp>
      </p:grpSp>
      <p:grpSp>
        <p:nvGrpSpPr>
          <p:cNvPr name="Group 23" id="23"/>
          <p:cNvGrpSpPr/>
          <p:nvPr/>
        </p:nvGrpSpPr>
        <p:grpSpPr>
          <a:xfrm rot="0">
            <a:off x="6850856" y="1981676"/>
            <a:ext cx="2757488" cy="974407"/>
            <a:chOff x="0" y="0"/>
            <a:chExt cx="3676650" cy="1299210"/>
          </a:xfrm>
        </p:grpSpPr>
        <p:sp>
          <p:nvSpPr>
            <p:cNvPr name="Freeform 24" id="24"/>
            <p:cNvSpPr/>
            <p:nvPr/>
          </p:nvSpPr>
          <p:spPr>
            <a:xfrm flipH="false" flipV="false" rot="0">
              <a:off x="0" y="0"/>
              <a:ext cx="3676650" cy="1299210"/>
            </a:xfrm>
            <a:custGeom>
              <a:avLst/>
              <a:gdLst/>
              <a:ahLst/>
              <a:cxnLst/>
              <a:rect r="r" b="b" t="t" l="l"/>
              <a:pathLst>
                <a:path h="1299210" w="3676650">
                  <a:moveTo>
                    <a:pt x="0" y="0"/>
                  </a:moveTo>
                  <a:lnTo>
                    <a:pt x="3676650" y="0"/>
                  </a:lnTo>
                  <a:lnTo>
                    <a:pt x="3676650" y="1299210"/>
                  </a:lnTo>
                  <a:lnTo>
                    <a:pt x="0" y="1299210"/>
                  </a:lnTo>
                  <a:close/>
                </a:path>
              </a:pathLst>
            </a:custGeom>
            <a:solidFill>
              <a:srgbClr val="083052"/>
            </a:solidFill>
            <a:ln w="14288" cap="sq">
              <a:solidFill>
                <a:srgbClr val="FFFFFF"/>
              </a:solidFill>
              <a:prstDash val="solid"/>
              <a:miter/>
            </a:ln>
          </p:spPr>
        </p:sp>
      </p:grpSp>
      <p:grpSp>
        <p:nvGrpSpPr>
          <p:cNvPr name="Group 25" id="25"/>
          <p:cNvGrpSpPr/>
          <p:nvPr/>
        </p:nvGrpSpPr>
        <p:grpSpPr>
          <a:xfrm rot="0">
            <a:off x="6899148" y="2043684"/>
            <a:ext cx="2660904" cy="850392"/>
            <a:chOff x="0" y="0"/>
            <a:chExt cx="3547872" cy="1133856"/>
          </a:xfrm>
        </p:grpSpPr>
        <p:sp>
          <p:nvSpPr>
            <p:cNvPr name="Freeform 26" id="26"/>
            <p:cNvSpPr/>
            <p:nvPr/>
          </p:nvSpPr>
          <p:spPr>
            <a:xfrm flipH="false" flipV="false" rot="0">
              <a:off x="0" y="0"/>
              <a:ext cx="3547872" cy="1133856"/>
            </a:xfrm>
            <a:custGeom>
              <a:avLst/>
              <a:gdLst/>
              <a:ahLst/>
              <a:cxnLst/>
              <a:rect r="r" b="b" t="t" l="l"/>
              <a:pathLst>
                <a:path h="1133856" w="3547872">
                  <a:moveTo>
                    <a:pt x="0" y="0"/>
                  </a:moveTo>
                  <a:lnTo>
                    <a:pt x="3547872" y="0"/>
                  </a:lnTo>
                  <a:lnTo>
                    <a:pt x="3547872" y="1133856"/>
                  </a:lnTo>
                  <a:lnTo>
                    <a:pt x="0" y="1133856"/>
                  </a:lnTo>
                  <a:close/>
                </a:path>
              </a:pathLst>
            </a:custGeom>
            <a:blipFill>
              <a:blip r:embed="rId2">
                <a:alphaModFix amt="0"/>
              </a:blip>
              <a:stretch>
                <a:fillRect l="0" t="-10969" r="0" b="-10969"/>
              </a:stretch>
            </a:blipFill>
          </p:spPr>
        </p:sp>
        <p:sp>
          <p:nvSpPr>
            <p:cNvPr name="TextBox 27" id="27"/>
            <p:cNvSpPr txBox="true"/>
            <p:nvPr/>
          </p:nvSpPr>
          <p:spPr>
            <a:xfrm>
              <a:off x="0" y="0"/>
              <a:ext cx="3547872" cy="11338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Roll No.</a:t>
              </a:r>
            </a:p>
          </p:txBody>
        </p:sp>
      </p:grpSp>
      <p:grpSp>
        <p:nvGrpSpPr>
          <p:cNvPr name="Group 28" id="28"/>
          <p:cNvGrpSpPr/>
          <p:nvPr/>
        </p:nvGrpSpPr>
        <p:grpSpPr>
          <a:xfrm rot="0">
            <a:off x="9594056" y="1981676"/>
            <a:ext cx="7695247" cy="974407"/>
            <a:chOff x="0" y="0"/>
            <a:chExt cx="10260330" cy="1299210"/>
          </a:xfrm>
        </p:grpSpPr>
        <p:sp>
          <p:nvSpPr>
            <p:cNvPr name="Freeform 29" id="29"/>
            <p:cNvSpPr/>
            <p:nvPr/>
          </p:nvSpPr>
          <p:spPr>
            <a:xfrm flipH="false" flipV="false" rot="0">
              <a:off x="0" y="0"/>
              <a:ext cx="10260330" cy="1299210"/>
            </a:xfrm>
            <a:custGeom>
              <a:avLst/>
              <a:gdLst/>
              <a:ahLst/>
              <a:cxnLst/>
              <a:rect r="r" b="b" t="t" l="l"/>
              <a:pathLst>
                <a:path h="1299210" w="10260330">
                  <a:moveTo>
                    <a:pt x="0" y="0"/>
                  </a:moveTo>
                  <a:lnTo>
                    <a:pt x="10260330" y="0"/>
                  </a:lnTo>
                  <a:lnTo>
                    <a:pt x="10260330" y="1299210"/>
                  </a:lnTo>
                  <a:lnTo>
                    <a:pt x="0" y="1299210"/>
                  </a:lnTo>
                  <a:close/>
                </a:path>
              </a:pathLst>
            </a:custGeom>
            <a:solidFill>
              <a:srgbClr val="083052"/>
            </a:solidFill>
            <a:ln w="14288" cap="sq">
              <a:solidFill>
                <a:srgbClr val="FFFFFF"/>
              </a:solidFill>
              <a:prstDash val="solid"/>
              <a:miter/>
            </a:ln>
          </p:spPr>
        </p:sp>
      </p:grpSp>
      <p:grpSp>
        <p:nvGrpSpPr>
          <p:cNvPr name="Group 30" id="30"/>
          <p:cNvGrpSpPr/>
          <p:nvPr/>
        </p:nvGrpSpPr>
        <p:grpSpPr>
          <a:xfrm rot="0">
            <a:off x="9642348" y="2043684"/>
            <a:ext cx="7598664" cy="850392"/>
            <a:chOff x="0" y="0"/>
            <a:chExt cx="10131552" cy="1133856"/>
          </a:xfrm>
        </p:grpSpPr>
        <p:sp>
          <p:nvSpPr>
            <p:cNvPr name="Freeform 31" id="31"/>
            <p:cNvSpPr/>
            <p:nvPr/>
          </p:nvSpPr>
          <p:spPr>
            <a:xfrm flipH="false" flipV="false" rot="0">
              <a:off x="0" y="0"/>
              <a:ext cx="10131552" cy="1133856"/>
            </a:xfrm>
            <a:custGeom>
              <a:avLst/>
              <a:gdLst/>
              <a:ahLst/>
              <a:cxnLst/>
              <a:rect r="r" b="b" t="t" l="l"/>
              <a:pathLst>
                <a:path h="1133856" w="10131552">
                  <a:moveTo>
                    <a:pt x="0" y="0"/>
                  </a:moveTo>
                  <a:lnTo>
                    <a:pt x="10131552" y="0"/>
                  </a:lnTo>
                  <a:lnTo>
                    <a:pt x="10131552" y="1133856"/>
                  </a:lnTo>
                  <a:lnTo>
                    <a:pt x="0" y="1133856"/>
                  </a:lnTo>
                  <a:close/>
                </a:path>
              </a:pathLst>
            </a:custGeom>
            <a:blipFill>
              <a:blip r:embed="rId2">
                <a:alphaModFix amt="0"/>
              </a:blip>
              <a:stretch>
                <a:fillRect l="0" t="-124108" r="0" b="-124108"/>
              </a:stretch>
            </a:blipFill>
          </p:spPr>
        </p:sp>
        <p:sp>
          <p:nvSpPr>
            <p:cNvPr name="TextBox 32" id="32"/>
            <p:cNvSpPr txBox="true"/>
            <p:nvPr/>
          </p:nvSpPr>
          <p:spPr>
            <a:xfrm>
              <a:off x="0" y="0"/>
              <a:ext cx="10131552" cy="11338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Role / Responsibility</a:t>
              </a:r>
            </a:p>
          </p:txBody>
        </p:sp>
      </p:grpSp>
      <p:grpSp>
        <p:nvGrpSpPr>
          <p:cNvPr name="Group 33" id="33"/>
          <p:cNvGrpSpPr/>
          <p:nvPr/>
        </p:nvGrpSpPr>
        <p:grpSpPr>
          <a:xfrm rot="0">
            <a:off x="1227296" y="2941796"/>
            <a:ext cx="1248727" cy="974407"/>
            <a:chOff x="0" y="0"/>
            <a:chExt cx="1664970" cy="1299210"/>
          </a:xfrm>
        </p:grpSpPr>
        <p:sp>
          <p:nvSpPr>
            <p:cNvPr name="Freeform 34" id="34"/>
            <p:cNvSpPr/>
            <p:nvPr/>
          </p:nvSpPr>
          <p:spPr>
            <a:xfrm flipH="false" flipV="false" rot="0">
              <a:off x="0" y="0"/>
              <a:ext cx="1664970" cy="1299210"/>
            </a:xfrm>
            <a:custGeom>
              <a:avLst/>
              <a:gdLst/>
              <a:ahLst/>
              <a:cxnLst/>
              <a:rect r="r" b="b" t="t" l="l"/>
              <a:pathLst>
                <a:path h="1299210" w="1664970">
                  <a:moveTo>
                    <a:pt x="0" y="0"/>
                  </a:moveTo>
                  <a:lnTo>
                    <a:pt x="1664970" y="0"/>
                  </a:lnTo>
                  <a:lnTo>
                    <a:pt x="1664970" y="1299210"/>
                  </a:lnTo>
                  <a:lnTo>
                    <a:pt x="0" y="1299210"/>
                  </a:lnTo>
                  <a:close/>
                </a:path>
              </a:pathLst>
            </a:custGeom>
            <a:solidFill>
              <a:srgbClr val="FFFFFF"/>
            </a:solidFill>
            <a:ln w="14288" cap="sq">
              <a:solidFill>
                <a:srgbClr val="CDDEE8"/>
              </a:solidFill>
              <a:prstDash val="solid"/>
              <a:miter/>
            </a:ln>
          </p:spPr>
        </p:sp>
      </p:grpSp>
      <p:grpSp>
        <p:nvGrpSpPr>
          <p:cNvPr name="Group 35" id="35"/>
          <p:cNvGrpSpPr/>
          <p:nvPr/>
        </p:nvGrpSpPr>
        <p:grpSpPr>
          <a:xfrm rot="0">
            <a:off x="1289304" y="2990088"/>
            <a:ext cx="1124712" cy="877824"/>
            <a:chOff x="0" y="0"/>
            <a:chExt cx="1499616" cy="1170432"/>
          </a:xfrm>
        </p:grpSpPr>
        <p:sp>
          <p:nvSpPr>
            <p:cNvPr name="Freeform 36" id="36"/>
            <p:cNvSpPr/>
            <p:nvPr/>
          </p:nvSpPr>
          <p:spPr>
            <a:xfrm flipH="false" flipV="false" rot="0">
              <a:off x="0" y="0"/>
              <a:ext cx="1499616" cy="1170430"/>
            </a:xfrm>
            <a:custGeom>
              <a:avLst/>
              <a:gdLst/>
              <a:ahLst/>
              <a:cxnLst/>
              <a:rect r="r" b="b" t="t" l="l"/>
              <a:pathLst>
                <a:path h="1170430" w="1499616">
                  <a:moveTo>
                    <a:pt x="0" y="0"/>
                  </a:moveTo>
                  <a:lnTo>
                    <a:pt x="1499616" y="0"/>
                  </a:lnTo>
                  <a:lnTo>
                    <a:pt x="1499616" y="1170430"/>
                  </a:lnTo>
                  <a:lnTo>
                    <a:pt x="0" y="1170430"/>
                  </a:lnTo>
                  <a:close/>
                </a:path>
              </a:pathLst>
            </a:custGeom>
            <a:blipFill>
              <a:blip r:embed="rId2">
                <a:alphaModFix amt="0"/>
              </a:blip>
              <a:stretch>
                <a:fillRect l="-50139" t="0" r="-50139" b="0"/>
              </a:stretch>
            </a:blipFill>
          </p:spPr>
        </p:sp>
        <p:sp>
          <p:nvSpPr>
            <p:cNvPr name="TextBox 37" id="37"/>
            <p:cNvSpPr txBox="true"/>
            <p:nvPr/>
          </p:nvSpPr>
          <p:spPr>
            <a:xfrm>
              <a:off x="0" y="0"/>
              <a:ext cx="149961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1</a:t>
              </a:r>
            </a:p>
          </p:txBody>
        </p:sp>
      </p:grpSp>
      <p:grpSp>
        <p:nvGrpSpPr>
          <p:cNvPr name="Group 38" id="38"/>
          <p:cNvGrpSpPr/>
          <p:nvPr/>
        </p:nvGrpSpPr>
        <p:grpSpPr>
          <a:xfrm rot="0">
            <a:off x="2461736" y="2941796"/>
            <a:ext cx="4403408" cy="974407"/>
            <a:chOff x="0" y="0"/>
            <a:chExt cx="5871210" cy="1299210"/>
          </a:xfrm>
        </p:grpSpPr>
        <p:sp>
          <p:nvSpPr>
            <p:cNvPr name="Freeform 39" id="39"/>
            <p:cNvSpPr/>
            <p:nvPr/>
          </p:nvSpPr>
          <p:spPr>
            <a:xfrm flipH="false" flipV="false" rot="0">
              <a:off x="0" y="0"/>
              <a:ext cx="5871210" cy="1299210"/>
            </a:xfrm>
            <a:custGeom>
              <a:avLst/>
              <a:gdLst/>
              <a:ahLst/>
              <a:cxnLst/>
              <a:rect r="r" b="b" t="t" l="l"/>
              <a:pathLst>
                <a:path h="1299210" w="5871210">
                  <a:moveTo>
                    <a:pt x="0" y="0"/>
                  </a:moveTo>
                  <a:lnTo>
                    <a:pt x="5871210" y="0"/>
                  </a:lnTo>
                  <a:lnTo>
                    <a:pt x="5871210" y="1299210"/>
                  </a:lnTo>
                  <a:lnTo>
                    <a:pt x="0" y="1299210"/>
                  </a:lnTo>
                  <a:close/>
                </a:path>
              </a:pathLst>
            </a:custGeom>
            <a:solidFill>
              <a:srgbClr val="FFFFFF"/>
            </a:solidFill>
            <a:ln w="14288" cap="sq">
              <a:solidFill>
                <a:srgbClr val="CDDEE8"/>
              </a:solidFill>
              <a:prstDash val="solid"/>
              <a:miter/>
            </a:ln>
          </p:spPr>
        </p:sp>
      </p:grpSp>
      <p:grpSp>
        <p:nvGrpSpPr>
          <p:cNvPr name="Group 40" id="40"/>
          <p:cNvGrpSpPr/>
          <p:nvPr/>
        </p:nvGrpSpPr>
        <p:grpSpPr>
          <a:xfrm rot="0">
            <a:off x="2523744" y="2990088"/>
            <a:ext cx="4279392" cy="877824"/>
            <a:chOff x="0" y="0"/>
            <a:chExt cx="5705856" cy="1170432"/>
          </a:xfrm>
        </p:grpSpPr>
        <p:sp>
          <p:nvSpPr>
            <p:cNvPr name="Freeform 41" id="41"/>
            <p:cNvSpPr/>
            <p:nvPr/>
          </p:nvSpPr>
          <p:spPr>
            <a:xfrm flipH="false" flipV="false" rot="0">
              <a:off x="0" y="0"/>
              <a:ext cx="5705856" cy="1170430"/>
            </a:xfrm>
            <a:custGeom>
              <a:avLst/>
              <a:gdLst/>
              <a:ahLst/>
              <a:cxnLst/>
              <a:rect r="r" b="b" t="t" l="l"/>
              <a:pathLst>
                <a:path h="1170430" w="5705856">
                  <a:moveTo>
                    <a:pt x="0" y="0"/>
                  </a:moveTo>
                  <a:lnTo>
                    <a:pt x="5705856" y="0"/>
                  </a:lnTo>
                  <a:lnTo>
                    <a:pt x="5705856" y="1170430"/>
                  </a:lnTo>
                  <a:lnTo>
                    <a:pt x="0" y="1170430"/>
                  </a:lnTo>
                  <a:close/>
                </a:path>
              </a:pathLst>
            </a:custGeom>
            <a:blipFill>
              <a:blip r:embed="rId2">
                <a:alphaModFix amt="0"/>
              </a:blip>
              <a:stretch>
                <a:fillRect l="0" t="-44989" r="0" b="-44989"/>
              </a:stretch>
            </a:blipFill>
          </p:spPr>
        </p:sp>
        <p:sp>
          <p:nvSpPr>
            <p:cNvPr name="TextBox 42" id="42"/>
            <p:cNvSpPr txBox="true"/>
            <p:nvPr/>
          </p:nvSpPr>
          <p:spPr>
            <a:xfrm>
              <a:off x="0" y="0"/>
              <a:ext cx="570585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J. Lirisha</a:t>
              </a:r>
            </a:p>
          </p:txBody>
        </p:sp>
      </p:grpSp>
      <p:grpSp>
        <p:nvGrpSpPr>
          <p:cNvPr name="Group 43" id="43"/>
          <p:cNvGrpSpPr/>
          <p:nvPr/>
        </p:nvGrpSpPr>
        <p:grpSpPr>
          <a:xfrm rot="0">
            <a:off x="6850856" y="2941796"/>
            <a:ext cx="2757488" cy="974407"/>
            <a:chOff x="0" y="0"/>
            <a:chExt cx="3676650" cy="1299210"/>
          </a:xfrm>
        </p:grpSpPr>
        <p:sp>
          <p:nvSpPr>
            <p:cNvPr name="Freeform 44" id="44"/>
            <p:cNvSpPr/>
            <p:nvPr/>
          </p:nvSpPr>
          <p:spPr>
            <a:xfrm flipH="false" flipV="false" rot="0">
              <a:off x="0" y="0"/>
              <a:ext cx="3676650" cy="1299210"/>
            </a:xfrm>
            <a:custGeom>
              <a:avLst/>
              <a:gdLst/>
              <a:ahLst/>
              <a:cxnLst/>
              <a:rect r="r" b="b" t="t" l="l"/>
              <a:pathLst>
                <a:path h="1299210" w="3676650">
                  <a:moveTo>
                    <a:pt x="0" y="0"/>
                  </a:moveTo>
                  <a:lnTo>
                    <a:pt x="3676650" y="0"/>
                  </a:lnTo>
                  <a:lnTo>
                    <a:pt x="3676650" y="1299210"/>
                  </a:lnTo>
                  <a:lnTo>
                    <a:pt x="0" y="1299210"/>
                  </a:lnTo>
                  <a:close/>
                </a:path>
              </a:pathLst>
            </a:custGeom>
            <a:solidFill>
              <a:srgbClr val="FFFFFF"/>
            </a:solidFill>
            <a:ln w="14288" cap="sq">
              <a:solidFill>
                <a:srgbClr val="CDDEE8"/>
              </a:solidFill>
              <a:prstDash val="solid"/>
              <a:miter/>
            </a:ln>
          </p:spPr>
        </p:sp>
      </p:grpSp>
      <p:grpSp>
        <p:nvGrpSpPr>
          <p:cNvPr name="Group 45" id="45"/>
          <p:cNvGrpSpPr/>
          <p:nvPr/>
        </p:nvGrpSpPr>
        <p:grpSpPr>
          <a:xfrm rot="0">
            <a:off x="6912864" y="2990088"/>
            <a:ext cx="2633472" cy="877824"/>
            <a:chOff x="0" y="0"/>
            <a:chExt cx="3511296" cy="1170432"/>
          </a:xfrm>
        </p:grpSpPr>
        <p:sp>
          <p:nvSpPr>
            <p:cNvPr name="Freeform 46" id="46"/>
            <p:cNvSpPr/>
            <p:nvPr/>
          </p:nvSpPr>
          <p:spPr>
            <a:xfrm flipH="false" flipV="false" rot="0">
              <a:off x="0" y="0"/>
              <a:ext cx="3511296" cy="1170430"/>
            </a:xfrm>
            <a:custGeom>
              <a:avLst/>
              <a:gdLst/>
              <a:ahLst/>
              <a:cxnLst/>
              <a:rect r="r" b="b" t="t" l="l"/>
              <a:pathLst>
                <a:path h="1170430" w="3511296">
                  <a:moveTo>
                    <a:pt x="0" y="0"/>
                  </a:moveTo>
                  <a:lnTo>
                    <a:pt x="3511296" y="0"/>
                  </a:lnTo>
                  <a:lnTo>
                    <a:pt x="3511296" y="1170430"/>
                  </a:lnTo>
                  <a:lnTo>
                    <a:pt x="0" y="1170430"/>
                  </a:lnTo>
                  <a:close/>
                </a:path>
              </a:pathLst>
            </a:custGeom>
            <a:blipFill>
              <a:blip r:embed="rId2">
                <a:alphaModFix amt="0"/>
              </a:blip>
              <a:stretch>
                <a:fillRect l="0" t="-8455" r="0" b="-8455"/>
              </a:stretch>
            </a:blipFill>
          </p:spPr>
        </p:sp>
        <p:sp>
          <p:nvSpPr>
            <p:cNvPr name="TextBox 47" id="47"/>
            <p:cNvSpPr txBox="true"/>
            <p:nvPr/>
          </p:nvSpPr>
          <p:spPr>
            <a:xfrm>
              <a:off x="0" y="0"/>
              <a:ext cx="351129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23RA1A0565</a:t>
              </a:r>
            </a:p>
          </p:txBody>
        </p:sp>
      </p:grpSp>
      <p:grpSp>
        <p:nvGrpSpPr>
          <p:cNvPr name="Group 48" id="48"/>
          <p:cNvGrpSpPr/>
          <p:nvPr/>
        </p:nvGrpSpPr>
        <p:grpSpPr>
          <a:xfrm rot="0">
            <a:off x="9594056" y="2941796"/>
            <a:ext cx="7695247" cy="974407"/>
            <a:chOff x="0" y="0"/>
            <a:chExt cx="10260330" cy="1299210"/>
          </a:xfrm>
        </p:grpSpPr>
        <p:sp>
          <p:nvSpPr>
            <p:cNvPr name="Freeform 49" id="49"/>
            <p:cNvSpPr/>
            <p:nvPr/>
          </p:nvSpPr>
          <p:spPr>
            <a:xfrm flipH="false" flipV="false" rot="0">
              <a:off x="0" y="0"/>
              <a:ext cx="10260330" cy="1299210"/>
            </a:xfrm>
            <a:custGeom>
              <a:avLst/>
              <a:gdLst/>
              <a:ahLst/>
              <a:cxnLst/>
              <a:rect r="r" b="b" t="t" l="l"/>
              <a:pathLst>
                <a:path h="1299210" w="10260330">
                  <a:moveTo>
                    <a:pt x="0" y="0"/>
                  </a:moveTo>
                  <a:lnTo>
                    <a:pt x="10260330" y="0"/>
                  </a:lnTo>
                  <a:lnTo>
                    <a:pt x="10260330" y="1299210"/>
                  </a:lnTo>
                  <a:lnTo>
                    <a:pt x="0" y="1299210"/>
                  </a:lnTo>
                  <a:close/>
                </a:path>
              </a:pathLst>
            </a:custGeom>
            <a:solidFill>
              <a:srgbClr val="FFFFFF"/>
            </a:solidFill>
            <a:ln w="14288" cap="sq">
              <a:solidFill>
                <a:srgbClr val="CDDEE8"/>
              </a:solidFill>
              <a:prstDash val="solid"/>
              <a:miter/>
            </a:ln>
          </p:spPr>
        </p:sp>
      </p:grpSp>
      <p:grpSp>
        <p:nvGrpSpPr>
          <p:cNvPr name="Group 50" id="50"/>
          <p:cNvGrpSpPr/>
          <p:nvPr/>
        </p:nvGrpSpPr>
        <p:grpSpPr>
          <a:xfrm rot="0">
            <a:off x="9656064" y="2990088"/>
            <a:ext cx="7571232" cy="877824"/>
            <a:chOff x="0" y="0"/>
            <a:chExt cx="10094976" cy="1170432"/>
          </a:xfrm>
        </p:grpSpPr>
        <p:sp>
          <p:nvSpPr>
            <p:cNvPr name="Freeform 51" id="51"/>
            <p:cNvSpPr/>
            <p:nvPr/>
          </p:nvSpPr>
          <p:spPr>
            <a:xfrm flipH="false" flipV="false" rot="0">
              <a:off x="0" y="0"/>
              <a:ext cx="10094976" cy="1170430"/>
            </a:xfrm>
            <a:custGeom>
              <a:avLst/>
              <a:gdLst/>
              <a:ahLst/>
              <a:cxnLst/>
              <a:rect r="r" b="b" t="t" l="l"/>
              <a:pathLst>
                <a:path h="1170430" w="10094976">
                  <a:moveTo>
                    <a:pt x="0" y="0"/>
                  </a:moveTo>
                  <a:lnTo>
                    <a:pt x="10094976" y="0"/>
                  </a:lnTo>
                  <a:lnTo>
                    <a:pt x="10094976" y="1170430"/>
                  </a:lnTo>
                  <a:lnTo>
                    <a:pt x="0" y="1170430"/>
                  </a:lnTo>
                  <a:close/>
                </a:path>
              </a:pathLst>
            </a:custGeom>
            <a:blipFill>
              <a:blip r:embed="rId2">
                <a:alphaModFix amt="0"/>
              </a:blip>
              <a:stretch>
                <a:fillRect l="0" t="-118058" r="0" b="-118058"/>
              </a:stretch>
            </a:blipFill>
          </p:spPr>
        </p:sp>
        <p:sp>
          <p:nvSpPr>
            <p:cNvPr name="TextBox 52" id="52"/>
            <p:cNvSpPr txBox="true"/>
            <p:nvPr/>
          </p:nvSpPr>
          <p:spPr>
            <a:xfrm>
              <a:off x="0" y="0"/>
              <a:ext cx="1009497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Team Lead / Front-End Design</a:t>
              </a:r>
            </a:p>
          </p:txBody>
        </p:sp>
      </p:grpSp>
      <p:grpSp>
        <p:nvGrpSpPr>
          <p:cNvPr name="Group 53" id="53"/>
          <p:cNvGrpSpPr/>
          <p:nvPr/>
        </p:nvGrpSpPr>
        <p:grpSpPr>
          <a:xfrm rot="0">
            <a:off x="1227296" y="3901916"/>
            <a:ext cx="1248727" cy="974407"/>
            <a:chOff x="0" y="0"/>
            <a:chExt cx="1664970" cy="1299210"/>
          </a:xfrm>
        </p:grpSpPr>
        <p:sp>
          <p:nvSpPr>
            <p:cNvPr name="Freeform 54" id="54"/>
            <p:cNvSpPr/>
            <p:nvPr/>
          </p:nvSpPr>
          <p:spPr>
            <a:xfrm flipH="false" flipV="false" rot="0">
              <a:off x="0" y="0"/>
              <a:ext cx="1664970" cy="1299210"/>
            </a:xfrm>
            <a:custGeom>
              <a:avLst/>
              <a:gdLst/>
              <a:ahLst/>
              <a:cxnLst/>
              <a:rect r="r" b="b" t="t" l="l"/>
              <a:pathLst>
                <a:path h="1299210" w="1664970">
                  <a:moveTo>
                    <a:pt x="0" y="0"/>
                  </a:moveTo>
                  <a:lnTo>
                    <a:pt x="1664970" y="0"/>
                  </a:lnTo>
                  <a:lnTo>
                    <a:pt x="1664970" y="1299210"/>
                  </a:lnTo>
                  <a:lnTo>
                    <a:pt x="0" y="1299210"/>
                  </a:lnTo>
                  <a:close/>
                </a:path>
              </a:pathLst>
            </a:custGeom>
            <a:solidFill>
              <a:srgbClr val="FFFFFF"/>
            </a:solidFill>
            <a:ln w="14288" cap="sq">
              <a:solidFill>
                <a:srgbClr val="CDDEE8"/>
              </a:solidFill>
              <a:prstDash val="solid"/>
              <a:miter/>
            </a:ln>
          </p:spPr>
        </p:sp>
      </p:grpSp>
      <p:grpSp>
        <p:nvGrpSpPr>
          <p:cNvPr name="Group 55" id="55"/>
          <p:cNvGrpSpPr/>
          <p:nvPr/>
        </p:nvGrpSpPr>
        <p:grpSpPr>
          <a:xfrm rot="0">
            <a:off x="1289304" y="3950208"/>
            <a:ext cx="1124712" cy="877824"/>
            <a:chOff x="0" y="0"/>
            <a:chExt cx="1499616" cy="1170432"/>
          </a:xfrm>
        </p:grpSpPr>
        <p:sp>
          <p:nvSpPr>
            <p:cNvPr name="Freeform 56" id="56"/>
            <p:cNvSpPr/>
            <p:nvPr/>
          </p:nvSpPr>
          <p:spPr>
            <a:xfrm flipH="false" flipV="false" rot="0">
              <a:off x="0" y="0"/>
              <a:ext cx="1499616" cy="1170430"/>
            </a:xfrm>
            <a:custGeom>
              <a:avLst/>
              <a:gdLst/>
              <a:ahLst/>
              <a:cxnLst/>
              <a:rect r="r" b="b" t="t" l="l"/>
              <a:pathLst>
                <a:path h="1170430" w="1499616">
                  <a:moveTo>
                    <a:pt x="0" y="0"/>
                  </a:moveTo>
                  <a:lnTo>
                    <a:pt x="1499616" y="0"/>
                  </a:lnTo>
                  <a:lnTo>
                    <a:pt x="1499616" y="1170430"/>
                  </a:lnTo>
                  <a:lnTo>
                    <a:pt x="0" y="1170430"/>
                  </a:lnTo>
                  <a:close/>
                </a:path>
              </a:pathLst>
            </a:custGeom>
            <a:blipFill>
              <a:blip r:embed="rId2">
                <a:alphaModFix amt="0"/>
              </a:blip>
              <a:stretch>
                <a:fillRect l="-50139" t="0" r="-50139" b="0"/>
              </a:stretch>
            </a:blipFill>
          </p:spPr>
        </p:sp>
        <p:sp>
          <p:nvSpPr>
            <p:cNvPr name="TextBox 57" id="57"/>
            <p:cNvSpPr txBox="true"/>
            <p:nvPr/>
          </p:nvSpPr>
          <p:spPr>
            <a:xfrm>
              <a:off x="0" y="0"/>
              <a:ext cx="149961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2</a:t>
              </a:r>
            </a:p>
          </p:txBody>
        </p:sp>
      </p:grpSp>
      <p:grpSp>
        <p:nvGrpSpPr>
          <p:cNvPr name="Group 58" id="58"/>
          <p:cNvGrpSpPr/>
          <p:nvPr/>
        </p:nvGrpSpPr>
        <p:grpSpPr>
          <a:xfrm rot="0">
            <a:off x="2461736" y="3901916"/>
            <a:ext cx="4403408" cy="974407"/>
            <a:chOff x="0" y="0"/>
            <a:chExt cx="5871210" cy="1299210"/>
          </a:xfrm>
        </p:grpSpPr>
        <p:sp>
          <p:nvSpPr>
            <p:cNvPr name="Freeform 59" id="59"/>
            <p:cNvSpPr/>
            <p:nvPr/>
          </p:nvSpPr>
          <p:spPr>
            <a:xfrm flipH="false" flipV="false" rot="0">
              <a:off x="0" y="0"/>
              <a:ext cx="5871210" cy="1299210"/>
            </a:xfrm>
            <a:custGeom>
              <a:avLst/>
              <a:gdLst/>
              <a:ahLst/>
              <a:cxnLst/>
              <a:rect r="r" b="b" t="t" l="l"/>
              <a:pathLst>
                <a:path h="1299210" w="5871210">
                  <a:moveTo>
                    <a:pt x="0" y="0"/>
                  </a:moveTo>
                  <a:lnTo>
                    <a:pt x="5871210" y="0"/>
                  </a:lnTo>
                  <a:lnTo>
                    <a:pt x="5871210" y="1299210"/>
                  </a:lnTo>
                  <a:lnTo>
                    <a:pt x="0" y="1299210"/>
                  </a:lnTo>
                  <a:close/>
                </a:path>
              </a:pathLst>
            </a:custGeom>
            <a:solidFill>
              <a:srgbClr val="FFFFFF"/>
            </a:solidFill>
            <a:ln w="14288" cap="sq">
              <a:solidFill>
                <a:srgbClr val="CDDEE8"/>
              </a:solidFill>
              <a:prstDash val="solid"/>
              <a:miter/>
            </a:ln>
          </p:spPr>
        </p:sp>
      </p:grpSp>
      <p:grpSp>
        <p:nvGrpSpPr>
          <p:cNvPr name="Group 60" id="60"/>
          <p:cNvGrpSpPr/>
          <p:nvPr/>
        </p:nvGrpSpPr>
        <p:grpSpPr>
          <a:xfrm rot="0">
            <a:off x="2523744" y="3950208"/>
            <a:ext cx="4279392" cy="877824"/>
            <a:chOff x="0" y="0"/>
            <a:chExt cx="5705856" cy="1170432"/>
          </a:xfrm>
        </p:grpSpPr>
        <p:sp>
          <p:nvSpPr>
            <p:cNvPr name="Freeform 61" id="61"/>
            <p:cNvSpPr/>
            <p:nvPr/>
          </p:nvSpPr>
          <p:spPr>
            <a:xfrm flipH="false" flipV="false" rot="0">
              <a:off x="0" y="0"/>
              <a:ext cx="5705856" cy="1170430"/>
            </a:xfrm>
            <a:custGeom>
              <a:avLst/>
              <a:gdLst/>
              <a:ahLst/>
              <a:cxnLst/>
              <a:rect r="r" b="b" t="t" l="l"/>
              <a:pathLst>
                <a:path h="1170430" w="5705856">
                  <a:moveTo>
                    <a:pt x="0" y="0"/>
                  </a:moveTo>
                  <a:lnTo>
                    <a:pt x="5705856" y="0"/>
                  </a:lnTo>
                  <a:lnTo>
                    <a:pt x="5705856" y="1170430"/>
                  </a:lnTo>
                  <a:lnTo>
                    <a:pt x="0" y="1170430"/>
                  </a:lnTo>
                  <a:close/>
                </a:path>
              </a:pathLst>
            </a:custGeom>
            <a:blipFill>
              <a:blip r:embed="rId2">
                <a:alphaModFix amt="0"/>
              </a:blip>
              <a:stretch>
                <a:fillRect l="0" t="-44989" r="0" b="-44989"/>
              </a:stretch>
            </a:blipFill>
          </p:spPr>
        </p:sp>
        <p:sp>
          <p:nvSpPr>
            <p:cNvPr name="TextBox 62" id="62"/>
            <p:cNvSpPr txBox="true"/>
            <p:nvPr/>
          </p:nvSpPr>
          <p:spPr>
            <a:xfrm>
              <a:off x="0" y="0"/>
              <a:ext cx="570585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T. Bhanu Vara Prasad</a:t>
              </a:r>
            </a:p>
          </p:txBody>
        </p:sp>
      </p:grpSp>
      <p:grpSp>
        <p:nvGrpSpPr>
          <p:cNvPr name="Group 63" id="63"/>
          <p:cNvGrpSpPr/>
          <p:nvPr/>
        </p:nvGrpSpPr>
        <p:grpSpPr>
          <a:xfrm rot="0">
            <a:off x="6850856" y="3901916"/>
            <a:ext cx="2757488" cy="974407"/>
            <a:chOff x="0" y="0"/>
            <a:chExt cx="3676650" cy="1299210"/>
          </a:xfrm>
        </p:grpSpPr>
        <p:sp>
          <p:nvSpPr>
            <p:cNvPr name="Freeform 64" id="64"/>
            <p:cNvSpPr/>
            <p:nvPr/>
          </p:nvSpPr>
          <p:spPr>
            <a:xfrm flipH="false" flipV="false" rot="0">
              <a:off x="0" y="0"/>
              <a:ext cx="3676650" cy="1299210"/>
            </a:xfrm>
            <a:custGeom>
              <a:avLst/>
              <a:gdLst/>
              <a:ahLst/>
              <a:cxnLst/>
              <a:rect r="r" b="b" t="t" l="l"/>
              <a:pathLst>
                <a:path h="1299210" w="3676650">
                  <a:moveTo>
                    <a:pt x="0" y="0"/>
                  </a:moveTo>
                  <a:lnTo>
                    <a:pt x="3676650" y="0"/>
                  </a:lnTo>
                  <a:lnTo>
                    <a:pt x="3676650" y="1299210"/>
                  </a:lnTo>
                  <a:lnTo>
                    <a:pt x="0" y="1299210"/>
                  </a:lnTo>
                  <a:close/>
                </a:path>
              </a:pathLst>
            </a:custGeom>
            <a:solidFill>
              <a:srgbClr val="FFFFFF"/>
            </a:solidFill>
            <a:ln w="14288" cap="sq">
              <a:solidFill>
                <a:srgbClr val="CDDEE8"/>
              </a:solidFill>
              <a:prstDash val="solid"/>
              <a:miter/>
            </a:ln>
          </p:spPr>
        </p:sp>
      </p:grpSp>
      <p:grpSp>
        <p:nvGrpSpPr>
          <p:cNvPr name="Group 65" id="65"/>
          <p:cNvGrpSpPr/>
          <p:nvPr/>
        </p:nvGrpSpPr>
        <p:grpSpPr>
          <a:xfrm rot="0">
            <a:off x="6912864" y="3950208"/>
            <a:ext cx="2633472" cy="877824"/>
            <a:chOff x="0" y="0"/>
            <a:chExt cx="3511296" cy="1170432"/>
          </a:xfrm>
        </p:grpSpPr>
        <p:sp>
          <p:nvSpPr>
            <p:cNvPr name="Freeform 66" id="66"/>
            <p:cNvSpPr/>
            <p:nvPr/>
          </p:nvSpPr>
          <p:spPr>
            <a:xfrm flipH="false" flipV="false" rot="0">
              <a:off x="0" y="0"/>
              <a:ext cx="3511296" cy="1170430"/>
            </a:xfrm>
            <a:custGeom>
              <a:avLst/>
              <a:gdLst/>
              <a:ahLst/>
              <a:cxnLst/>
              <a:rect r="r" b="b" t="t" l="l"/>
              <a:pathLst>
                <a:path h="1170430" w="3511296">
                  <a:moveTo>
                    <a:pt x="0" y="0"/>
                  </a:moveTo>
                  <a:lnTo>
                    <a:pt x="3511296" y="0"/>
                  </a:lnTo>
                  <a:lnTo>
                    <a:pt x="3511296" y="1170430"/>
                  </a:lnTo>
                  <a:lnTo>
                    <a:pt x="0" y="1170430"/>
                  </a:lnTo>
                  <a:close/>
                </a:path>
              </a:pathLst>
            </a:custGeom>
            <a:blipFill>
              <a:blip r:embed="rId2">
                <a:alphaModFix amt="0"/>
              </a:blip>
              <a:stretch>
                <a:fillRect l="0" t="-8455" r="0" b="-8455"/>
              </a:stretch>
            </a:blipFill>
          </p:spPr>
        </p:sp>
        <p:sp>
          <p:nvSpPr>
            <p:cNvPr name="TextBox 67" id="67"/>
            <p:cNvSpPr txBox="true"/>
            <p:nvPr/>
          </p:nvSpPr>
          <p:spPr>
            <a:xfrm>
              <a:off x="0" y="0"/>
              <a:ext cx="351129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23RA1A0525</a:t>
              </a:r>
            </a:p>
          </p:txBody>
        </p:sp>
      </p:grpSp>
      <p:grpSp>
        <p:nvGrpSpPr>
          <p:cNvPr name="Group 68" id="68"/>
          <p:cNvGrpSpPr/>
          <p:nvPr/>
        </p:nvGrpSpPr>
        <p:grpSpPr>
          <a:xfrm rot="0">
            <a:off x="9594056" y="3901916"/>
            <a:ext cx="7695247" cy="974407"/>
            <a:chOff x="0" y="0"/>
            <a:chExt cx="10260330" cy="1299210"/>
          </a:xfrm>
        </p:grpSpPr>
        <p:sp>
          <p:nvSpPr>
            <p:cNvPr name="Freeform 69" id="69"/>
            <p:cNvSpPr/>
            <p:nvPr/>
          </p:nvSpPr>
          <p:spPr>
            <a:xfrm flipH="false" flipV="false" rot="0">
              <a:off x="0" y="0"/>
              <a:ext cx="10260330" cy="1299210"/>
            </a:xfrm>
            <a:custGeom>
              <a:avLst/>
              <a:gdLst/>
              <a:ahLst/>
              <a:cxnLst/>
              <a:rect r="r" b="b" t="t" l="l"/>
              <a:pathLst>
                <a:path h="1299210" w="10260330">
                  <a:moveTo>
                    <a:pt x="0" y="0"/>
                  </a:moveTo>
                  <a:lnTo>
                    <a:pt x="10260330" y="0"/>
                  </a:lnTo>
                  <a:lnTo>
                    <a:pt x="10260330" y="1299210"/>
                  </a:lnTo>
                  <a:lnTo>
                    <a:pt x="0" y="1299210"/>
                  </a:lnTo>
                  <a:close/>
                </a:path>
              </a:pathLst>
            </a:custGeom>
            <a:solidFill>
              <a:srgbClr val="FFFFFF"/>
            </a:solidFill>
            <a:ln w="14288" cap="sq">
              <a:solidFill>
                <a:srgbClr val="CDDEE8"/>
              </a:solidFill>
              <a:prstDash val="solid"/>
              <a:miter/>
            </a:ln>
          </p:spPr>
        </p:sp>
      </p:grpSp>
      <p:grpSp>
        <p:nvGrpSpPr>
          <p:cNvPr name="Group 70" id="70"/>
          <p:cNvGrpSpPr/>
          <p:nvPr/>
        </p:nvGrpSpPr>
        <p:grpSpPr>
          <a:xfrm rot="0">
            <a:off x="9656064" y="3950208"/>
            <a:ext cx="7571232" cy="877823"/>
            <a:chOff x="0" y="0"/>
            <a:chExt cx="10094976" cy="1170430"/>
          </a:xfrm>
        </p:grpSpPr>
        <p:sp>
          <p:nvSpPr>
            <p:cNvPr name="Freeform 71" id="71"/>
            <p:cNvSpPr/>
            <p:nvPr/>
          </p:nvSpPr>
          <p:spPr>
            <a:xfrm flipH="false" flipV="false" rot="0">
              <a:off x="0" y="0"/>
              <a:ext cx="10094976" cy="1170428"/>
            </a:xfrm>
            <a:custGeom>
              <a:avLst/>
              <a:gdLst/>
              <a:ahLst/>
              <a:cxnLst/>
              <a:rect r="r" b="b" t="t" l="l"/>
              <a:pathLst>
                <a:path h="1170428" w="10094976">
                  <a:moveTo>
                    <a:pt x="0" y="0"/>
                  </a:moveTo>
                  <a:lnTo>
                    <a:pt x="10094976" y="0"/>
                  </a:lnTo>
                  <a:lnTo>
                    <a:pt x="10094976" y="1170428"/>
                  </a:lnTo>
                  <a:lnTo>
                    <a:pt x="0" y="1170428"/>
                  </a:lnTo>
                  <a:close/>
                </a:path>
              </a:pathLst>
            </a:custGeom>
            <a:blipFill>
              <a:blip r:embed="rId2">
                <a:alphaModFix amt="0"/>
              </a:blip>
              <a:stretch>
                <a:fillRect l="0" t="-118058" r="0" b="-118059"/>
              </a:stretch>
            </a:blipFill>
          </p:spPr>
        </p:sp>
        <p:sp>
          <p:nvSpPr>
            <p:cNvPr name="TextBox 72" id="72"/>
            <p:cNvSpPr txBox="true"/>
            <p:nvPr/>
          </p:nvSpPr>
          <p:spPr>
            <a:xfrm>
              <a:off x="0" y="0"/>
              <a:ext cx="10094976" cy="1170430"/>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Back-End Development</a:t>
              </a:r>
            </a:p>
          </p:txBody>
        </p:sp>
      </p:grpSp>
      <p:grpSp>
        <p:nvGrpSpPr>
          <p:cNvPr name="Group 73" id="73"/>
          <p:cNvGrpSpPr/>
          <p:nvPr/>
        </p:nvGrpSpPr>
        <p:grpSpPr>
          <a:xfrm rot="0">
            <a:off x="1227296" y="4862036"/>
            <a:ext cx="1248727" cy="974407"/>
            <a:chOff x="0" y="0"/>
            <a:chExt cx="1664970" cy="1299210"/>
          </a:xfrm>
        </p:grpSpPr>
        <p:sp>
          <p:nvSpPr>
            <p:cNvPr name="Freeform 74" id="74"/>
            <p:cNvSpPr/>
            <p:nvPr/>
          </p:nvSpPr>
          <p:spPr>
            <a:xfrm flipH="false" flipV="false" rot="0">
              <a:off x="0" y="0"/>
              <a:ext cx="1664970" cy="1299210"/>
            </a:xfrm>
            <a:custGeom>
              <a:avLst/>
              <a:gdLst/>
              <a:ahLst/>
              <a:cxnLst/>
              <a:rect r="r" b="b" t="t" l="l"/>
              <a:pathLst>
                <a:path h="1299210" w="1664970">
                  <a:moveTo>
                    <a:pt x="0" y="0"/>
                  </a:moveTo>
                  <a:lnTo>
                    <a:pt x="1664970" y="0"/>
                  </a:lnTo>
                  <a:lnTo>
                    <a:pt x="1664970" y="1299210"/>
                  </a:lnTo>
                  <a:lnTo>
                    <a:pt x="0" y="1299210"/>
                  </a:lnTo>
                  <a:close/>
                </a:path>
              </a:pathLst>
            </a:custGeom>
            <a:solidFill>
              <a:srgbClr val="FFFFFF"/>
            </a:solidFill>
            <a:ln w="14288" cap="sq">
              <a:solidFill>
                <a:srgbClr val="CDDEE8"/>
              </a:solidFill>
              <a:prstDash val="solid"/>
              <a:miter/>
            </a:ln>
          </p:spPr>
        </p:sp>
      </p:grpSp>
      <p:grpSp>
        <p:nvGrpSpPr>
          <p:cNvPr name="Group 75" id="75"/>
          <p:cNvGrpSpPr/>
          <p:nvPr/>
        </p:nvGrpSpPr>
        <p:grpSpPr>
          <a:xfrm rot="0">
            <a:off x="1289304" y="4910328"/>
            <a:ext cx="1124712" cy="877824"/>
            <a:chOff x="0" y="0"/>
            <a:chExt cx="1499616" cy="1170432"/>
          </a:xfrm>
        </p:grpSpPr>
        <p:sp>
          <p:nvSpPr>
            <p:cNvPr name="Freeform 76" id="76"/>
            <p:cNvSpPr/>
            <p:nvPr/>
          </p:nvSpPr>
          <p:spPr>
            <a:xfrm flipH="false" flipV="false" rot="0">
              <a:off x="0" y="0"/>
              <a:ext cx="1499616" cy="1170430"/>
            </a:xfrm>
            <a:custGeom>
              <a:avLst/>
              <a:gdLst/>
              <a:ahLst/>
              <a:cxnLst/>
              <a:rect r="r" b="b" t="t" l="l"/>
              <a:pathLst>
                <a:path h="1170430" w="1499616">
                  <a:moveTo>
                    <a:pt x="0" y="0"/>
                  </a:moveTo>
                  <a:lnTo>
                    <a:pt x="1499616" y="0"/>
                  </a:lnTo>
                  <a:lnTo>
                    <a:pt x="1499616" y="1170430"/>
                  </a:lnTo>
                  <a:lnTo>
                    <a:pt x="0" y="1170430"/>
                  </a:lnTo>
                  <a:close/>
                </a:path>
              </a:pathLst>
            </a:custGeom>
            <a:blipFill>
              <a:blip r:embed="rId2">
                <a:alphaModFix amt="0"/>
              </a:blip>
              <a:stretch>
                <a:fillRect l="-50139" t="0" r="-50139" b="0"/>
              </a:stretch>
            </a:blipFill>
          </p:spPr>
        </p:sp>
        <p:sp>
          <p:nvSpPr>
            <p:cNvPr name="TextBox 77" id="77"/>
            <p:cNvSpPr txBox="true"/>
            <p:nvPr/>
          </p:nvSpPr>
          <p:spPr>
            <a:xfrm>
              <a:off x="0" y="0"/>
              <a:ext cx="149961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3</a:t>
              </a:r>
            </a:p>
          </p:txBody>
        </p:sp>
      </p:grpSp>
      <p:grpSp>
        <p:nvGrpSpPr>
          <p:cNvPr name="Group 78" id="78"/>
          <p:cNvGrpSpPr/>
          <p:nvPr/>
        </p:nvGrpSpPr>
        <p:grpSpPr>
          <a:xfrm rot="0">
            <a:off x="2461736" y="4862036"/>
            <a:ext cx="4403408" cy="974407"/>
            <a:chOff x="0" y="0"/>
            <a:chExt cx="5871210" cy="1299210"/>
          </a:xfrm>
        </p:grpSpPr>
        <p:sp>
          <p:nvSpPr>
            <p:cNvPr name="Freeform 79" id="79"/>
            <p:cNvSpPr/>
            <p:nvPr/>
          </p:nvSpPr>
          <p:spPr>
            <a:xfrm flipH="false" flipV="false" rot="0">
              <a:off x="0" y="0"/>
              <a:ext cx="5871210" cy="1299210"/>
            </a:xfrm>
            <a:custGeom>
              <a:avLst/>
              <a:gdLst/>
              <a:ahLst/>
              <a:cxnLst/>
              <a:rect r="r" b="b" t="t" l="l"/>
              <a:pathLst>
                <a:path h="1299210" w="5871210">
                  <a:moveTo>
                    <a:pt x="0" y="0"/>
                  </a:moveTo>
                  <a:lnTo>
                    <a:pt x="5871210" y="0"/>
                  </a:lnTo>
                  <a:lnTo>
                    <a:pt x="5871210" y="1299210"/>
                  </a:lnTo>
                  <a:lnTo>
                    <a:pt x="0" y="1299210"/>
                  </a:lnTo>
                  <a:close/>
                </a:path>
              </a:pathLst>
            </a:custGeom>
            <a:solidFill>
              <a:srgbClr val="FFFFFF"/>
            </a:solidFill>
            <a:ln w="14288" cap="sq">
              <a:solidFill>
                <a:srgbClr val="CDDEE8"/>
              </a:solidFill>
              <a:prstDash val="solid"/>
              <a:miter/>
            </a:ln>
          </p:spPr>
        </p:sp>
      </p:grpSp>
      <p:grpSp>
        <p:nvGrpSpPr>
          <p:cNvPr name="Group 80" id="80"/>
          <p:cNvGrpSpPr/>
          <p:nvPr/>
        </p:nvGrpSpPr>
        <p:grpSpPr>
          <a:xfrm rot="0">
            <a:off x="2523744" y="4910328"/>
            <a:ext cx="4279392" cy="877824"/>
            <a:chOff x="0" y="0"/>
            <a:chExt cx="5705856" cy="1170432"/>
          </a:xfrm>
        </p:grpSpPr>
        <p:sp>
          <p:nvSpPr>
            <p:cNvPr name="Freeform 81" id="81"/>
            <p:cNvSpPr/>
            <p:nvPr/>
          </p:nvSpPr>
          <p:spPr>
            <a:xfrm flipH="false" flipV="false" rot="0">
              <a:off x="0" y="0"/>
              <a:ext cx="5705856" cy="1170430"/>
            </a:xfrm>
            <a:custGeom>
              <a:avLst/>
              <a:gdLst/>
              <a:ahLst/>
              <a:cxnLst/>
              <a:rect r="r" b="b" t="t" l="l"/>
              <a:pathLst>
                <a:path h="1170430" w="5705856">
                  <a:moveTo>
                    <a:pt x="0" y="0"/>
                  </a:moveTo>
                  <a:lnTo>
                    <a:pt x="5705856" y="0"/>
                  </a:lnTo>
                  <a:lnTo>
                    <a:pt x="5705856" y="1170430"/>
                  </a:lnTo>
                  <a:lnTo>
                    <a:pt x="0" y="1170430"/>
                  </a:lnTo>
                  <a:close/>
                </a:path>
              </a:pathLst>
            </a:custGeom>
            <a:blipFill>
              <a:blip r:embed="rId2">
                <a:alphaModFix amt="0"/>
              </a:blip>
              <a:stretch>
                <a:fillRect l="0" t="-44989" r="0" b="-44989"/>
              </a:stretch>
            </a:blipFill>
          </p:spPr>
        </p:sp>
        <p:sp>
          <p:nvSpPr>
            <p:cNvPr name="TextBox 82" id="82"/>
            <p:cNvSpPr txBox="true"/>
            <p:nvPr/>
          </p:nvSpPr>
          <p:spPr>
            <a:xfrm>
              <a:off x="0" y="0"/>
              <a:ext cx="570585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M. Abhinav</a:t>
              </a:r>
            </a:p>
          </p:txBody>
        </p:sp>
      </p:grpSp>
      <p:grpSp>
        <p:nvGrpSpPr>
          <p:cNvPr name="Group 83" id="83"/>
          <p:cNvGrpSpPr/>
          <p:nvPr/>
        </p:nvGrpSpPr>
        <p:grpSpPr>
          <a:xfrm rot="0">
            <a:off x="6850856" y="4862036"/>
            <a:ext cx="2757488" cy="974407"/>
            <a:chOff x="0" y="0"/>
            <a:chExt cx="3676650" cy="1299210"/>
          </a:xfrm>
        </p:grpSpPr>
        <p:sp>
          <p:nvSpPr>
            <p:cNvPr name="Freeform 84" id="84"/>
            <p:cNvSpPr/>
            <p:nvPr/>
          </p:nvSpPr>
          <p:spPr>
            <a:xfrm flipH="false" flipV="false" rot="0">
              <a:off x="0" y="0"/>
              <a:ext cx="3676650" cy="1299210"/>
            </a:xfrm>
            <a:custGeom>
              <a:avLst/>
              <a:gdLst/>
              <a:ahLst/>
              <a:cxnLst/>
              <a:rect r="r" b="b" t="t" l="l"/>
              <a:pathLst>
                <a:path h="1299210" w="3676650">
                  <a:moveTo>
                    <a:pt x="0" y="0"/>
                  </a:moveTo>
                  <a:lnTo>
                    <a:pt x="3676650" y="0"/>
                  </a:lnTo>
                  <a:lnTo>
                    <a:pt x="3676650" y="1299210"/>
                  </a:lnTo>
                  <a:lnTo>
                    <a:pt x="0" y="1299210"/>
                  </a:lnTo>
                  <a:close/>
                </a:path>
              </a:pathLst>
            </a:custGeom>
            <a:solidFill>
              <a:srgbClr val="FFFFFF"/>
            </a:solidFill>
            <a:ln w="14288" cap="sq">
              <a:solidFill>
                <a:srgbClr val="CDDEE8"/>
              </a:solidFill>
              <a:prstDash val="solid"/>
              <a:miter/>
            </a:ln>
          </p:spPr>
        </p:sp>
      </p:grpSp>
      <p:grpSp>
        <p:nvGrpSpPr>
          <p:cNvPr name="Group 85" id="85"/>
          <p:cNvGrpSpPr/>
          <p:nvPr/>
        </p:nvGrpSpPr>
        <p:grpSpPr>
          <a:xfrm rot="0">
            <a:off x="6912864" y="4910328"/>
            <a:ext cx="2633472" cy="877823"/>
            <a:chOff x="0" y="0"/>
            <a:chExt cx="3511296" cy="1170430"/>
          </a:xfrm>
        </p:grpSpPr>
        <p:sp>
          <p:nvSpPr>
            <p:cNvPr name="Freeform 86" id="86"/>
            <p:cNvSpPr/>
            <p:nvPr/>
          </p:nvSpPr>
          <p:spPr>
            <a:xfrm flipH="false" flipV="false" rot="0">
              <a:off x="0" y="0"/>
              <a:ext cx="3511296" cy="1170428"/>
            </a:xfrm>
            <a:custGeom>
              <a:avLst/>
              <a:gdLst/>
              <a:ahLst/>
              <a:cxnLst/>
              <a:rect r="r" b="b" t="t" l="l"/>
              <a:pathLst>
                <a:path h="1170428" w="3511296">
                  <a:moveTo>
                    <a:pt x="0" y="0"/>
                  </a:moveTo>
                  <a:lnTo>
                    <a:pt x="3511296" y="0"/>
                  </a:lnTo>
                  <a:lnTo>
                    <a:pt x="3511296" y="1170428"/>
                  </a:lnTo>
                  <a:lnTo>
                    <a:pt x="0" y="1170428"/>
                  </a:lnTo>
                  <a:close/>
                </a:path>
              </a:pathLst>
            </a:custGeom>
            <a:blipFill>
              <a:blip r:embed="rId2">
                <a:alphaModFix amt="0"/>
              </a:blip>
              <a:stretch>
                <a:fillRect l="0" t="-8455" r="0" b="-8455"/>
              </a:stretch>
            </a:blipFill>
          </p:spPr>
        </p:sp>
        <p:sp>
          <p:nvSpPr>
            <p:cNvPr name="TextBox 87" id="87"/>
            <p:cNvSpPr txBox="true"/>
            <p:nvPr/>
          </p:nvSpPr>
          <p:spPr>
            <a:xfrm>
              <a:off x="0" y="0"/>
              <a:ext cx="3511296" cy="1170430"/>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23RA1A0503</a:t>
              </a:r>
            </a:p>
          </p:txBody>
        </p:sp>
      </p:grpSp>
      <p:grpSp>
        <p:nvGrpSpPr>
          <p:cNvPr name="Group 88" id="88"/>
          <p:cNvGrpSpPr/>
          <p:nvPr/>
        </p:nvGrpSpPr>
        <p:grpSpPr>
          <a:xfrm rot="0">
            <a:off x="9594056" y="4862036"/>
            <a:ext cx="7695247" cy="974407"/>
            <a:chOff x="0" y="0"/>
            <a:chExt cx="10260330" cy="1299210"/>
          </a:xfrm>
        </p:grpSpPr>
        <p:sp>
          <p:nvSpPr>
            <p:cNvPr name="Freeform 89" id="89"/>
            <p:cNvSpPr/>
            <p:nvPr/>
          </p:nvSpPr>
          <p:spPr>
            <a:xfrm flipH="false" flipV="false" rot="0">
              <a:off x="0" y="0"/>
              <a:ext cx="10260330" cy="1299210"/>
            </a:xfrm>
            <a:custGeom>
              <a:avLst/>
              <a:gdLst/>
              <a:ahLst/>
              <a:cxnLst/>
              <a:rect r="r" b="b" t="t" l="l"/>
              <a:pathLst>
                <a:path h="1299210" w="10260330">
                  <a:moveTo>
                    <a:pt x="0" y="0"/>
                  </a:moveTo>
                  <a:lnTo>
                    <a:pt x="10260330" y="0"/>
                  </a:lnTo>
                  <a:lnTo>
                    <a:pt x="10260330" y="1299210"/>
                  </a:lnTo>
                  <a:lnTo>
                    <a:pt x="0" y="1299210"/>
                  </a:lnTo>
                  <a:close/>
                </a:path>
              </a:pathLst>
            </a:custGeom>
            <a:solidFill>
              <a:srgbClr val="FFFFFF"/>
            </a:solidFill>
            <a:ln w="14288" cap="sq">
              <a:solidFill>
                <a:srgbClr val="CDDEE8"/>
              </a:solidFill>
              <a:prstDash val="solid"/>
              <a:miter/>
            </a:ln>
          </p:spPr>
        </p:sp>
      </p:grpSp>
      <p:grpSp>
        <p:nvGrpSpPr>
          <p:cNvPr name="Group 90" id="90"/>
          <p:cNvGrpSpPr/>
          <p:nvPr/>
        </p:nvGrpSpPr>
        <p:grpSpPr>
          <a:xfrm rot="0">
            <a:off x="9656064" y="4910328"/>
            <a:ext cx="7571232" cy="877824"/>
            <a:chOff x="0" y="0"/>
            <a:chExt cx="10094976" cy="1170432"/>
          </a:xfrm>
        </p:grpSpPr>
        <p:sp>
          <p:nvSpPr>
            <p:cNvPr name="Freeform 91" id="91"/>
            <p:cNvSpPr/>
            <p:nvPr/>
          </p:nvSpPr>
          <p:spPr>
            <a:xfrm flipH="false" flipV="false" rot="0">
              <a:off x="0" y="0"/>
              <a:ext cx="10094976" cy="1170430"/>
            </a:xfrm>
            <a:custGeom>
              <a:avLst/>
              <a:gdLst/>
              <a:ahLst/>
              <a:cxnLst/>
              <a:rect r="r" b="b" t="t" l="l"/>
              <a:pathLst>
                <a:path h="1170430" w="10094976">
                  <a:moveTo>
                    <a:pt x="0" y="0"/>
                  </a:moveTo>
                  <a:lnTo>
                    <a:pt x="10094976" y="0"/>
                  </a:lnTo>
                  <a:lnTo>
                    <a:pt x="10094976" y="1170430"/>
                  </a:lnTo>
                  <a:lnTo>
                    <a:pt x="0" y="1170430"/>
                  </a:lnTo>
                  <a:close/>
                </a:path>
              </a:pathLst>
            </a:custGeom>
            <a:blipFill>
              <a:blip r:embed="rId2">
                <a:alphaModFix amt="0"/>
              </a:blip>
              <a:stretch>
                <a:fillRect l="0" t="-118058" r="0" b="-118058"/>
              </a:stretch>
            </a:blipFill>
          </p:spPr>
        </p:sp>
        <p:sp>
          <p:nvSpPr>
            <p:cNvPr name="TextBox 92" id="92"/>
            <p:cNvSpPr txBox="true"/>
            <p:nvPr/>
          </p:nvSpPr>
          <p:spPr>
            <a:xfrm>
              <a:off x="0" y="0"/>
              <a:ext cx="1009497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Database Design</a:t>
              </a:r>
            </a:p>
          </p:txBody>
        </p:sp>
      </p:grpSp>
      <p:grpSp>
        <p:nvGrpSpPr>
          <p:cNvPr name="Group 93" id="93"/>
          <p:cNvGrpSpPr/>
          <p:nvPr/>
        </p:nvGrpSpPr>
        <p:grpSpPr>
          <a:xfrm rot="0">
            <a:off x="1227296" y="5822156"/>
            <a:ext cx="1248727" cy="974407"/>
            <a:chOff x="0" y="0"/>
            <a:chExt cx="1664970" cy="1299210"/>
          </a:xfrm>
        </p:grpSpPr>
        <p:sp>
          <p:nvSpPr>
            <p:cNvPr name="Freeform 94" id="94"/>
            <p:cNvSpPr/>
            <p:nvPr/>
          </p:nvSpPr>
          <p:spPr>
            <a:xfrm flipH="false" flipV="false" rot="0">
              <a:off x="0" y="0"/>
              <a:ext cx="1664970" cy="1299210"/>
            </a:xfrm>
            <a:custGeom>
              <a:avLst/>
              <a:gdLst/>
              <a:ahLst/>
              <a:cxnLst/>
              <a:rect r="r" b="b" t="t" l="l"/>
              <a:pathLst>
                <a:path h="1299210" w="1664970">
                  <a:moveTo>
                    <a:pt x="0" y="0"/>
                  </a:moveTo>
                  <a:lnTo>
                    <a:pt x="1664970" y="0"/>
                  </a:lnTo>
                  <a:lnTo>
                    <a:pt x="1664970" y="1299210"/>
                  </a:lnTo>
                  <a:lnTo>
                    <a:pt x="0" y="1299210"/>
                  </a:lnTo>
                  <a:close/>
                </a:path>
              </a:pathLst>
            </a:custGeom>
            <a:solidFill>
              <a:srgbClr val="FFFFFF"/>
            </a:solidFill>
            <a:ln w="14288" cap="sq">
              <a:solidFill>
                <a:srgbClr val="CDDEE8"/>
              </a:solidFill>
              <a:prstDash val="solid"/>
              <a:miter/>
            </a:ln>
          </p:spPr>
        </p:sp>
      </p:grpSp>
      <p:grpSp>
        <p:nvGrpSpPr>
          <p:cNvPr name="Group 95" id="95"/>
          <p:cNvGrpSpPr/>
          <p:nvPr/>
        </p:nvGrpSpPr>
        <p:grpSpPr>
          <a:xfrm rot="0">
            <a:off x="1289304" y="5870448"/>
            <a:ext cx="1124712" cy="877824"/>
            <a:chOff x="0" y="0"/>
            <a:chExt cx="1499616" cy="1170432"/>
          </a:xfrm>
        </p:grpSpPr>
        <p:sp>
          <p:nvSpPr>
            <p:cNvPr name="Freeform 96" id="96"/>
            <p:cNvSpPr/>
            <p:nvPr/>
          </p:nvSpPr>
          <p:spPr>
            <a:xfrm flipH="false" flipV="false" rot="0">
              <a:off x="0" y="0"/>
              <a:ext cx="1499616" cy="1170430"/>
            </a:xfrm>
            <a:custGeom>
              <a:avLst/>
              <a:gdLst/>
              <a:ahLst/>
              <a:cxnLst/>
              <a:rect r="r" b="b" t="t" l="l"/>
              <a:pathLst>
                <a:path h="1170430" w="1499616">
                  <a:moveTo>
                    <a:pt x="0" y="0"/>
                  </a:moveTo>
                  <a:lnTo>
                    <a:pt x="1499616" y="0"/>
                  </a:lnTo>
                  <a:lnTo>
                    <a:pt x="1499616" y="1170430"/>
                  </a:lnTo>
                  <a:lnTo>
                    <a:pt x="0" y="1170430"/>
                  </a:lnTo>
                  <a:close/>
                </a:path>
              </a:pathLst>
            </a:custGeom>
            <a:blipFill>
              <a:blip r:embed="rId2">
                <a:alphaModFix amt="0"/>
              </a:blip>
              <a:stretch>
                <a:fillRect l="-50139" t="0" r="-50139" b="0"/>
              </a:stretch>
            </a:blipFill>
          </p:spPr>
        </p:sp>
        <p:sp>
          <p:nvSpPr>
            <p:cNvPr name="TextBox 97" id="97"/>
            <p:cNvSpPr txBox="true"/>
            <p:nvPr/>
          </p:nvSpPr>
          <p:spPr>
            <a:xfrm>
              <a:off x="0" y="0"/>
              <a:ext cx="149961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4</a:t>
              </a:r>
            </a:p>
          </p:txBody>
        </p:sp>
      </p:grpSp>
      <p:grpSp>
        <p:nvGrpSpPr>
          <p:cNvPr name="Group 98" id="98"/>
          <p:cNvGrpSpPr/>
          <p:nvPr/>
        </p:nvGrpSpPr>
        <p:grpSpPr>
          <a:xfrm rot="0">
            <a:off x="2461736" y="5822156"/>
            <a:ext cx="4403408" cy="974407"/>
            <a:chOff x="0" y="0"/>
            <a:chExt cx="5871210" cy="1299210"/>
          </a:xfrm>
        </p:grpSpPr>
        <p:sp>
          <p:nvSpPr>
            <p:cNvPr name="Freeform 99" id="99"/>
            <p:cNvSpPr/>
            <p:nvPr/>
          </p:nvSpPr>
          <p:spPr>
            <a:xfrm flipH="false" flipV="false" rot="0">
              <a:off x="0" y="0"/>
              <a:ext cx="5871210" cy="1299210"/>
            </a:xfrm>
            <a:custGeom>
              <a:avLst/>
              <a:gdLst/>
              <a:ahLst/>
              <a:cxnLst/>
              <a:rect r="r" b="b" t="t" l="l"/>
              <a:pathLst>
                <a:path h="1299210" w="5871210">
                  <a:moveTo>
                    <a:pt x="0" y="0"/>
                  </a:moveTo>
                  <a:lnTo>
                    <a:pt x="5871210" y="0"/>
                  </a:lnTo>
                  <a:lnTo>
                    <a:pt x="5871210" y="1299210"/>
                  </a:lnTo>
                  <a:lnTo>
                    <a:pt x="0" y="1299210"/>
                  </a:lnTo>
                  <a:close/>
                </a:path>
              </a:pathLst>
            </a:custGeom>
            <a:solidFill>
              <a:srgbClr val="FFFFFF"/>
            </a:solidFill>
            <a:ln w="14288" cap="sq">
              <a:solidFill>
                <a:srgbClr val="CDDEE8"/>
              </a:solidFill>
              <a:prstDash val="solid"/>
              <a:miter/>
            </a:ln>
          </p:spPr>
        </p:sp>
      </p:grpSp>
      <p:grpSp>
        <p:nvGrpSpPr>
          <p:cNvPr name="Group 100" id="100"/>
          <p:cNvGrpSpPr/>
          <p:nvPr/>
        </p:nvGrpSpPr>
        <p:grpSpPr>
          <a:xfrm rot="0">
            <a:off x="2523744" y="5870448"/>
            <a:ext cx="4279392" cy="877824"/>
            <a:chOff x="0" y="0"/>
            <a:chExt cx="5705856" cy="1170432"/>
          </a:xfrm>
        </p:grpSpPr>
        <p:sp>
          <p:nvSpPr>
            <p:cNvPr name="Freeform 101" id="101"/>
            <p:cNvSpPr/>
            <p:nvPr/>
          </p:nvSpPr>
          <p:spPr>
            <a:xfrm flipH="false" flipV="false" rot="0">
              <a:off x="0" y="0"/>
              <a:ext cx="5705856" cy="1170430"/>
            </a:xfrm>
            <a:custGeom>
              <a:avLst/>
              <a:gdLst/>
              <a:ahLst/>
              <a:cxnLst/>
              <a:rect r="r" b="b" t="t" l="l"/>
              <a:pathLst>
                <a:path h="1170430" w="5705856">
                  <a:moveTo>
                    <a:pt x="0" y="0"/>
                  </a:moveTo>
                  <a:lnTo>
                    <a:pt x="5705856" y="0"/>
                  </a:lnTo>
                  <a:lnTo>
                    <a:pt x="5705856" y="1170430"/>
                  </a:lnTo>
                  <a:lnTo>
                    <a:pt x="0" y="1170430"/>
                  </a:lnTo>
                  <a:close/>
                </a:path>
              </a:pathLst>
            </a:custGeom>
            <a:blipFill>
              <a:blip r:embed="rId2">
                <a:alphaModFix amt="0"/>
              </a:blip>
              <a:stretch>
                <a:fillRect l="0" t="-44989" r="0" b="-44989"/>
              </a:stretch>
            </a:blipFill>
          </p:spPr>
        </p:sp>
        <p:sp>
          <p:nvSpPr>
            <p:cNvPr name="TextBox 102" id="102"/>
            <p:cNvSpPr txBox="true"/>
            <p:nvPr/>
          </p:nvSpPr>
          <p:spPr>
            <a:xfrm>
              <a:off x="0" y="0"/>
              <a:ext cx="570585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J. Chandra Shekar Reddy</a:t>
              </a:r>
            </a:p>
          </p:txBody>
        </p:sp>
      </p:grpSp>
      <p:grpSp>
        <p:nvGrpSpPr>
          <p:cNvPr name="Group 103" id="103"/>
          <p:cNvGrpSpPr/>
          <p:nvPr/>
        </p:nvGrpSpPr>
        <p:grpSpPr>
          <a:xfrm rot="0">
            <a:off x="6850856" y="5822156"/>
            <a:ext cx="2757488" cy="974407"/>
            <a:chOff x="0" y="0"/>
            <a:chExt cx="3676650" cy="1299210"/>
          </a:xfrm>
        </p:grpSpPr>
        <p:sp>
          <p:nvSpPr>
            <p:cNvPr name="Freeform 104" id="104"/>
            <p:cNvSpPr/>
            <p:nvPr/>
          </p:nvSpPr>
          <p:spPr>
            <a:xfrm flipH="false" flipV="false" rot="0">
              <a:off x="0" y="0"/>
              <a:ext cx="3676650" cy="1299210"/>
            </a:xfrm>
            <a:custGeom>
              <a:avLst/>
              <a:gdLst/>
              <a:ahLst/>
              <a:cxnLst/>
              <a:rect r="r" b="b" t="t" l="l"/>
              <a:pathLst>
                <a:path h="1299210" w="3676650">
                  <a:moveTo>
                    <a:pt x="0" y="0"/>
                  </a:moveTo>
                  <a:lnTo>
                    <a:pt x="3676650" y="0"/>
                  </a:lnTo>
                  <a:lnTo>
                    <a:pt x="3676650" y="1299210"/>
                  </a:lnTo>
                  <a:lnTo>
                    <a:pt x="0" y="1299210"/>
                  </a:lnTo>
                  <a:close/>
                </a:path>
              </a:pathLst>
            </a:custGeom>
            <a:solidFill>
              <a:srgbClr val="FFFFFF"/>
            </a:solidFill>
            <a:ln w="14288" cap="sq">
              <a:solidFill>
                <a:srgbClr val="CDDEE8"/>
              </a:solidFill>
              <a:prstDash val="solid"/>
              <a:miter/>
            </a:ln>
          </p:spPr>
        </p:sp>
      </p:grpSp>
      <p:grpSp>
        <p:nvGrpSpPr>
          <p:cNvPr name="Group 105" id="105"/>
          <p:cNvGrpSpPr/>
          <p:nvPr/>
        </p:nvGrpSpPr>
        <p:grpSpPr>
          <a:xfrm rot="0">
            <a:off x="6912864" y="5870448"/>
            <a:ext cx="2633472" cy="877824"/>
            <a:chOff x="0" y="0"/>
            <a:chExt cx="3511296" cy="1170432"/>
          </a:xfrm>
        </p:grpSpPr>
        <p:sp>
          <p:nvSpPr>
            <p:cNvPr name="Freeform 106" id="106"/>
            <p:cNvSpPr/>
            <p:nvPr/>
          </p:nvSpPr>
          <p:spPr>
            <a:xfrm flipH="false" flipV="false" rot="0">
              <a:off x="0" y="0"/>
              <a:ext cx="3511296" cy="1170430"/>
            </a:xfrm>
            <a:custGeom>
              <a:avLst/>
              <a:gdLst/>
              <a:ahLst/>
              <a:cxnLst/>
              <a:rect r="r" b="b" t="t" l="l"/>
              <a:pathLst>
                <a:path h="1170430" w="3511296">
                  <a:moveTo>
                    <a:pt x="0" y="0"/>
                  </a:moveTo>
                  <a:lnTo>
                    <a:pt x="3511296" y="0"/>
                  </a:lnTo>
                  <a:lnTo>
                    <a:pt x="3511296" y="1170430"/>
                  </a:lnTo>
                  <a:lnTo>
                    <a:pt x="0" y="1170430"/>
                  </a:lnTo>
                  <a:close/>
                </a:path>
              </a:pathLst>
            </a:custGeom>
            <a:blipFill>
              <a:blip r:embed="rId2">
                <a:alphaModFix amt="0"/>
              </a:blip>
              <a:stretch>
                <a:fillRect l="0" t="-8455" r="0" b="-8455"/>
              </a:stretch>
            </a:blipFill>
          </p:spPr>
        </p:sp>
        <p:sp>
          <p:nvSpPr>
            <p:cNvPr name="TextBox 107" id="107"/>
            <p:cNvSpPr txBox="true"/>
            <p:nvPr/>
          </p:nvSpPr>
          <p:spPr>
            <a:xfrm>
              <a:off x="0" y="0"/>
              <a:ext cx="351129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23RA1A0532</a:t>
              </a:r>
            </a:p>
          </p:txBody>
        </p:sp>
      </p:grpSp>
      <p:grpSp>
        <p:nvGrpSpPr>
          <p:cNvPr name="Group 108" id="108"/>
          <p:cNvGrpSpPr/>
          <p:nvPr/>
        </p:nvGrpSpPr>
        <p:grpSpPr>
          <a:xfrm rot="0">
            <a:off x="9594056" y="5822156"/>
            <a:ext cx="7695247" cy="974407"/>
            <a:chOff x="0" y="0"/>
            <a:chExt cx="10260330" cy="1299210"/>
          </a:xfrm>
        </p:grpSpPr>
        <p:sp>
          <p:nvSpPr>
            <p:cNvPr name="Freeform 109" id="109"/>
            <p:cNvSpPr/>
            <p:nvPr/>
          </p:nvSpPr>
          <p:spPr>
            <a:xfrm flipH="false" flipV="false" rot="0">
              <a:off x="0" y="0"/>
              <a:ext cx="10260330" cy="1299210"/>
            </a:xfrm>
            <a:custGeom>
              <a:avLst/>
              <a:gdLst/>
              <a:ahLst/>
              <a:cxnLst/>
              <a:rect r="r" b="b" t="t" l="l"/>
              <a:pathLst>
                <a:path h="1299210" w="10260330">
                  <a:moveTo>
                    <a:pt x="0" y="0"/>
                  </a:moveTo>
                  <a:lnTo>
                    <a:pt x="10260330" y="0"/>
                  </a:lnTo>
                  <a:lnTo>
                    <a:pt x="10260330" y="1299210"/>
                  </a:lnTo>
                  <a:lnTo>
                    <a:pt x="0" y="1299210"/>
                  </a:lnTo>
                  <a:close/>
                </a:path>
              </a:pathLst>
            </a:custGeom>
            <a:solidFill>
              <a:srgbClr val="FFFFFF"/>
            </a:solidFill>
            <a:ln w="14288" cap="sq">
              <a:solidFill>
                <a:srgbClr val="CDDEE8"/>
              </a:solidFill>
              <a:prstDash val="solid"/>
              <a:miter/>
            </a:ln>
          </p:spPr>
        </p:sp>
      </p:grpSp>
      <p:grpSp>
        <p:nvGrpSpPr>
          <p:cNvPr name="Group 110" id="110"/>
          <p:cNvGrpSpPr/>
          <p:nvPr/>
        </p:nvGrpSpPr>
        <p:grpSpPr>
          <a:xfrm rot="0">
            <a:off x="9656064" y="5870448"/>
            <a:ext cx="7571232" cy="877824"/>
            <a:chOff x="0" y="0"/>
            <a:chExt cx="10094976" cy="1170432"/>
          </a:xfrm>
        </p:grpSpPr>
        <p:sp>
          <p:nvSpPr>
            <p:cNvPr name="Freeform 111" id="111"/>
            <p:cNvSpPr/>
            <p:nvPr/>
          </p:nvSpPr>
          <p:spPr>
            <a:xfrm flipH="false" flipV="false" rot="0">
              <a:off x="0" y="0"/>
              <a:ext cx="10094976" cy="1170430"/>
            </a:xfrm>
            <a:custGeom>
              <a:avLst/>
              <a:gdLst/>
              <a:ahLst/>
              <a:cxnLst/>
              <a:rect r="r" b="b" t="t" l="l"/>
              <a:pathLst>
                <a:path h="1170430" w="10094976">
                  <a:moveTo>
                    <a:pt x="0" y="0"/>
                  </a:moveTo>
                  <a:lnTo>
                    <a:pt x="10094976" y="0"/>
                  </a:lnTo>
                  <a:lnTo>
                    <a:pt x="10094976" y="1170430"/>
                  </a:lnTo>
                  <a:lnTo>
                    <a:pt x="0" y="1170430"/>
                  </a:lnTo>
                  <a:close/>
                </a:path>
              </a:pathLst>
            </a:custGeom>
            <a:blipFill>
              <a:blip r:embed="rId2">
                <a:alphaModFix amt="0"/>
              </a:blip>
              <a:stretch>
                <a:fillRect l="0" t="-118058" r="0" b="-118058"/>
              </a:stretch>
            </a:blipFill>
          </p:spPr>
        </p:sp>
        <p:sp>
          <p:nvSpPr>
            <p:cNvPr name="TextBox 112" id="112"/>
            <p:cNvSpPr txBox="true"/>
            <p:nvPr/>
          </p:nvSpPr>
          <p:spPr>
            <a:xfrm>
              <a:off x="0" y="0"/>
              <a:ext cx="10094976" cy="1170432"/>
            </a:xfrm>
            <a:prstGeom prst="rect">
              <a:avLst/>
            </a:prstGeom>
          </p:spPr>
          <p:txBody>
            <a:bodyPr anchor="ctr" rtlCol="false" tIns="0" lIns="0" bIns="0" rIns="0"/>
            <a:lstStyle/>
            <a:p>
              <a:pPr algn="ctr">
                <a:lnSpc>
                  <a:spcPts val="1980"/>
                </a:lnSpc>
              </a:pPr>
              <a:r>
                <a:rPr lang="en-US" sz="1650">
                  <a:solidFill>
                    <a:srgbClr val="233440"/>
                  </a:solidFill>
                  <a:latin typeface="Aptos"/>
                  <a:ea typeface="Aptos"/>
                  <a:cs typeface="Aptos"/>
                  <a:sym typeface="Aptos"/>
                </a:rPr>
                <a:t>Testing &amp; Documentation</a:t>
              </a:r>
            </a:p>
          </p:txBody>
        </p:sp>
      </p:grpSp>
      <p:grpSp>
        <p:nvGrpSpPr>
          <p:cNvPr name="Group 113" id="113"/>
          <p:cNvGrpSpPr/>
          <p:nvPr/>
        </p:nvGrpSpPr>
        <p:grpSpPr>
          <a:xfrm rot="0">
            <a:off x="1364456" y="6919436"/>
            <a:ext cx="15376207" cy="1385888"/>
            <a:chOff x="0" y="0"/>
            <a:chExt cx="20501610" cy="1847850"/>
          </a:xfrm>
        </p:grpSpPr>
        <p:sp>
          <p:nvSpPr>
            <p:cNvPr name="Freeform 114" id="114"/>
            <p:cNvSpPr/>
            <p:nvPr/>
          </p:nvSpPr>
          <p:spPr>
            <a:xfrm flipH="false" flipV="false" rot="0">
              <a:off x="0" y="0"/>
              <a:ext cx="20501611" cy="1847850"/>
            </a:xfrm>
            <a:custGeom>
              <a:avLst/>
              <a:gdLst/>
              <a:ahLst/>
              <a:cxnLst/>
              <a:rect r="r" b="b" t="t" l="l"/>
              <a:pathLst>
                <a:path h="1847850" w="20501611">
                  <a:moveTo>
                    <a:pt x="0" y="307975"/>
                  </a:moveTo>
                  <a:cubicBezTo>
                    <a:pt x="0" y="137922"/>
                    <a:pt x="137922" y="0"/>
                    <a:pt x="307975" y="0"/>
                  </a:cubicBezTo>
                  <a:lnTo>
                    <a:pt x="20193636" y="0"/>
                  </a:lnTo>
                  <a:cubicBezTo>
                    <a:pt x="20363689" y="0"/>
                    <a:pt x="20501611" y="137922"/>
                    <a:pt x="20501611" y="307975"/>
                  </a:cubicBezTo>
                  <a:lnTo>
                    <a:pt x="20501611" y="1539875"/>
                  </a:lnTo>
                  <a:cubicBezTo>
                    <a:pt x="20501611" y="1709928"/>
                    <a:pt x="20363689" y="1847850"/>
                    <a:pt x="20193636" y="1847850"/>
                  </a:cubicBezTo>
                  <a:lnTo>
                    <a:pt x="307975" y="1847850"/>
                  </a:lnTo>
                  <a:cubicBezTo>
                    <a:pt x="137922" y="1847850"/>
                    <a:pt x="0" y="1709928"/>
                    <a:pt x="0" y="1539875"/>
                  </a:cubicBezTo>
                  <a:close/>
                </a:path>
              </a:pathLst>
            </a:custGeom>
            <a:solidFill>
              <a:srgbClr val="F4F8FB"/>
            </a:solidFill>
            <a:ln w="14288" cap="sq">
              <a:solidFill>
                <a:srgbClr val="CDDEE8"/>
              </a:solidFill>
              <a:prstDash val="solid"/>
              <a:miter/>
            </a:ln>
          </p:spPr>
        </p:sp>
      </p:grpSp>
      <p:sp>
        <p:nvSpPr>
          <p:cNvPr name="TextBox 115" id="115"/>
          <p:cNvSpPr txBox="true"/>
          <p:nvPr/>
        </p:nvSpPr>
        <p:spPr>
          <a:xfrm rot="0">
            <a:off x="1874520" y="7195947"/>
            <a:ext cx="2286000" cy="192405"/>
          </a:xfrm>
          <a:prstGeom prst="rect">
            <a:avLst/>
          </a:prstGeom>
        </p:spPr>
        <p:txBody>
          <a:bodyPr anchor="t" rtlCol="false" tIns="0" lIns="0" bIns="0" rIns="0">
            <a:spAutoFit/>
          </a:bodyPr>
          <a:lstStyle/>
          <a:p>
            <a:pPr algn="l">
              <a:lnSpc>
                <a:spcPts val="1620"/>
              </a:lnSpc>
            </a:pPr>
            <a:r>
              <a:rPr lang="en-US" sz="1350" b="true">
                <a:solidFill>
                  <a:srgbClr val="009DB2"/>
                </a:solidFill>
                <a:latin typeface="Aptos Bold"/>
                <a:ea typeface="Aptos Bold"/>
                <a:cs typeface="Aptos Bold"/>
                <a:sym typeface="Aptos Bold"/>
              </a:rPr>
              <a:t>PROJECT GUIDE</a:t>
            </a:r>
          </a:p>
        </p:txBody>
      </p:sp>
      <p:sp>
        <p:nvSpPr>
          <p:cNvPr name="TextBox 116" id="116"/>
          <p:cNvSpPr txBox="true"/>
          <p:nvPr/>
        </p:nvSpPr>
        <p:spPr>
          <a:xfrm rot="0">
            <a:off x="1874520" y="7616952"/>
            <a:ext cx="7407116" cy="320040"/>
          </a:xfrm>
          <a:prstGeom prst="rect">
            <a:avLst/>
          </a:prstGeom>
        </p:spPr>
        <p:txBody>
          <a:bodyPr anchor="t" rtlCol="false" tIns="0" lIns="0" bIns="0" rIns="0">
            <a:spAutoFit/>
          </a:bodyPr>
          <a:lstStyle/>
          <a:p>
            <a:pPr algn="l">
              <a:lnSpc>
                <a:spcPts val="2700"/>
              </a:lnSpc>
            </a:pPr>
            <a:r>
              <a:rPr lang="en-US" sz="2250" b="true">
                <a:solidFill>
                  <a:srgbClr val="083052"/>
                </a:solidFill>
                <a:latin typeface="Aptos Bold"/>
                <a:ea typeface="Aptos Bold"/>
                <a:cs typeface="Aptos Bold"/>
                <a:sym typeface="Aptos Bold"/>
              </a:rPr>
              <a:t>Mrs. C. Vinitha Reddy  |  Assistant Professor</a:t>
            </a:r>
          </a:p>
        </p:txBody>
      </p:sp>
      <p:sp>
        <p:nvSpPr>
          <p:cNvPr name="TextBox 117" id="117"/>
          <p:cNvSpPr txBox="true"/>
          <p:nvPr/>
        </p:nvSpPr>
        <p:spPr>
          <a:xfrm rot="0">
            <a:off x="9692640" y="7195947"/>
            <a:ext cx="1188720" cy="192405"/>
          </a:xfrm>
          <a:prstGeom prst="rect">
            <a:avLst/>
          </a:prstGeom>
        </p:spPr>
        <p:txBody>
          <a:bodyPr anchor="t" rtlCol="false" tIns="0" lIns="0" bIns="0" rIns="0">
            <a:spAutoFit/>
          </a:bodyPr>
          <a:lstStyle/>
          <a:p>
            <a:pPr algn="l">
              <a:lnSpc>
                <a:spcPts val="1620"/>
              </a:lnSpc>
            </a:pPr>
            <a:r>
              <a:rPr lang="en-US" sz="1350" b="true">
                <a:solidFill>
                  <a:srgbClr val="009DB2"/>
                </a:solidFill>
                <a:latin typeface="Aptos Bold"/>
                <a:ea typeface="Aptos Bold"/>
                <a:cs typeface="Aptos Bold"/>
                <a:sym typeface="Aptos Bold"/>
              </a:rPr>
              <a:t>SECTION</a:t>
            </a:r>
          </a:p>
        </p:txBody>
      </p:sp>
      <p:sp>
        <p:nvSpPr>
          <p:cNvPr name="TextBox 118" id="118"/>
          <p:cNvSpPr txBox="true"/>
          <p:nvPr/>
        </p:nvSpPr>
        <p:spPr>
          <a:xfrm rot="0">
            <a:off x="9692640" y="7616952"/>
            <a:ext cx="3901572" cy="342900"/>
          </a:xfrm>
          <a:prstGeom prst="rect">
            <a:avLst/>
          </a:prstGeom>
        </p:spPr>
        <p:txBody>
          <a:bodyPr anchor="t" rtlCol="false" tIns="0" lIns="0" bIns="0" rIns="0">
            <a:spAutoFit/>
          </a:bodyPr>
          <a:lstStyle/>
          <a:p>
            <a:pPr algn="l">
              <a:lnSpc>
                <a:spcPts val="2700"/>
              </a:lnSpc>
            </a:pPr>
            <a:r>
              <a:rPr lang="en-US" sz="2250" b="true">
                <a:solidFill>
                  <a:srgbClr val="083052"/>
                </a:solidFill>
                <a:latin typeface="Aptos Bold"/>
                <a:ea typeface="Aptos Bold"/>
                <a:cs typeface="Aptos Bold"/>
                <a:sym typeface="Aptos Bold"/>
              </a:rPr>
              <a:t>CSE - 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1. Project Title</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1</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227296" y="2324576"/>
            <a:ext cx="15787688" cy="2826067"/>
            <a:chOff x="0" y="0"/>
            <a:chExt cx="21050250" cy="3768090"/>
          </a:xfrm>
        </p:grpSpPr>
        <p:sp>
          <p:nvSpPr>
            <p:cNvPr name="Freeform 14" id="14"/>
            <p:cNvSpPr/>
            <p:nvPr/>
          </p:nvSpPr>
          <p:spPr>
            <a:xfrm flipH="false" flipV="false" rot="0">
              <a:off x="0" y="0"/>
              <a:ext cx="21050250" cy="3768090"/>
            </a:xfrm>
            <a:custGeom>
              <a:avLst/>
              <a:gdLst/>
              <a:ahLst/>
              <a:cxnLst/>
              <a:rect r="r" b="b" t="t" l="l"/>
              <a:pathLst>
                <a:path h="3768090" w="21050250">
                  <a:moveTo>
                    <a:pt x="0" y="628015"/>
                  </a:moveTo>
                  <a:cubicBezTo>
                    <a:pt x="0" y="281178"/>
                    <a:pt x="281178" y="0"/>
                    <a:pt x="628015" y="0"/>
                  </a:cubicBezTo>
                  <a:lnTo>
                    <a:pt x="20422234" y="0"/>
                  </a:lnTo>
                  <a:cubicBezTo>
                    <a:pt x="20769072" y="0"/>
                    <a:pt x="21050250" y="281178"/>
                    <a:pt x="21050250" y="628015"/>
                  </a:cubicBezTo>
                  <a:lnTo>
                    <a:pt x="21050250" y="3140075"/>
                  </a:lnTo>
                  <a:cubicBezTo>
                    <a:pt x="21050250" y="3486912"/>
                    <a:pt x="20769072" y="3768090"/>
                    <a:pt x="20422234" y="3768090"/>
                  </a:cubicBezTo>
                  <a:lnTo>
                    <a:pt x="628015" y="3768090"/>
                  </a:lnTo>
                  <a:cubicBezTo>
                    <a:pt x="281178" y="3768090"/>
                    <a:pt x="0" y="3486912"/>
                    <a:pt x="0" y="3140075"/>
                  </a:cubicBezTo>
                  <a:close/>
                </a:path>
              </a:pathLst>
            </a:custGeom>
            <a:solidFill>
              <a:srgbClr val="F4F8FB"/>
            </a:solidFill>
            <a:ln w="14288" cap="sq">
              <a:solidFill>
                <a:srgbClr val="CDDEE8"/>
              </a:solidFill>
              <a:prstDash val="solid"/>
              <a:miter/>
            </a:ln>
          </p:spPr>
        </p:sp>
      </p:grpSp>
      <p:sp>
        <p:nvSpPr>
          <p:cNvPr name="TextBox 15" id="15"/>
          <p:cNvSpPr txBox="true"/>
          <p:nvPr/>
        </p:nvSpPr>
        <p:spPr>
          <a:xfrm rot="0">
            <a:off x="1668780" y="2788920"/>
            <a:ext cx="14904720" cy="1143000"/>
          </a:xfrm>
          <a:prstGeom prst="rect">
            <a:avLst/>
          </a:prstGeom>
        </p:spPr>
        <p:txBody>
          <a:bodyPr anchor="t" rtlCol="false" tIns="0" lIns="0" bIns="0" rIns="0">
            <a:spAutoFit/>
          </a:bodyPr>
          <a:lstStyle/>
          <a:p>
            <a:pPr algn="ctr">
              <a:lnSpc>
                <a:spcPts val="4500"/>
              </a:lnSpc>
            </a:pPr>
            <a:r>
              <a:rPr lang="en-US" sz="3750" b="true">
                <a:solidFill>
                  <a:srgbClr val="083052"/>
                </a:solidFill>
                <a:latin typeface="Aptos Bold"/>
                <a:ea typeface="Aptos Bold"/>
                <a:cs typeface="Aptos Bold"/>
                <a:sym typeface="Aptos Bold"/>
              </a:rPr>
              <a:t>MED CONNECT - ONLINE APPOINTMENT BOOKING SYSTEM FOR STREAMLINED HEALTHCARE</a:t>
            </a:r>
          </a:p>
        </p:txBody>
      </p:sp>
      <p:sp>
        <p:nvSpPr>
          <p:cNvPr name="TextBox 16" id="16"/>
          <p:cNvSpPr txBox="true"/>
          <p:nvPr/>
        </p:nvSpPr>
        <p:spPr>
          <a:xfrm rot="0">
            <a:off x="2148840" y="4320540"/>
            <a:ext cx="13807440" cy="388620"/>
          </a:xfrm>
          <a:prstGeom prst="rect">
            <a:avLst/>
          </a:prstGeom>
        </p:spPr>
        <p:txBody>
          <a:bodyPr anchor="t" rtlCol="false" tIns="0" lIns="0" bIns="0" rIns="0">
            <a:spAutoFit/>
          </a:bodyPr>
          <a:lstStyle/>
          <a:p>
            <a:pPr algn="ctr">
              <a:lnSpc>
                <a:spcPts val="2340"/>
              </a:lnSpc>
            </a:pPr>
            <a:r>
              <a:rPr lang="en-US" sz="1950">
                <a:solidFill>
                  <a:srgbClr val="009DB2"/>
                </a:solidFill>
                <a:latin typeface="Aptos"/>
                <a:ea typeface="Aptos"/>
                <a:cs typeface="Aptos"/>
                <a:sym typeface="Aptos"/>
              </a:rPr>
              <a:t>A web based system that lets patients book doctor appointments online</a:t>
            </a:r>
          </a:p>
        </p:txBody>
      </p:sp>
      <p:sp>
        <p:nvSpPr>
          <p:cNvPr name="TextBox 17" id="17"/>
          <p:cNvSpPr txBox="true"/>
          <p:nvPr/>
        </p:nvSpPr>
        <p:spPr>
          <a:xfrm rot="0">
            <a:off x="4343400" y="6002655"/>
            <a:ext cx="1463040" cy="192405"/>
          </a:xfrm>
          <a:prstGeom prst="rect">
            <a:avLst/>
          </a:prstGeom>
        </p:spPr>
        <p:txBody>
          <a:bodyPr anchor="t" rtlCol="false" tIns="0" lIns="0" bIns="0" rIns="0">
            <a:spAutoFit/>
          </a:bodyPr>
          <a:lstStyle/>
          <a:p>
            <a:pPr algn="ctr">
              <a:lnSpc>
                <a:spcPts val="1620"/>
              </a:lnSpc>
            </a:pPr>
            <a:r>
              <a:rPr lang="en-US" sz="1350" b="true">
                <a:solidFill>
                  <a:srgbClr val="009DB2"/>
                </a:solidFill>
                <a:latin typeface="Aptos Bold"/>
                <a:ea typeface="Aptos Bold"/>
                <a:cs typeface="Aptos Bold"/>
                <a:sym typeface="Aptos Bold"/>
              </a:rPr>
              <a:t>DOMAIN</a:t>
            </a:r>
          </a:p>
        </p:txBody>
      </p:sp>
      <p:sp>
        <p:nvSpPr>
          <p:cNvPr name="TextBox 18" id="18"/>
          <p:cNvSpPr txBox="true"/>
          <p:nvPr/>
        </p:nvSpPr>
        <p:spPr>
          <a:xfrm rot="0">
            <a:off x="3108960" y="6464808"/>
            <a:ext cx="12024360" cy="457200"/>
          </a:xfrm>
          <a:prstGeom prst="rect">
            <a:avLst/>
          </a:prstGeom>
        </p:spPr>
        <p:txBody>
          <a:bodyPr anchor="t" rtlCol="false" tIns="0" lIns="0" bIns="0" rIns="0">
            <a:spAutoFit/>
          </a:bodyPr>
          <a:lstStyle/>
          <a:p>
            <a:pPr algn="ctr">
              <a:lnSpc>
                <a:spcPts val="2879"/>
              </a:lnSpc>
            </a:pPr>
            <a:r>
              <a:rPr lang="en-US" sz="2400" b="true">
                <a:solidFill>
                  <a:srgbClr val="233440"/>
                </a:solidFill>
                <a:latin typeface="Aptos Bold"/>
                <a:ea typeface="Aptos Bold"/>
                <a:cs typeface="Aptos Bold"/>
                <a:sym typeface="Aptos Bold"/>
              </a:rPr>
              <a:t>Web Development  /  Healthcare Management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2. Abstract</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2</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440180" y="2743200"/>
            <a:ext cx="1851660" cy="1851660"/>
            <a:chOff x="0" y="0"/>
            <a:chExt cx="2468880" cy="2468880"/>
          </a:xfrm>
        </p:grpSpPr>
        <p:sp>
          <p:nvSpPr>
            <p:cNvPr name="Freeform 14" id="14"/>
            <p:cNvSpPr/>
            <p:nvPr/>
          </p:nvSpPr>
          <p:spPr>
            <a:xfrm flipH="false" flipV="false" rot="0">
              <a:off x="0" y="0"/>
              <a:ext cx="2468880" cy="2468880"/>
            </a:xfrm>
            <a:custGeom>
              <a:avLst/>
              <a:gdLst/>
              <a:ahLst/>
              <a:cxnLst/>
              <a:rect r="r" b="b" t="t" l="l"/>
              <a:pathLst>
                <a:path h="2468880" w="2468880">
                  <a:moveTo>
                    <a:pt x="0" y="1234440"/>
                  </a:moveTo>
                  <a:cubicBezTo>
                    <a:pt x="0" y="552704"/>
                    <a:pt x="552704" y="0"/>
                    <a:pt x="1234440" y="0"/>
                  </a:cubicBezTo>
                  <a:cubicBezTo>
                    <a:pt x="1916176" y="0"/>
                    <a:pt x="2468880" y="552704"/>
                    <a:pt x="2468880" y="1234440"/>
                  </a:cubicBezTo>
                  <a:cubicBezTo>
                    <a:pt x="2468880" y="1916176"/>
                    <a:pt x="1916176" y="2468880"/>
                    <a:pt x="1234440" y="2468880"/>
                  </a:cubicBezTo>
                  <a:cubicBezTo>
                    <a:pt x="552704" y="2468880"/>
                    <a:pt x="0" y="1916176"/>
                    <a:pt x="0" y="1234440"/>
                  </a:cubicBezTo>
                  <a:close/>
                </a:path>
              </a:pathLst>
            </a:custGeom>
            <a:solidFill>
              <a:srgbClr val="E8F3F8"/>
            </a:solidFill>
          </p:spPr>
        </p:sp>
      </p:grpSp>
      <p:grpSp>
        <p:nvGrpSpPr>
          <p:cNvPr name="Group 15" id="15"/>
          <p:cNvGrpSpPr/>
          <p:nvPr/>
        </p:nvGrpSpPr>
        <p:grpSpPr>
          <a:xfrm rot="0">
            <a:off x="1440180" y="2990088"/>
            <a:ext cx="1851660" cy="1234440"/>
            <a:chOff x="0" y="0"/>
            <a:chExt cx="2468880" cy="1645920"/>
          </a:xfrm>
        </p:grpSpPr>
        <p:sp>
          <p:nvSpPr>
            <p:cNvPr name="Freeform 16" id="16"/>
            <p:cNvSpPr/>
            <p:nvPr/>
          </p:nvSpPr>
          <p:spPr>
            <a:xfrm flipH="false" flipV="false" rot="0">
              <a:off x="0" y="0"/>
              <a:ext cx="2468880" cy="1645920"/>
            </a:xfrm>
            <a:custGeom>
              <a:avLst/>
              <a:gdLst/>
              <a:ahLst/>
              <a:cxnLst/>
              <a:rect r="r" b="b" t="t" l="l"/>
              <a:pathLst>
                <a:path h="1645920" w="2468880">
                  <a:moveTo>
                    <a:pt x="0" y="0"/>
                  </a:moveTo>
                  <a:lnTo>
                    <a:pt x="2468880" y="0"/>
                  </a:lnTo>
                  <a:lnTo>
                    <a:pt x="2468880" y="1645920"/>
                  </a:lnTo>
                  <a:lnTo>
                    <a:pt x="0" y="1645920"/>
                  </a:lnTo>
                  <a:close/>
                </a:path>
              </a:pathLst>
            </a:custGeom>
            <a:blipFill>
              <a:blip r:embed="rId2">
                <a:alphaModFix amt="0"/>
              </a:blip>
              <a:stretch>
                <a:fillRect l="-35535" t="0" r="-35535" b="0"/>
              </a:stretch>
            </a:blipFill>
          </p:spPr>
        </p:sp>
        <p:sp>
          <p:nvSpPr>
            <p:cNvPr name="TextBox 17" id="17"/>
            <p:cNvSpPr txBox="true"/>
            <p:nvPr/>
          </p:nvSpPr>
          <p:spPr>
            <a:xfrm>
              <a:off x="0" y="-9525"/>
              <a:ext cx="2468880" cy="1655445"/>
            </a:xfrm>
            <a:prstGeom prst="rect">
              <a:avLst/>
            </a:prstGeom>
          </p:spPr>
          <p:txBody>
            <a:bodyPr anchor="ctr" rtlCol="false" tIns="0" lIns="0" bIns="0" rIns="0"/>
            <a:lstStyle/>
            <a:p>
              <a:pPr algn="ctr">
                <a:lnSpc>
                  <a:spcPts val="2520"/>
                </a:lnSpc>
              </a:pPr>
              <a:r>
                <a:rPr lang="en-US" sz="2100" b="true">
                  <a:solidFill>
                    <a:srgbClr val="083052"/>
                  </a:solidFill>
                  <a:latin typeface="Aptos Bold"/>
                  <a:ea typeface="Aptos Bold"/>
                  <a:cs typeface="Aptos Bold"/>
                  <a:sym typeface="Aptos Bold"/>
                </a:rPr>
                <a:t>ABSTRACT</a:t>
              </a:r>
            </a:p>
          </p:txBody>
        </p:sp>
      </p:grpSp>
      <p:grpSp>
        <p:nvGrpSpPr>
          <p:cNvPr name="Group 18" id="18"/>
          <p:cNvGrpSpPr/>
          <p:nvPr/>
        </p:nvGrpSpPr>
        <p:grpSpPr>
          <a:xfrm rot="0">
            <a:off x="4450556" y="2118836"/>
            <a:ext cx="12358688" cy="6323647"/>
            <a:chOff x="0" y="0"/>
            <a:chExt cx="16478250" cy="8431530"/>
          </a:xfrm>
        </p:grpSpPr>
        <p:sp>
          <p:nvSpPr>
            <p:cNvPr name="Freeform 19" id="19"/>
            <p:cNvSpPr/>
            <p:nvPr/>
          </p:nvSpPr>
          <p:spPr>
            <a:xfrm flipH="false" flipV="false" rot="0">
              <a:off x="0" y="0"/>
              <a:ext cx="16478250" cy="8431530"/>
            </a:xfrm>
            <a:custGeom>
              <a:avLst/>
              <a:gdLst/>
              <a:ahLst/>
              <a:cxnLst/>
              <a:rect r="r" b="b" t="t" l="l"/>
              <a:pathLst>
                <a:path h="8431530" w="16478250">
                  <a:moveTo>
                    <a:pt x="0" y="1405255"/>
                  </a:moveTo>
                  <a:cubicBezTo>
                    <a:pt x="0" y="629158"/>
                    <a:pt x="629158" y="0"/>
                    <a:pt x="1405255" y="0"/>
                  </a:cubicBezTo>
                  <a:lnTo>
                    <a:pt x="15072995" y="0"/>
                  </a:lnTo>
                  <a:cubicBezTo>
                    <a:pt x="15849092" y="0"/>
                    <a:pt x="16478250" y="629158"/>
                    <a:pt x="16478250" y="1405255"/>
                  </a:cubicBezTo>
                  <a:lnTo>
                    <a:pt x="16478250" y="7026275"/>
                  </a:lnTo>
                  <a:cubicBezTo>
                    <a:pt x="16478250" y="7802372"/>
                    <a:pt x="15849092" y="8431530"/>
                    <a:pt x="15072995" y="8431530"/>
                  </a:cubicBezTo>
                  <a:lnTo>
                    <a:pt x="1405255" y="8431530"/>
                  </a:lnTo>
                  <a:cubicBezTo>
                    <a:pt x="629158" y="8431530"/>
                    <a:pt x="0" y="7802372"/>
                    <a:pt x="0" y="7026275"/>
                  </a:cubicBezTo>
                  <a:close/>
                </a:path>
              </a:pathLst>
            </a:custGeom>
            <a:solidFill>
              <a:srgbClr val="F4F8FB"/>
            </a:solidFill>
            <a:ln w="14288" cap="sq">
              <a:solidFill>
                <a:srgbClr val="CDDEE8"/>
              </a:solidFill>
              <a:prstDash val="solid"/>
              <a:miter/>
            </a:ln>
          </p:spPr>
        </p:sp>
      </p:grpSp>
      <p:sp>
        <p:nvSpPr>
          <p:cNvPr name="TextBox 20" id="20"/>
          <p:cNvSpPr txBox="true"/>
          <p:nvPr/>
        </p:nvSpPr>
        <p:spPr>
          <a:xfrm rot="0">
            <a:off x="5097780" y="2720340"/>
            <a:ext cx="11355660" cy="409575"/>
          </a:xfrm>
          <a:prstGeom prst="rect">
            <a:avLst/>
          </a:prstGeom>
        </p:spPr>
        <p:txBody>
          <a:bodyPr anchor="t" rtlCol="false" tIns="0" lIns="0" bIns="0" rIns="0">
            <a:spAutoFit/>
          </a:bodyPr>
          <a:lstStyle/>
          <a:p>
            <a:pPr algn="l">
              <a:lnSpc>
                <a:spcPts val="3239"/>
              </a:lnSpc>
            </a:pPr>
            <a:r>
              <a:rPr lang="en-US" sz="2699" b="true">
                <a:solidFill>
                  <a:srgbClr val="083052"/>
                </a:solidFill>
                <a:latin typeface="Aptos Bold"/>
                <a:ea typeface="Aptos Bold"/>
                <a:cs typeface="Aptos Bold"/>
                <a:sym typeface="Aptos Bold"/>
              </a:rPr>
              <a:t>Med Connect is a simple online system for booking doctor appointments.</a:t>
            </a:r>
          </a:p>
        </p:txBody>
      </p:sp>
      <p:sp>
        <p:nvSpPr>
          <p:cNvPr name="TextBox 21" id="21"/>
          <p:cNvSpPr txBox="true"/>
          <p:nvPr/>
        </p:nvSpPr>
        <p:spPr>
          <a:xfrm rot="0">
            <a:off x="5166360" y="3476625"/>
            <a:ext cx="11287080" cy="3731514"/>
          </a:xfrm>
          <a:prstGeom prst="rect">
            <a:avLst/>
          </a:prstGeom>
        </p:spPr>
        <p:txBody>
          <a:bodyPr anchor="t" rtlCol="false" tIns="0" lIns="0" bIns="0" rIns="0">
            <a:spAutoFit/>
          </a:bodyPr>
          <a:lstStyle/>
          <a:p>
            <a:pPr algn="l">
              <a:lnSpc>
                <a:spcPts val="3773"/>
              </a:lnSpc>
            </a:pPr>
            <a:r>
              <a:rPr lang="en-US" sz="2549">
                <a:solidFill>
                  <a:srgbClr val="233440"/>
                </a:solidFill>
                <a:latin typeface="Aptos"/>
                <a:ea typeface="Aptos"/>
                <a:cs typeface="Aptos"/>
                <a:sym typeface="Aptos"/>
              </a:rPr>
              <a:t>Med Connect is a web based system that makes doctor appointment booking simple. Today most patients book by visiting the hospital or calling the front desk, which wastes time and often ends in long queues. This project brings the whole process to one website with three logins - patient, doctor and admin. A patient can see the doctor list, check the free slots and book an appointment in a few clicks.</a:t>
            </a:r>
          </a:p>
          <a:p>
            <a:pPr algn="l">
              <a:lnSpc>
                <a:spcPts val="3551"/>
              </a:lnSpc>
            </a:pPr>
            <a:r>
              <a:rPr lang="en-US" sz="2399">
                <a:solidFill>
                  <a:srgbClr val="233440"/>
                </a:solidFill>
                <a:latin typeface="Aptos"/>
                <a:ea typeface="Aptos"/>
                <a:cs typeface="Aptos"/>
                <a:sym typeface="Aptos"/>
              </a:rPr>
              <a:t>• Main features: doctor list, free slots, booking, cancel and visit history.</a:t>
            </a:r>
          </a:p>
          <a:p>
            <a:pPr algn="l">
              <a:lnSpc>
                <a:spcPts val="3551"/>
              </a:lnSpc>
            </a:pPr>
            <a:r>
              <a:rPr lang="en-US" sz="2399">
                <a:solidFill>
                  <a:srgbClr val="233440"/>
                </a:solidFill>
                <a:latin typeface="Aptos"/>
                <a:ea typeface="Aptos"/>
                <a:cs typeface="Aptos"/>
                <a:sym typeface="Aptos"/>
              </a:rPr>
              <a:t>• Expected result: less waiting time, no double booking and clear records.</a:t>
            </a:r>
          </a:p>
        </p:txBody>
      </p:sp>
      <p:sp>
        <p:nvSpPr>
          <p:cNvPr name="TextBox 22" id="22"/>
          <p:cNvSpPr txBox="true"/>
          <p:nvPr/>
        </p:nvSpPr>
        <p:spPr>
          <a:xfrm rot="0">
            <a:off x="5135880" y="7520940"/>
            <a:ext cx="10515600" cy="285750"/>
          </a:xfrm>
          <a:prstGeom prst="rect">
            <a:avLst/>
          </a:prstGeom>
        </p:spPr>
        <p:txBody>
          <a:bodyPr anchor="t" rtlCol="false" tIns="0" lIns="0" bIns="0" rIns="0">
            <a:spAutoFit/>
          </a:bodyPr>
          <a:lstStyle/>
          <a:p>
            <a:pPr algn="l">
              <a:lnSpc>
                <a:spcPts val="2279"/>
              </a:lnSpc>
            </a:pPr>
            <a:r>
              <a:rPr lang="en-US" sz="1899" b="true">
                <a:solidFill>
                  <a:srgbClr val="009DB2"/>
                </a:solidFill>
                <a:latin typeface="Aptos Bold"/>
                <a:ea typeface="Aptos Bold"/>
                <a:cs typeface="Aptos Bold"/>
                <a:sym typeface="Aptos Bold"/>
              </a:rPr>
              <a:t>It replaces the manual booking method with a single digital platform.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3. Problem Statement</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3</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371600" y="2743200"/>
            <a:ext cx="1851660" cy="1851660"/>
            <a:chOff x="0" y="0"/>
            <a:chExt cx="2468880" cy="2468880"/>
          </a:xfrm>
        </p:grpSpPr>
        <p:sp>
          <p:nvSpPr>
            <p:cNvPr name="Freeform 14" id="14"/>
            <p:cNvSpPr/>
            <p:nvPr/>
          </p:nvSpPr>
          <p:spPr>
            <a:xfrm flipH="false" flipV="false" rot="0">
              <a:off x="0" y="0"/>
              <a:ext cx="2468880" cy="2468880"/>
            </a:xfrm>
            <a:custGeom>
              <a:avLst/>
              <a:gdLst/>
              <a:ahLst/>
              <a:cxnLst/>
              <a:rect r="r" b="b" t="t" l="l"/>
              <a:pathLst>
                <a:path h="2468880" w="2468880">
                  <a:moveTo>
                    <a:pt x="0" y="1234440"/>
                  </a:moveTo>
                  <a:cubicBezTo>
                    <a:pt x="0" y="552704"/>
                    <a:pt x="552704" y="0"/>
                    <a:pt x="1234440" y="0"/>
                  </a:cubicBezTo>
                  <a:cubicBezTo>
                    <a:pt x="1916176" y="0"/>
                    <a:pt x="2468880" y="552704"/>
                    <a:pt x="2468880" y="1234440"/>
                  </a:cubicBezTo>
                  <a:cubicBezTo>
                    <a:pt x="2468880" y="1916176"/>
                    <a:pt x="1916176" y="2468880"/>
                    <a:pt x="1234440" y="2468880"/>
                  </a:cubicBezTo>
                  <a:cubicBezTo>
                    <a:pt x="552704" y="2468880"/>
                    <a:pt x="0" y="1916176"/>
                    <a:pt x="0" y="1234440"/>
                  </a:cubicBezTo>
                  <a:close/>
                </a:path>
              </a:pathLst>
            </a:custGeom>
            <a:solidFill>
              <a:srgbClr val="E8F3F8"/>
            </a:solidFill>
          </p:spPr>
        </p:sp>
      </p:grpSp>
      <p:grpSp>
        <p:nvGrpSpPr>
          <p:cNvPr name="Group 15" id="15"/>
          <p:cNvGrpSpPr/>
          <p:nvPr/>
        </p:nvGrpSpPr>
        <p:grpSpPr>
          <a:xfrm rot="0">
            <a:off x="1371600" y="3051810"/>
            <a:ext cx="1851660" cy="1234440"/>
            <a:chOff x="0" y="0"/>
            <a:chExt cx="2468880" cy="1645920"/>
          </a:xfrm>
        </p:grpSpPr>
        <p:sp>
          <p:nvSpPr>
            <p:cNvPr name="Freeform 16" id="16"/>
            <p:cNvSpPr/>
            <p:nvPr/>
          </p:nvSpPr>
          <p:spPr>
            <a:xfrm flipH="false" flipV="false" rot="0">
              <a:off x="0" y="0"/>
              <a:ext cx="2468880" cy="1645920"/>
            </a:xfrm>
            <a:custGeom>
              <a:avLst/>
              <a:gdLst/>
              <a:ahLst/>
              <a:cxnLst/>
              <a:rect r="r" b="b" t="t" l="l"/>
              <a:pathLst>
                <a:path h="1645920" w="2468880">
                  <a:moveTo>
                    <a:pt x="0" y="0"/>
                  </a:moveTo>
                  <a:lnTo>
                    <a:pt x="2468880" y="0"/>
                  </a:lnTo>
                  <a:lnTo>
                    <a:pt x="2468880" y="1645920"/>
                  </a:lnTo>
                  <a:lnTo>
                    <a:pt x="0" y="1645920"/>
                  </a:lnTo>
                  <a:close/>
                </a:path>
              </a:pathLst>
            </a:custGeom>
            <a:blipFill>
              <a:blip r:embed="rId2">
                <a:alphaModFix amt="0"/>
              </a:blip>
              <a:stretch>
                <a:fillRect l="-35535" t="0" r="-35535" b="0"/>
              </a:stretch>
            </a:blipFill>
          </p:spPr>
        </p:sp>
        <p:sp>
          <p:nvSpPr>
            <p:cNvPr name="TextBox 17" id="17"/>
            <p:cNvSpPr txBox="true"/>
            <p:nvPr/>
          </p:nvSpPr>
          <p:spPr>
            <a:xfrm>
              <a:off x="0" y="-9525"/>
              <a:ext cx="2468880" cy="1655445"/>
            </a:xfrm>
            <a:prstGeom prst="rect">
              <a:avLst/>
            </a:prstGeom>
          </p:spPr>
          <p:txBody>
            <a:bodyPr anchor="ctr" rtlCol="false" tIns="0" lIns="0" bIns="0" rIns="0"/>
            <a:lstStyle/>
            <a:p>
              <a:pPr algn="ctr">
                <a:lnSpc>
                  <a:spcPts val="2519"/>
                </a:lnSpc>
              </a:pPr>
              <a:r>
                <a:rPr lang="en-US" b="true" sz="2099">
                  <a:solidFill>
                    <a:srgbClr val="083052"/>
                  </a:solidFill>
                  <a:latin typeface="Aptos Bold"/>
                  <a:ea typeface="Aptos Bold"/>
                  <a:cs typeface="Aptos Bold"/>
                  <a:sym typeface="Aptos Bold"/>
                </a:rPr>
                <a:t>PROBLEM</a:t>
              </a:r>
            </a:p>
            <a:p>
              <a:pPr algn="ctr">
                <a:lnSpc>
                  <a:spcPts val="2519"/>
                </a:lnSpc>
              </a:pPr>
              <a:r>
                <a:rPr lang="en-US" b="true" sz="2099">
                  <a:solidFill>
                    <a:srgbClr val="083052"/>
                  </a:solidFill>
                  <a:latin typeface="Aptos Bold"/>
                  <a:ea typeface="Aptos Bold"/>
                  <a:cs typeface="Aptos Bold"/>
                  <a:sym typeface="Aptos Bold"/>
                </a:rPr>
                <a:t>STATEMENT</a:t>
              </a:r>
            </a:p>
          </p:txBody>
        </p:sp>
      </p:grpSp>
      <p:sp>
        <p:nvSpPr>
          <p:cNvPr name="TextBox 18" id="18"/>
          <p:cNvSpPr txBox="true"/>
          <p:nvPr/>
        </p:nvSpPr>
        <p:spPr>
          <a:xfrm rot="0">
            <a:off x="4001155" y="2118360"/>
            <a:ext cx="11749385" cy="800100"/>
          </a:xfrm>
          <a:prstGeom prst="rect">
            <a:avLst/>
          </a:prstGeom>
        </p:spPr>
        <p:txBody>
          <a:bodyPr anchor="t" rtlCol="false" tIns="0" lIns="0" bIns="0" rIns="0">
            <a:spAutoFit/>
          </a:bodyPr>
          <a:lstStyle/>
          <a:p>
            <a:pPr algn="l">
              <a:lnSpc>
                <a:spcPts val="3179"/>
              </a:lnSpc>
            </a:pPr>
            <a:r>
              <a:rPr lang="en-US" sz="2649" b="true">
                <a:solidFill>
                  <a:srgbClr val="083052"/>
                </a:solidFill>
                <a:latin typeface="Aptos Bold"/>
                <a:ea typeface="Aptos Bold"/>
                <a:cs typeface="Aptos Bold"/>
                <a:sym typeface="Aptos Bold"/>
              </a:rPr>
              <a:t>Booking a doctor appointment is still slow and manual. Patients must reach the hospital or keep calling the desk just to know when a doctor is free.</a:t>
            </a:r>
          </a:p>
        </p:txBody>
      </p:sp>
      <p:sp>
        <p:nvSpPr>
          <p:cNvPr name="TextBox 19" id="19"/>
          <p:cNvSpPr txBox="true"/>
          <p:nvPr/>
        </p:nvSpPr>
        <p:spPr>
          <a:xfrm rot="0">
            <a:off x="4001155" y="3669030"/>
            <a:ext cx="10965642" cy="3171825"/>
          </a:xfrm>
          <a:prstGeom prst="rect">
            <a:avLst/>
          </a:prstGeom>
        </p:spPr>
        <p:txBody>
          <a:bodyPr anchor="t" rtlCol="false" tIns="0" lIns="0" bIns="0" rIns="0">
            <a:spAutoFit/>
          </a:bodyPr>
          <a:lstStyle/>
          <a:p>
            <a:pPr algn="l">
              <a:lnSpc>
                <a:spcPts val="2820"/>
              </a:lnSpc>
            </a:pPr>
            <a:r>
              <a:rPr lang="en-US" sz="2350">
                <a:solidFill>
                  <a:srgbClr val="233440"/>
                </a:solidFill>
                <a:latin typeface="Aptos"/>
                <a:ea typeface="Aptos"/>
                <a:cs typeface="Aptos"/>
                <a:sym typeface="Aptos"/>
              </a:rPr>
              <a:t>• Problem: Patients still book by visiting the hospital or calling the front desk.</a:t>
            </a:r>
          </a:p>
          <a:p>
            <a:pPr algn="l">
              <a:lnSpc>
                <a:spcPts val="2820"/>
              </a:lnSpc>
            </a:pPr>
          </a:p>
          <a:p>
            <a:pPr algn="l">
              <a:lnSpc>
                <a:spcPts val="2820"/>
              </a:lnSpc>
            </a:pPr>
            <a:r>
              <a:rPr lang="en-US" sz="2350">
                <a:solidFill>
                  <a:srgbClr val="233440"/>
                </a:solidFill>
                <a:latin typeface="Aptos"/>
                <a:ea typeface="Aptos"/>
                <a:cs typeface="Aptos"/>
                <a:sym typeface="Aptos"/>
              </a:rPr>
              <a:t>• Reason: Bookings are kept in registers, so free slots are not visible online.</a:t>
            </a:r>
          </a:p>
          <a:p>
            <a:pPr algn="l">
              <a:lnSpc>
                <a:spcPts val="2820"/>
              </a:lnSpc>
            </a:pPr>
          </a:p>
          <a:p>
            <a:pPr algn="l">
              <a:lnSpc>
                <a:spcPts val="2820"/>
              </a:lnSpc>
            </a:pPr>
            <a:r>
              <a:rPr lang="en-US" sz="2350">
                <a:solidFill>
                  <a:srgbClr val="233440"/>
                </a:solidFill>
                <a:latin typeface="Aptos"/>
                <a:ea typeface="Aptos"/>
                <a:cs typeface="Aptos"/>
                <a:sym typeface="Aptos"/>
              </a:rPr>
              <a:t>• Affected: Patients, doctors and desk staff all lose time every single day.</a:t>
            </a:r>
          </a:p>
          <a:p>
            <a:pPr algn="l">
              <a:lnSpc>
                <a:spcPts val="2820"/>
              </a:lnSpc>
            </a:pPr>
          </a:p>
          <a:p>
            <a:pPr algn="l">
              <a:lnSpc>
                <a:spcPts val="2820"/>
              </a:lnSpc>
            </a:pPr>
            <a:r>
              <a:rPr lang="en-US" sz="2350">
                <a:solidFill>
                  <a:srgbClr val="233440"/>
                </a:solidFill>
                <a:latin typeface="Aptos"/>
                <a:ea typeface="Aptos"/>
                <a:cs typeface="Aptos"/>
                <a:sym typeface="Aptos"/>
              </a:rPr>
              <a:t>• Gap: Phone lines stay busy, double booking happens and paper records get lost.</a:t>
            </a:r>
          </a:p>
          <a:p>
            <a:pPr algn="l">
              <a:lnSpc>
                <a:spcPts val="2820"/>
              </a:lnSpc>
            </a:pPr>
          </a:p>
          <a:p>
            <a:pPr algn="l">
              <a:lnSpc>
                <a:spcPts val="2820"/>
              </a:lnSpc>
            </a:pPr>
            <a:r>
              <a:rPr lang="en-US" sz="2350">
                <a:solidFill>
                  <a:srgbClr val="233440"/>
                </a:solidFill>
                <a:latin typeface="Aptos"/>
                <a:ea typeface="Aptos"/>
                <a:cs typeface="Aptos"/>
                <a:sym typeface="Aptos"/>
              </a:rPr>
              <a:t>• No proof: There is no instant confirmation, so many patients travel in vain.</a:t>
            </a:r>
          </a:p>
        </p:txBody>
      </p:sp>
      <p:grpSp>
        <p:nvGrpSpPr>
          <p:cNvPr name="Group 20" id="20"/>
          <p:cNvGrpSpPr/>
          <p:nvPr/>
        </p:nvGrpSpPr>
        <p:grpSpPr>
          <a:xfrm rot="0">
            <a:off x="3094875" y="7749540"/>
            <a:ext cx="12351327" cy="754380"/>
            <a:chOff x="0" y="0"/>
            <a:chExt cx="16468437" cy="1005840"/>
          </a:xfrm>
        </p:grpSpPr>
        <p:sp>
          <p:nvSpPr>
            <p:cNvPr name="Freeform 21" id="21"/>
            <p:cNvSpPr/>
            <p:nvPr/>
          </p:nvSpPr>
          <p:spPr>
            <a:xfrm flipH="false" flipV="false" rot="0">
              <a:off x="0" y="0"/>
              <a:ext cx="16468437" cy="1005840"/>
            </a:xfrm>
            <a:custGeom>
              <a:avLst/>
              <a:gdLst/>
              <a:ahLst/>
              <a:cxnLst/>
              <a:rect r="r" b="b" t="t" l="l"/>
              <a:pathLst>
                <a:path h="1005840" w="16468437">
                  <a:moveTo>
                    <a:pt x="0" y="167640"/>
                  </a:moveTo>
                  <a:cubicBezTo>
                    <a:pt x="0" y="75057"/>
                    <a:pt x="59550" y="0"/>
                    <a:pt x="133005" y="0"/>
                  </a:cubicBezTo>
                  <a:lnTo>
                    <a:pt x="16335431" y="0"/>
                  </a:lnTo>
                  <a:cubicBezTo>
                    <a:pt x="16408887" y="0"/>
                    <a:pt x="16468437" y="75057"/>
                    <a:pt x="16468437" y="167640"/>
                  </a:cubicBezTo>
                  <a:lnTo>
                    <a:pt x="16468437" y="838200"/>
                  </a:lnTo>
                  <a:cubicBezTo>
                    <a:pt x="16468437" y="930783"/>
                    <a:pt x="16408887" y="1005840"/>
                    <a:pt x="16335431" y="1005840"/>
                  </a:cubicBezTo>
                  <a:lnTo>
                    <a:pt x="133005" y="1005840"/>
                  </a:lnTo>
                  <a:cubicBezTo>
                    <a:pt x="59550" y="1005840"/>
                    <a:pt x="0" y="930783"/>
                    <a:pt x="0" y="838200"/>
                  </a:cubicBezTo>
                  <a:close/>
                </a:path>
              </a:pathLst>
            </a:custGeom>
            <a:solidFill>
              <a:srgbClr val="E8F3F8"/>
            </a:solidFill>
          </p:spPr>
        </p:sp>
      </p:grpSp>
      <p:sp>
        <p:nvSpPr>
          <p:cNvPr name="TextBox 22" id="22"/>
          <p:cNvSpPr txBox="true"/>
          <p:nvPr/>
        </p:nvSpPr>
        <p:spPr>
          <a:xfrm rot="0">
            <a:off x="3618938" y="7974330"/>
            <a:ext cx="10935824" cy="314325"/>
          </a:xfrm>
          <a:prstGeom prst="rect">
            <a:avLst/>
          </a:prstGeom>
        </p:spPr>
        <p:txBody>
          <a:bodyPr anchor="t" rtlCol="false" tIns="0" lIns="0" bIns="0" rIns="0">
            <a:spAutoFit/>
          </a:bodyPr>
          <a:lstStyle/>
          <a:p>
            <a:pPr algn="ctr">
              <a:lnSpc>
                <a:spcPts val="2579"/>
              </a:lnSpc>
            </a:pPr>
            <a:r>
              <a:rPr lang="en-US" sz="2149" b="true">
                <a:solidFill>
                  <a:srgbClr val="009DB2"/>
                </a:solidFill>
                <a:latin typeface="Aptos Bold"/>
                <a:ea typeface="Aptos Bold"/>
                <a:cs typeface="Aptos Bold"/>
                <a:sym typeface="Aptos Bold"/>
              </a:rPr>
              <a:t>Need: one simple online system that shows free slots and confirms the booking at once.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4. Objectives</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4</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227296" y="1981676"/>
            <a:ext cx="7558088" cy="2346008"/>
            <a:chOff x="0" y="0"/>
            <a:chExt cx="10077450" cy="3128010"/>
          </a:xfrm>
        </p:grpSpPr>
        <p:sp>
          <p:nvSpPr>
            <p:cNvPr name="Freeform 14" id="14"/>
            <p:cNvSpPr/>
            <p:nvPr/>
          </p:nvSpPr>
          <p:spPr>
            <a:xfrm flipH="false" flipV="false" rot="0">
              <a:off x="0" y="0"/>
              <a:ext cx="10077450" cy="3128010"/>
            </a:xfrm>
            <a:custGeom>
              <a:avLst/>
              <a:gdLst/>
              <a:ahLst/>
              <a:cxnLst/>
              <a:rect r="r" b="b" t="t" l="l"/>
              <a:pathLst>
                <a:path h="3128010" w="10077450">
                  <a:moveTo>
                    <a:pt x="0" y="521335"/>
                  </a:moveTo>
                  <a:cubicBezTo>
                    <a:pt x="0" y="233426"/>
                    <a:pt x="233426" y="0"/>
                    <a:pt x="521335" y="0"/>
                  </a:cubicBezTo>
                  <a:lnTo>
                    <a:pt x="9556115" y="0"/>
                  </a:lnTo>
                  <a:cubicBezTo>
                    <a:pt x="9844024" y="0"/>
                    <a:pt x="10077450" y="233426"/>
                    <a:pt x="10077450" y="521335"/>
                  </a:cubicBezTo>
                  <a:lnTo>
                    <a:pt x="10077450" y="2606675"/>
                  </a:lnTo>
                  <a:cubicBezTo>
                    <a:pt x="10077450" y="2894584"/>
                    <a:pt x="9844024" y="3128010"/>
                    <a:pt x="9556115" y="3128010"/>
                  </a:cubicBezTo>
                  <a:lnTo>
                    <a:pt x="521335" y="3128010"/>
                  </a:lnTo>
                  <a:cubicBezTo>
                    <a:pt x="233426" y="3128010"/>
                    <a:pt x="0" y="2894584"/>
                    <a:pt x="0" y="2606675"/>
                  </a:cubicBezTo>
                  <a:close/>
                </a:path>
              </a:pathLst>
            </a:custGeom>
            <a:solidFill>
              <a:srgbClr val="F4F8FB"/>
            </a:solidFill>
            <a:ln w="14288" cap="sq">
              <a:solidFill>
                <a:srgbClr val="CDDEE8"/>
              </a:solidFill>
              <a:prstDash val="solid"/>
              <a:miter/>
            </a:ln>
          </p:spPr>
        </p:sp>
      </p:grpSp>
      <p:sp>
        <p:nvSpPr>
          <p:cNvPr name="TextBox 15" id="15"/>
          <p:cNvSpPr txBox="true"/>
          <p:nvPr/>
        </p:nvSpPr>
        <p:spPr>
          <a:xfrm rot="0">
            <a:off x="1668780" y="2409063"/>
            <a:ext cx="2011680" cy="266700"/>
          </a:xfrm>
          <a:prstGeom prst="rect">
            <a:avLst/>
          </a:prstGeom>
        </p:spPr>
        <p:txBody>
          <a:bodyPr anchor="t" rtlCol="false" tIns="0" lIns="0" bIns="0" rIns="0">
            <a:spAutoFit/>
          </a:bodyPr>
          <a:lstStyle/>
          <a:p>
            <a:pPr algn="l">
              <a:lnSpc>
                <a:spcPts val="2039"/>
              </a:lnSpc>
            </a:pPr>
            <a:r>
              <a:rPr lang="en-US" sz="1699" b="true">
                <a:solidFill>
                  <a:srgbClr val="009DB2"/>
                </a:solidFill>
                <a:latin typeface="Aptos Bold"/>
                <a:ea typeface="Aptos Bold"/>
                <a:cs typeface="Aptos Bold"/>
                <a:sym typeface="Aptos Bold"/>
              </a:rPr>
              <a:t>OBJECTIVE 01</a:t>
            </a:r>
          </a:p>
        </p:txBody>
      </p:sp>
      <p:sp>
        <p:nvSpPr>
          <p:cNvPr name="TextBox 16" id="16"/>
          <p:cNvSpPr txBox="true"/>
          <p:nvPr/>
        </p:nvSpPr>
        <p:spPr>
          <a:xfrm rot="0">
            <a:off x="1668780" y="3022092"/>
            <a:ext cx="6675120" cy="525780"/>
          </a:xfrm>
          <a:prstGeom prst="rect">
            <a:avLst/>
          </a:prstGeom>
        </p:spPr>
        <p:txBody>
          <a:bodyPr anchor="t" rtlCol="false" tIns="0" lIns="0" bIns="0" rIns="0">
            <a:spAutoFit/>
          </a:bodyPr>
          <a:lstStyle/>
          <a:p>
            <a:pPr algn="l">
              <a:lnSpc>
                <a:spcPts val="2879"/>
              </a:lnSpc>
            </a:pPr>
            <a:r>
              <a:rPr lang="en-US" sz="2400" b="true">
                <a:solidFill>
                  <a:srgbClr val="083052"/>
                </a:solidFill>
                <a:latin typeface="Aptos Bold"/>
                <a:ea typeface="Aptos Bold"/>
                <a:cs typeface="Aptos Bold"/>
                <a:sym typeface="Aptos Bold"/>
              </a:rPr>
              <a:t>Create a secure sign up and login for patients, doctors and admin</a:t>
            </a:r>
          </a:p>
        </p:txBody>
      </p:sp>
      <p:grpSp>
        <p:nvGrpSpPr>
          <p:cNvPr name="Group 17" id="17"/>
          <p:cNvGrpSpPr/>
          <p:nvPr/>
        </p:nvGrpSpPr>
        <p:grpSpPr>
          <a:xfrm rot="0">
            <a:off x="9456896" y="1981676"/>
            <a:ext cx="7558088" cy="2346008"/>
            <a:chOff x="0" y="0"/>
            <a:chExt cx="10077450" cy="3128010"/>
          </a:xfrm>
        </p:grpSpPr>
        <p:sp>
          <p:nvSpPr>
            <p:cNvPr name="Freeform 18" id="18"/>
            <p:cNvSpPr/>
            <p:nvPr/>
          </p:nvSpPr>
          <p:spPr>
            <a:xfrm flipH="false" flipV="false" rot="0">
              <a:off x="0" y="0"/>
              <a:ext cx="10077450" cy="3128010"/>
            </a:xfrm>
            <a:custGeom>
              <a:avLst/>
              <a:gdLst/>
              <a:ahLst/>
              <a:cxnLst/>
              <a:rect r="r" b="b" t="t" l="l"/>
              <a:pathLst>
                <a:path h="3128010" w="10077450">
                  <a:moveTo>
                    <a:pt x="0" y="521335"/>
                  </a:moveTo>
                  <a:cubicBezTo>
                    <a:pt x="0" y="233426"/>
                    <a:pt x="233426" y="0"/>
                    <a:pt x="521335" y="0"/>
                  </a:cubicBezTo>
                  <a:lnTo>
                    <a:pt x="9556115" y="0"/>
                  </a:lnTo>
                  <a:cubicBezTo>
                    <a:pt x="9844024" y="0"/>
                    <a:pt x="10077450" y="233426"/>
                    <a:pt x="10077450" y="521335"/>
                  </a:cubicBezTo>
                  <a:lnTo>
                    <a:pt x="10077450" y="2606675"/>
                  </a:lnTo>
                  <a:cubicBezTo>
                    <a:pt x="10077450" y="2894584"/>
                    <a:pt x="9844024" y="3128010"/>
                    <a:pt x="9556115" y="3128010"/>
                  </a:cubicBezTo>
                  <a:lnTo>
                    <a:pt x="521335" y="3128010"/>
                  </a:lnTo>
                  <a:cubicBezTo>
                    <a:pt x="233426" y="3128010"/>
                    <a:pt x="0" y="2894584"/>
                    <a:pt x="0" y="2606675"/>
                  </a:cubicBezTo>
                  <a:close/>
                </a:path>
              </a:pathLst>
            </a:custGeom>
            <a:solidFill>
              <a:srgbClr val="F4F8FB"/>
            </a:solidFill>
            <a:ln w="14288" cap="sq">
              <a:solidFill>
                <a:srgbClr val="CDDEE8"/>
              </a:solidFill>
              <a:prstDash val="solid"/>
              <a:miter/>
            </a:ln>
          </p:spPr>
        </p:sp>
      </p:grpSp>
      <p:sp>
        <p:nvSpPr>
          <p:cNvPr name="TextBox 19" id="19"/>
          <p:cNvSpPr txBox="true"/>
          <p:nvPr/>
        </p:nvSpPr>
        <p:spPr>
          <a:xfrm rot="0">
            <a:off x="9898380" y="2409063"/>
            <a:ext cx="2011680" cy="266700"/>
          </a:xfrm>
          <a:prstGeom prst="rect">
            <a:avLst/>
          </a:prstGeom>
        </p:spPr>
        <p:txBody>
          <a:bodyPr anchor="t" rtlCol="false" tIns="0" lIns="0" bIns="0" rIns="0">
            <a:spAutoFit/>
          </a:bodyPr>
          <a:lstStyle/>
          <a:p>
            <a:pPr algn="l">
              <a:lnSpc>
                <a:spcPts val="2039"/>
              </a:lnSpc>
            </a:pPr>
            <a:r>
              <a:rPr lang="en-US" sz="1699" b="true">
                <a:solidFill>
                  <a:srgbClr val="009DB2"/>
                </a:solidFill>
                <a:latin typeface="Aptos Bold"/>
                <a:ea typeface="Aptos Bold"/>
                <a:cs typeface="Aptos Bold"/>
                <a:sym typeface="Aptos Bold"/>
              </a:rPr>
              <a:t>OBJECTIVE 02</a:t>
            </a:r>
          </a:p>
        </p:txBody>
      </p:sp>
      <p:sp>
        <p:nvSpPr>
          <p:cNvPr name="TextBox 20" id="20"/>
          <p:cNvSpPr txBox="true"/>
          <p:nvPr/>
        </p:nvSpPr>
        <p:spPr>
          <a:xfrm rot="0">
            <a:off x="9898380" y="3022092"/>
            <a:ext cx="6675120" cy="723900"/>
          </a:xfrm>
          <a:prstGeom prst="rect">
            <a:avLst/>
          </a:prstGeom>
        </p:spPr>
        <p:txBody>
          <a:bodyPr anchor="t" rtlCol="false" tIns="0" lIns="0" bIns="0" rIns="0">
            <a:spAutoFit/>
          </a:bodyPr>
          <a:lstStyle/>
          <a:p>
            <a:pPr algn="l">
              <a:lnSpc>
                <a:spcPts val="2879"/>
              </a:lnSpc>
            </a:pPr>
            <a:r>
              <a:rPr lang="en-US" sz="2400" b="true">
                <a:solidFill>
                  <a:srgbClr val="083052"/>
                </a:solidFill>
                <a:latin typeface="Aptos Bold"/>
                <a:ea typeface="Aptos Bold"/>
                <a:cs typeface="Aptos Bold"/>
                <a:sym typeface="Aptos Bold"/>
              </a:rPr>
              <a:t>Allow patients to view doctors and book a free slot online</a:t>
            </a:r>
          </a:p>
        </p:txBody>
      </p:sp>
      <p:grpSp>
        <p:nvGrpSpPr>
          <p:cNvPr name="Group 21" id="21"/>
          <p:cNvGrpSpPr/>
          <p:nvPr/>
        </p:nvGrpSpPr>
        <p:grpSpPr>
          <a:xfrm rot="0">
            <a:off x="1227296" y="5136356"/>
            <a:ext cx="7558088" cy="2346008"/>
            <a:chOff x="0" y="0"/>
            <a:chExt cx="10077450" cy="3128010"/>
          </a:xfrm>
        </p:grpSpPr>
        <p:sp>
          <p:nvSpPr>
            <p:cNvPr name="Freeform 22" id="22"/>
            <p:cNvSpPr/>
            <p:nvPr/>
          </p:nvSpPr>
          <p:spPr>
            <a:xfrm flipH="false" flipV="false" rot="0">
              <a:off x="0" y="0"/>
              <a:ext cx="10077450" cy="3128010"/>
            </a:xfrm>
            <a:custGeom>
              <a:avLst/>
              <a:gdLst/>
              <a:ahLst/>
              <a:cxnLst/>
              <a:rect r="r" b="b" t="t" l="l"/>
              <a:pathLst>
                <a:path h="3128010" w="10077450">
                  <a:moveTo>
                    <a:pt x="0" y="521335"/>
                  </a:moveTo>
                  <a:cubicBezTo>
                    <a:pt x="0" y="233426"/>
                    <a:pt x="233426" y="0"/>
                    <a:pt x="521335" y="0"/>
                  </a:cubicBezTo>
                  <a:lnTo>
                    <a:pt x="9556115" y="0"/>
                  </a:lnTo>
                  <a:cubicBezTo>
                    <a:pt x="9844024" y="0"/>
                    <a:pt x="10077450" y="233426"/>
                    <a:pt x="10077450" y="521335"/>
                  </a:cubicBezTo>
                  <a:lnTo>
                    <a:pt x="10077450" y="2606675"/>
                  </a:lnTo>
                  <a:cubicBezTo>
                    <a:pt x="10077450" y="2894584"/>
                    <a:pt x="9844024" y="3128010"/>
                    <a:pt x="9556115" y="3128010"/>
                  </a:cubicBezTo>
                  <a:lnTo>
                    <a:pt x="521335" y="3128010"/>
                  </a:lnTo>
                  <a:cubicBezTo>
                    <a:pt x="233426" y="3128010"/>
                    <a:pt x="0" y="2894584"/>
                    <a:pt x="0" y="2606675"/>
                  </a:cubicBezTo>
                  <a:close/>
                </a:path>
              </a:pathLst>
            </a:custGeom>
            <a:solidFill>
              <a:srgbClr val="F4F8FB"/>
            </a:solidFill>
            <a:ln w="14288" cap="sq">
              <a:solidFill>
                <a:srgbClr val="CDDEE8"/>
              </a:solidFill>
              <a:prstDash val="solid"/>
              <a:miter/>
            </a:ln>
          </p:spPr>
        </p:sp>
      </p:grpSp>
      <p:sp>
        <p:nvSpPr>
          <p:cNvPr name="TextBox 23" id="23"/>
          <p:cNvSpPr txBox="true"/>
          <p:nvPr/>
        </p:nvSpPr>
        <p:spPr>
          <a:xfrm rot="0">
            <a:off x="1668780" y="5563743"/>
            <a:ext cx="2011680" cy="266700"/>
          </a:xfrm>
          <a:prstGeom prst="rect">
            <a:avLst/>
          </a:prstGeom>
        </p:spPr>
        <p:txBody>
          <a:bodyPr anchor="t" rtlCol="false" tIns="0" lIns="0" bIns="0" rIns="0">
            <a:spAutoFit/>
          </a:bodyPr>
          <a:lstStyle/>
          <a:p>
            <a:pPr algn="l">
              <a:lnSpc>
                <a:spcPts val="2039"/>
              </a:lnSpc>
            </a:pPr>
            <a:r>
              <a:rPr lang="en-US" sz="1699" b="true">
                <a:solidFill>
                  <a:srgbClr val="009DB2"/>
                </a:solidFill>
                <a:latin typeface="Aptos Bold"/>
                <a:ea typeface="Aptos Bold"/>
                <a:cs typeface="Aptos Bold"/>
                <a:sym typeface="Aptos Bold"/>
              </a:rPr>
              <a:t>OBJECTIVE 03</a:t>
            </a:r>
          </a:p>
        </p:txBody>
      </p:sp>
      <p:sp>
        <p:nvSpPr>
          <p:cNvPr name="TextBox 24" id="24"/>
          <p:cNvSpPr txBox="true"/>
          <p:nvPr/>
        </p:nvSpPr>
        <p:spPr>
          <a:xfrm rot="0">
            <a:off x="1668780" y="6176772"/>
            <a:ext cx="6675120" cy="723900"/>
          </a:xfrm>
          <a:prstGeom prst="rect">
            <a:avLst/>
          </a:prstGeom>
        </p:spPr>
        <p:txBody>
          <a:bodyPr anchor="t" rtlCol="false" tIns="0" lIns="0" bIns="0" rIns="0">
            <a:spAutoFit/>
          </a:bodyPr>
          <a:lstStyle/>
          <a:p>
            <a:pPr algn="l">
              <a:lnSpc>
                <a:spcPts val="2879"/>
              </a:lnSpc>
            </a:pPr>
            <a:r>
              <a:rPr lang="en-US" sz="2400" b="true">
                <a:solidFill>
                  <a:srgbClr val="083052"/>
                </a:solidFill>
                <a:latin typeface="Aptos Bold"/>
                <a:ea typeface="Aptos Bold"/>
                <a:cs typeface="Aptos Bold"/>
                <a:sym typeface="Aptos Bold"/>
              </a:rPr>
              <a:t>Allow doctors to update availability and view their appointments</a:t>
            </a:r>
          </a:p>
        </p:txBody>
      </p:sp>
      <p:grpSp>
        <p:nvGrpSpPr>
          <p:cNvPr name="Group 25" id="25"/>
          <p:cNvGrpSpPr/>
          <p:nvPr/>
        </p:nvGrpSpPr>
        <p:grpSpPr>
          <a:xfrm rot="0">
            <a:off x="9456896" y="5136356"/>
            <a:ext cx="7558088" cy="2346008"/>
            <a:chOff x="0" y="0"/>
            <a:chExt cx="10077450" cy="3128010"/>
          </a:xfrm>
        </p:grpSpPr>
        <p:sp>
          <p:nvSpPr>
            <p:cNvPr name="Freeform 26" id="26"/>
            <p:cNvSpPr/>
            <p:nvPr/>
          </p:nvSpPr>
          <p:spPr>
            <a:xfrm flipH="false" flipV="false" rot="0">
              <a:off x="0" y="0"/>
              <a:ext cx="10077450" cy="3128010"/>
            </a:xfrm>
            <a:custGeom>
              <a:avLst/>
              <a:gdLst/>
              <a:ahLst/>
              <a:cxnLst/>
              <a:rect r="r" b="b" t="t" l="l"/>
              <a:pathLst>
                <a:path h="3128010" w="10077450">
                  <a:moveTo>
                    <a:pt x="0" y="521335"/>
                  </a:moveTo>
                  <a:cubicBezTo>
                    <a:pt x="0" y="233426"/>
                    <a:pt x="233426" y="0"/>
                    <a:pt x="521335" y="0"/>
                  </a:cubicBezTo>
                  <a:lnTo>
                    <a:pt x="9556115" y="0"/>
                  </a:lnTo>
                  <a:cubicBezTo>
                    <a:pt x="9844024" y="0"/>
                    <a:pt x="10077450" y="233426"/>
                    <a:pt x="10077450" y="521335"/>
                  </a:cubicBezTo>
                  <a:lnTo>
                    <a:pt x="10077450" y="2606675"/>
                  </a:lnTo>
                  <a:cubicBezTo>
                    <a:pt x="10077450" y="2894584"/>
                    <a:pt x="9844024" y="3128010"/>
                    <a:pt x="9556115" y="3128010"/>
                  </a:cubicBezTo>
                  <a:lnTo>
                    <a:pt x="521335" y="3128010"/>
                  </a:lnTo>
                  <a:cubicBezTo>
                    <a:pt x="233426" y="3128010"/>
                    <a:pt x="0" y="2894584"/>
                    <a:pt x="0" y="2606675"/>
                  </a:cubicBezTo>
                  <a:close/>
                </a:path>
              </a:pathLst>
            </a:custGeom>
            <a:solidFill>
              <a:srgbClr val="F4F8FB"/>
            </a:solidFill>
            <a:ln w="14288" cap="sq">
              <a:solidFill>
                <a:srgbClr val="CDDEE8"/>
              </a:solidFill>
              <a:prstDash val="solid"/>
              <a:miter/>
            </a:ln>
          </p:spPr>
        </p:sp>
      </p:grpSp>
      <p:sp>
        <p:nvSpPr>
          <p:cNvPr name="TextBox 27" id="27"/>
          <p:cNvSpPr txBox="true"/>
          <p:nvPr/>
        </p:nvSpPr>
        <p:spPr>
          <a:xfrm rot="0">
            <a:off x="9898380" y="5563743"/>
            <a:ext cx="2011680" cy="266700"/>
          </a:xfrm>
          <a:prstGeom prst="rect">
            <a:avLst/>
          </a:prstGeom>
        </p:spPr>
        <p:txBody>
          <a:bodyPr anchor="t" rtlCol="false" tIns="0" lIns="0" bIns="0" rIns="0">
            <a:spAutoFit/>
          </a:bodyPr>
          <a:lstStyle/>
          <a:p>
            <a:pPr algn="l">
              <a:lnSpc>
                <a:spcPts val="2039"/>
              </a:lnSpc>
            </a:pPr>
            <a:r>
              <a:rPr lang="en-US" sz="1699" b="true">
                <a:solidFill>
                  <a:srgbClr val="009DB2"/>
                </a:solidFill>
                <a:latin typeface="Aptos Bold"/>
                <a:ea typeface="Aptos Bold"/>
                <a:cs typeface="Aptos Bold"/>
                <a:sym typeface="Aptos Bold"/>
              </a:rPr>
              <a:t>OBJECTIVE 04</a:t>
            </a:r>
          </a:p>
        </p:txBody>
      </p:sp>
      <p:sp>
        <p:nvSpPr>
          <p:cNvPr name="TextBox 28" id="28"/>
          <p:cNvSpPr txBox="true"/>
          <p:nvPr/>
        </p:nvSpPr>
        <p:spPr>
          <a:xfrm rot="0">
            <a:off x="9898380" y="6176772"/>
            <a:ext cx="6675120" cy="723900"/>
          </a:xfrm>
          <a:prstGeom prst="rect">
            <a:avLst/>
          </a:prstGeom>
        </p:spPr>
        <p:txBody>
          <a:bodyPr anchor="t" rtlCol="false" tIns="0" lIns="0" bIns="0" rIns="0">
            <a:spAutoFit/>
          </a:bodyPr>
          <a:lstStyle/>
          <a:p>
            <a:pPr algn="l">
              <a:lnSpc>
                <a:spcPts val="2879"/>
              </a:lnSpc>
            </a:pPr>
            <a:r>
              <a:rPr lang="en-US" sz="2400" b="true">
                <a:solidFill>
                  <a:srgbClr val="083052"/>
                </a:solidFill>
                <a:latin typeface="Aptos Bold"/>
                <a:ea typeface="Aptos Bold"/>
                <a:cs typeface="Aptos Bold"/>
                <a:sym typeface="Aptos Bold"/>
              </a:rPr>
              <a:t>Allow admin to manage doctors, patients and booking records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5. Scope</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5</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090136" y="1658493"/>
            <a:ext cx="7900988" cy="6666547"/>
            <a:chOff x="0" y="0"/>
            <a:chExt cx="10534650" cy="8888730"/>
          </a:xfrm>
        </p:grpSpPr>
        <p:sp>
          <p:nvSpPr>
            <p:cNvPr name="Freeform 14" id="14"/>
            <p:cNvSpPr/>
            <p:nvPr/>
          </p:nvSpPr>
          <p:spPr>
            <a:xfrm flipH="false" flipV="false" rot="0">
              <a:off x="0" y="0"/>
              <a:ext cx="10534650" cy="8888730"/>
            </a:xfrm>
            <a:custGeom>
              <a:avLst/>
              <a:gdLst/>
              <a:ahLst/>
              <a:cxnLst/>
              <a:rect r="r" b="b" t="t" l="l"/>
              <a:pathLst>
                <a:path h="8888730" w="10534650">
                  <a:moveTo>
                    <a:pt x="0" y="1481455"/>
                  </a:moveTo>
                  <a:cubicBezTo>
                    <a:pt x="0" y="663321"/>
                    <a:pt x="663321" y="0"/>
                    <a:pt x="1481455" y="0"/>
                  </a:cubicBezTo>
                  <a:lnTo>
                    <a:pt x="9053195" y="0"/>
                  </a:lnTo>
                  <a:cubicBezTo>
                    <a:pt x="9871329" y="0"/>
                    <a:pt x="10534650" y="663321"/>
                    <a:pt x="10534650" y="1481455"/>
                  </a:cubicBezTo>
                  <a:lnTo>
                    <a:pt x="10534650" y="7407275"/>
                  </a:lnTo>
                  <a:cubicBezTo>
                    <a:pt x="10534650" y="8225536"/>
                    <a:pt x="9871329" y="8888730"/>
                    <a:pt x="9053195" y="8888730"/>
                  </a:cubicBezTo>
                  <a:lnTo>
                    <a:pt x="1481455" y="8888730"/>
                  </a:lnTo>
                  <a:cubicBezTo>
                    <a:pt x="663321" y="8888730"/>
                    <a:pt x="0" y="8225409"/>
                    <a:pt x="0" y="7407275"/>
                  </a:cubicBezTo>
                  <a:close/>
                </a:path>
              </a:pathLst>
            </a:custGeom>
            <a:solidFill>
              <a:srgbClr val="EEF9F2"/>
            </a:solidFill>
            <a:ln w="14288" cap="sq">
              <a:solidFill>
                <a:srgbClr val="B5DEC1"/>
              </a:solidFill>
              <a:prstDash val="solid"/>
              <a:miter/>
            </a:ln>
          </p:spPr>
        </p:sp>
      </p:grpSp>
      <p:grpSp>
        <p:nvGrpSpPr>
          <p:cNvPr name="Group 15" id="15"/>
          <p:cNvGrpSpPr/>
          <p:nvPr/>
        </p:nvGrpSpPr>
        <p:grpSpPr>
          <a:xfrm rot="0">
            <a:off x="9292304" y="1658493"/>
            <a:ext cx="7900988" cy="6666547"/>
            <a:chOff x="0" y="0"/>
            <a:chExt cx="10534650" cy="8888730"/>
          </a:xfrm>
        </p:grpSpPr>
        <p:sp>
          <p:nvSpPr>
            <p:cNvPr name="Freeform 16" id="16"/>
            <p:cNvSpPr/>
            <p:nvPr/>
          </p:nvSpPr>
          <p:spPr>
            <a:xfrm flipH="false" flipV="false" rot="0">
              <a:off x="0" y="0"/>
              <a:ext cx="10534650" cy="8888730"/>
            </a:xfrm>
            <a:custGeom>
              <a:avLst/>
              <a:gdLst/>
              <a:ahLst/>
              <a:cxnLst/>
              <a:rect r="r" b="b" t="t" l="l"/>
              <a:pathLst>
                <a:path h="8888730" w="10534650">
                  <a:moveTo>
                    <a:pt x="0" y="1481455"/>
                  </a:moveTo>
                  <a:cubicBezTo>
                    <a:pt x="0" y="663321"/>
                    <a:pt x="663321" y="0"/>
                    <a:pt x="1481455" y="0"/>
                  </a:cubicBezTo>
                  <a:lnTo>
                    <a:pt x="9053195" y="0"/>
                  </a:lnTo>
                  <a:cubicBezTo>
                    <a:pt x="9871329" y="0"/>
                    <a:pt x="10534650" y="663321"/>
                    <a:pt x="10534650" y="1481455"/>
                  </a:cubicBezTo>
                  <a:lnTo>
                    <a:pt x="10534650" y="7407275"/>
                  </a:lnTo>
                  <a:cubicBezTo>
                    <a:pt x="10534650" y="8225536"/>
                    <a:pt x="9871329" y="8888730"/>
                    <a:pt x="9053195" y="8888730"/>
                  </a:cubicBezTo>
                  <a:lnTo>
                    <a:pt x="1481455" y="8888730"/>
                  </a:lnTo>
                  <a:cubicBezTo>
                    <a:pt x="663321" y="8888730"/>
                    <a:pt x="0" y="8225409"/>
                    <a:pt x="0" y="7407275"/>
                  </a:cubicBezTo>
                  <a:close/>
                </a:path>
              </a:pathLst>
            </a:custGeom>
            <a:solidFill>
              <a:srgbClr val="FCF2F2"/>
            </a:solidFill>
            <a:ln w="14288" cap="sq">
              <a:solidFill>
                <a:srgbClr val="ECBEBE"/>
              </a:solidFill>
              <a:prstDash val="solid"/>
              <a:miter/>
            </a:ln>
          </p:spPr>
        </p:sp>
      </p:grpSp>
      <p:sp>
        <p:nvSpPr>
          <p:cNvPr name="TextBox 17" id="17"/>
          <p:cNvSpPr txBox="true"/>
          <p:nvPr/>
        </p:nvSpPr>
        <p:spPr>
          <a:xfrm rot="0">
            <a:off x="1668780" y="2106835"/>
            <a:ext cx="6697980" cy="447675"/>
          </a:xfrm>
          <a:prstGeom prst="rect">
            <a:avLst/>
          </a:prstGeom>
        </p:spPr>
        <p:txBody>
          <a:bodyPr anchor="t" rtlCol="false" tIns="0" lIns="0" bIns="0" rIns="0">
            <a:spAutoFit/>
          </a:bodyPr>
          <a:lstStyle/>
          <a:p>
            <a:pPr algn="l">
              <a:lnSpc>
                <a:spcPts val="3120"/>
              </a:lnSpc>
            </a:pPr>
            <a:r>
              <a:rPr lang="en-US" sz="2600" b="true">
                <a:solidFill>
                  <a:srgbClr val="36965D"/>
                </a:solidFill>
                <a:latin typeface="Calibri (MS) Bold"/>
                <a:ea typeface="Calibri (MS) Bold"/>
                <a:cs typeface="Calibri (MS) Bold"/>
                <a:sym typeface="Calibri (MS) Bold"/>
              </a:rPr>
              <a:t>✓  IN SCOPE</a:t>
            </a:r>
          </a:p>
        </p:txBody>
      </p:sp>
      <p:sp>
        <p:nvSpPr>
          <p:cNvPr name="TextBox 18" id="18"/>
          <p:cNvSpPr txBox="true"/>
          <p:nvPr/>
        </p:nvSpPr>
        <p:spPr>
          <a:xfrm rot="0">
            <a:off x="9829800" y="2106835"/>
            <a:ext cx="6886226" cy="447675"/>
          </a:xfrm>
          <a:prstGeom prst="rect">
            <a:avLst/>
          </a:prstGeom>
        </p:spPr>
        <p:txBody>
          <a:bodyPr anchor="t" rtlCol="false" tIns="0" lIns="0" bIns="0" rIns="0">
            <a:spAutoFit/>
          </a:bodyPr>
          <a:lstStyle/>
          <a:p>
            <a:pPr algn="l">
              <a:lnSpc>
                <a:spcPts val="3120"/>
              </a:lnSpc>
            </a:pPr>
            <a:r>
              <a:rPr lang="en-US" sz="2600" b="true">
                <a:solidFill>
                  <a:srgbClr val="CD4646"/>
                </a:solidFill>
                <a:latin typeface="Calibri (MS) Bold"/>
                <a:ea typeface="Calibri (MS) Bold"/>
                <a:cs typeface="Calibri (MS) Bold"/>
                <a:sym typeface="Calibri (MS) Bold"/>
              </a:rPr>
              <a:t>✕  OUT OF SCOPE / FUTURE WORK</a:t>
            </a:r>
          </a:p>
        </p:txBody>
      </p:sp>
      <p:sp>
        <p:nvSpPr>
          <p:cNvPr name="TextBox 19" id="19"/>
          <p:cNvSpPr txBox="true"/>
          <p:nvPr/>
        </p:nvSpPr>
        <p:spPr>
          <a:xfrm rot="0">
            <a:off x="1737360" y="3004852"/>
            <a:ext cx="7406640" cy="4737871"/>
          </a:xfrm>
          <a:prstGeom prst="rect">
            <a:avLst/>
          </a:prstGeom>
        </p:spPr>
        <p:txBody>
          <a:bodyPr anchor="t" rtlCol="false" tIns="0" lIns="0" bIns="0" rIns="0">
            <a:spAutoFit/>
          </a:bodyPr>
          <a:lstStyle/>
          <a:p>
            <a:pPr algn="l">
              <a:lnSpc>
                <a:spcPts val="2916"/>
              </a:lnSpc>
            </a:pPr>
            <a:r>
              <a:rPr lang="en-US" sz="2430">
                <a:solidFill>
                  <a:srgbClr val="233440"/>
                </a:solidFill>
                <a:latin typeface="Aptos"/>
                <a:ea typeface="Aptos"/>
                <a:cs typeface="Aptos"/>
                <a:sym typeface="Aptos"/>
              </a:rPr>
              <a:t>• Secure login for patient, doctor, admin</a:t>
            </a:r>
          </a:p>
          <a:p>
            <a:pPr algn="l">
              <a:lnSpc>
                <a:spcPts val="2916"/>
              </a:lnSpc>
            </a:pPr>
          </a:p>
          <a:p>
            <a:pPr algn="l">
              <a:lnSpc>
                <a:spcPts val="2916"/>
              </a:lnSpc>
            </a:pPr>
            <a:r>
              <a:rPr lang="en-US" sz="2430">
                <a:solidFill>
                  <a:srgbClr val="233440"/>
                </a:solidFill>
                <a:latin typeface="Aptos"/>
                <a:ea typeface="Aptos"/>
                <a:cs typeface="Aptos"/>
                <a:sym typeface="Aptos"/>
              </a:rPr>
              <a:t>• Doctor list with timings and free slots</a:t>
            </a:r>
          </a:p>
          <a:p>
            <a:pPr algn="l">
              <a:lnSpc>
                <a:spcPts val="2916"/>
              </a:lnSpc>
            </a:pPr>
          </a:p>
          <a:p>
            <a:pPr algn="l">
              <a:lnSpc>
                <a:spcPts val="2916"/>
              </a:lnSpc>
            </a:pPr>
            <a:r>
              <a:rPr lang="en-US" sz="2430">
                <a:solidFill>
                  <a:srgbClr val="233440"/>
                </a:solidFill>
                <a:latin typeface="Aptos"/>
                <a:ea typeface="Aptos"/>
                <a:cs typeface="Aptos"/>
                <a:sym typeface="Aptos"/>
              </a:rPr>
              <a:t>• Online booking, cancel and rebooking</a:t>
            </a:r>
          </a:p>
          <a:p>
            <a:pPr algn="l">
              <a:lnSpc>
                <a:spcPts val="2916"/>
              </a:lnSpc>
            </a:pPr>
          </a:p>
          <a:p>
            <a:pPr algn="l">
              <a:lnSpc>
                <a:spcPts val="2916"/>
              </a:lnSpc>
            </a:pPr>
            <a:r>
              <a:rPr lang="en-US" sz="2430">
                <a:solidFill>
                  <a:srgbClr val="233440"/>
                </a:solidFill>
                <a:latin typeface="Aptos"/>
                <a:ea typeface="Aptos"/>
                <a:cs typeface="Aptos"/>
                <a:sym typeface="Aptos"/>
              </a:rPr>
              <a:t>• Patient dashboard with visit history</a:t>
            </a:r>
          </a:p>
          <a:p>
            <a:pPr algn="l">
              <a:lnSpc>
                <a:spcPts val="2916"/>
              </a:lnSpc>
            </a:pPr>
          </a:p>
          <a:p>
            <a:pPr algn="l">
              <a:lnSpc>
                <a:spcPts val="2916"/>
              </a:lnSpc>
            </a:pPr>
            <a:r>
              <a:rPr lang="en-US" sz="2430">
                <a:solidFill>
                  <a:srgbClr val="233440"/>
                </a:solidFill>
                <a:latin typeface="Aptos"/>
                <a:ea typeface="Aptos"/>
                <a:cs typeface="Aptos"/>
                <a:sym typeface="Aptos"/>
              </a:rPr>
              <a:t>• Doctor page to update free time</a:t>
            </a:r>
          </a:p>
          <a:p>
            <a:pPr algn="l">
              <a:lnSpc>
                <a:spcPts val="2916"/>
              </a:lnSpc>
            </a:pPr>
          </a:p>
          <a:p>
            <a:pPr algn="l">
              <a:lnSpc>
                <a:spcPts val="2916"/>
              </a:lnSpc>
            </a:pPr>
            <a:r>
              <a:rPr lang="en-US" sz="2430">
                <a:solidFill>
                  <a:srgbClr val="233440"/>
                </a:solidFill>
                <a:latin typeface="Aptos"/>
                <a:ea typeface="Aptos"/>
                <a:cs typeface="Aptos"/>
                <a:sym typeface="Aptos"/>
              </a:rPr>
              <a:t>• Admin panel to manage users and slots</a:t>
            </a:r>
          </a:p>
          <a:p>
            <a:pPr algn="l">
              <a:lnSpc>
                <a:spcPts val="2916"/>
              </a:lnSpc>
            </a:pPr>
          </a:p>
          <a:p>
            <a:pPr algn="l">
              <a:lnSpc>
                <a:spcPts val="2916"/>
              </a:lnSpc>
            </a:pPr>
            <a:r>
              <a:rPr lang="en-US" sz="2430">
                <a:solidFill>
                  <a:srgbClr val="233440"/>
                </a:solidFill>
                <a:latin typeface="Aptos"/>
                <a:ea typeface="Aptos"/>
                <a:cs typeface="Aptos"/>
                <a:sym typeface="Aptos"/>
              </a:rPr>
              <a:t>• Instant booking confirmation on screen</a:t>
            </a:r>
          </a:p>
        </p:txBody>
      </p:sp>
      <p:sp>
        <p:nvSpPr>
          <p:cNvPr name="TextBox 20" id="20"/>
          <p:cNvSpPr txBox="true"/>
          <p:nvPr/>
        </p:nvSpPr>
        <p:spPr>
          <a:xfrm rot="0">
            <a:off x="9898380" y="3004852"/>
            <a:ext cx="6400800" cy="4714875"/>
          </a:xfrm>
          <a:prstGeom prst="rect">
            <a:avLst/>
          </a:prstGeom>
        </p:spPr>
        <p:txBody>
          <a:bodyPr anchor="t" rtlCol="false" tIns="0" lIns="0" bIns="0" rIns="0">
            <a:spAutoFit/>
          </a:bodyPr>
          <a:lstStyle/>
          <a:p>
            <a:pPr algn="l" marL="0" indent="0" lvl="0">
              <a:lnSpc>
                <a:spcPts val="2915"/>
              </a:lnSpc>
              <a:spcBef>
                <a:spcPct val="0"/>
              </a:spcBef>
            </a:pPr>
            <a:r>
              <a:rPr lang="en-US" sz="2429" strike="noStrike" u="none">
                <a:solidFill>
                  <a:srgbClr val="233440"/>
                </a:solidFill>
                <a:latin typeface="Aptos"/>
                <a:ea typeface="Aptos"/>
                <a:cs typeface="Aptos"/>
                <a:sym typeface="Aptos"/>
              </a:rPr>
              <a:t>• Online payment and billing</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Video consultation with doctors</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Android / iOS mobile app</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Prescription and report storage</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Lab test and pharmacy linking</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Insurance and claim handling</a:t>
            </a:r>
          </a:p>
          <a:p>
            <a:pPr algn="l" marL="0" indent="0" lvl="0">
              <a:lnSpc>
                <a:spcPts val="2915"/>
              </a:lnSpc>
              <a:spcBef>
                <a:spcPct val="0"/>
              </a:spcBef>
            </a:pPr>
          </a:p>
          <a:p>
            <a:pPr algn="l" marL="0" indent="0" lvl="0">
              <a:lnSpc>
                <a:spcPts val="2915"/>
              </a:lnSpc>
              <a:spcBef>
                <a:spcPct val="0"/>
              </a:spcBef>
            </a:pPr>
            <a:r>
              <a:rPr lang="en-US" sz="2429" strike="noStrike" u="none">
                <a:solidFill>
                  <a:srgbClr val="233440"/>
                </a:solidFill>
                <a:latin typeface="Aptos"/>
                <a:ea typeface="Aptos"/>
                <a:cs typeface="Aptos"/>
                <a:sym typeface="Aptos"/>
              </a:rPr>
              <a:t>• SMS or WhatsApp alerts (future work)</a:t>
            </a:r>
          </a:p>
        </p:txBody>
      </p:sp>
      <p:grpSp>
        <p:nvGrpSpPr>
          <p:cNvPr name="Group 21" id="21"/>
          <p:cNvGrpSpPr/>
          <p:nvPr/>
        </p:nvGrpSpPr>
        <p:grpSpPr>
          <a:xfrm rot="0">
            <a:off x="1293495" y="8705479"/>
            <a:ext cx="15586710" cy="664054"/>
            <a:chOff x="0" y="0"/>
            <a:chExt cx="20782280" cy="885406"/>
          </a:xfrm>
        </p:grpSpPr>
        <p:sp>
          <p:nvSpPr>
            <p:cNvPr name="Freeform 22" id="22"/>
            <p:cNvSpPr/>
            <p:nvPr/>
          </p:nvSpPr>
          <p:spPr>
            <a:xfrm flipH="false" flipV="false" rot="0">
              <a:off x="0" y="0"/>
              <a:ext cx="20782280" cy="885444"/>
            </a:xfrm>
            <a:custGeom>
              <a:avLst/>
              <a:gdLst/>
              <a:ahLst/>
              <a:cxnLst/>
              <a:rect r="r" b="b" t="t" l="l"/>
              <a:pathLst>
                <a:path h="885444" w="20782280">
                  <a:moveTo>
                    <a:pt x="0" y="147574"/>
                  </a:moveTo>
                  <a:cubicBezTo>
                    <a:pt x="0" y="66040"/>
                    <a:pt x="66040" y="0"/>
                    <a:pt x="147574" y="0"/>
                  </a:cubicBezTo>
                  <a:lnTo>
                    <a:pt x="20634706" y="0"/>
                  </a:lnTo>
                  <a:cubicBezTo>
                    <a:pt x="20716241" y="0"/>
                    <a:pt x="20782280" y="66040"/>
                    <a:pt x="20782280" y="147574"/>
                  </a:cubicBezTo>
                  <a:lnTo>
                    <a:pt x="20782280" y="737870"/>
                  </a:lnTo>
                  <a:cubicBezTo>
                    <a:pt x="20782280" y="819404"/>
                    <a:pt x="20716241" y="885444"/>
                    <a:pt x="20634706" y="885444"/>
                  </a:cubicBezTo>
                  <a:lnTo>
                    <a:pt x="147574" y="885444"/>
                  </a:lnTo>
                  <a:cubicBezTo>
                    <a:pt x="66040" y="885444"/>
                    <a:pt x="0" y="819277"/>
                    <a:pt x="0" y="737870"/>
                  </a:cubicBezTo>
                  <a:close/>
                </a:path>
              </a:pathLst>
            </a:custGeom>
            <a:solidFill>
              <a:srgbClr val="EAF4F7"/>
            </a:solidFill>
            <a:ln w="19050" cap="sq">
              <a:solidFill>
                <a:srgbClr val="CDDEE8"/>
              </a:solidFill>
              <a:prstDash val="solid"/>
              <a:miter/>
            </a:ln>
          </p:spPr>
        </p:sp>
      </p:grpSp>
      <p:sp>
        <p:nvSpPr>
          <p:cNvPr name="TextBox 23" id="23"/>
          <p:cNvSpPr txBox="true"/>
          <p:nvPr/>
        </p:nvSpPr>
        <p:spPr>
          <a:xfrm rot="0">
            <a:off x="1600200" y="8888216"/>
            <a:ext cx="14973300" cy="320040"/>
          </a:xfrm>
          <a:prstGeom prst="rect">
            <a:avLst/>
          </a:prstGeom>
        </p:spPr>
        <p:txBody>
          <a:bodyPr anchor="t" rtlCol="false" tIns="0" lIns="0" bIns="0" rIns="0">
            <a:spAutoFit/>
          </a:bodyPr>
          <a:lstStyle/>
          <a:p>
            <a:pPr algn="ctr">
              <a:lnSpc>
                <a:spcPts val="2160"/>
              </a:lnSpc>
            </a:pPr>
            <a:r>
              <a:rPr lang="en-US" sz="1800" b="true">
                <a:solidFill>
                  <a:srgbClr val="009DB2"/>
                </a:solidFill>
                <a:latin typeface="Aptos Bold"/>
                <a:ea typeface="Aptos Bold"/>
                <a:cs typeface="Aptos Bold"/>
                <a:sym typeface="Aptos Bold"/>
              </a:rPr>
              <a:t>In short: the project covers the full booking journey - login, doctor search, slot booking, confirmation and records.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24145"/>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6. Literature Survey</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6</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sp>
        <p:nvSpPr>
          <p:cNvPr name="TextBox 12" id="12"/>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grpSp>
        <p:nvGrpSpPr>
          <p:cNvPr name="Group 13" id="13"/>
          <p:cNvGrpSpPr/>
          <p:nvPr/>
        </p:nvGrpSpPr>
        <p:grpSpPr>
          <a:xfrm rot="0">
            <a:off x="1021556" y="1913096"/>
            <a:ext cx="3717608" cy="1180148"/>
            <a:chOff x="0" y="0"/>
            <a:chExt cx="4956810" cy="1573530"/>
          </a:xfrm>
        </p:grpSpPr>
        <p:sp>
          <p:nvSpPr>
            <p:cNvPr name="Freeform 14" id="14"/>
            <p:cNvSpPr/>
            <p:nvPr/>
          </p:nvSpPr>
          <p:spPr>
            <a:xfrm flipH="false" flipV="false" rot="0">
              <a:off x="0" y="0"/>
              <a:ext cx="4956810" cy="1573530"/>
            </a:xfrm>
            <a:custGeom>
              <a:avLst/>
              <a:gdLst/>
              <a:ahLst/>
              <a:cxnLst/>
              <a:rect r="r" b="b" t="t" l="l"/>
              <a:pathLst>
                <a:path h="1573530" w="4956810">
                  <a:moveTo>
                    <a:pt x="0" y="0"/>
                  </a:moveTo>
                  <a:lnTo>
                    <a:pt x="4956810" y="0"/>
                  </a:lnTo>
                  <a:lnTo>
                    <a:pt x="4956810" y="1573530"/>
                  </a:lnTo>
                  <a:lnTo>
                    <a:pt x="0" y="1573530"/>
                  </a:lnTo>
                  <a:close/>
                </a:path>
              </a:pathLst>
            </a:custGeom>
            <a:solidFill>
              <a:srgbClr val="083052"/>
            </a:solidFill>
            <a:ln w="14288" cap="sq">
              <a:solidFill>
                <a:srgbClr val="FFFFFF"/>
              </a:solidFill>
              <a:prstDash val="solid"/>
              <a:miter/>
            </a:ln>
          </p:spPr>
        </p:sp>
      </p:grpSp>
      <p:grpSp>
        <p:nvGrpSpPr>
          <p:cNvPr name="Group 15" id="15"/>
          <p:cNvGrpSpPr/>
          <p:nvPr/>
        </p:nvGrpSpPr>
        <p:grpSpPr>
          <a:xfrm rot="0">
            <a:off x="1069848" y="1975104"/>
            <a:ext cx="3621024" cy="1056132"/>
            <a:chOff x="0" y="0"/>
            <a:chExt cx="4828032" cy="1408176"/>
          </a:xfrm>
        </p:grpSpPr>
        <p:sp>
          <p:nvSpPr>
            <p:cNvPr name="Freeform 16" id="16"/>
            <p:cNvSpPr/>
            <p:nvPr/>
          </p:nvSpPr>
          <p:spPr>
            <a:xfrm flipH="false" flipV="false" rot="0">
              <a:off x="0" y="0"/>
              <a:ext cx="4828032" cy="1408176"/>
            </a:xfrm>
            <a:custGeom>
              <a:avLst/>
              <a:gdLst/>
              <a:ahLst/>
              <a:cxnLst/>
              <a:rect r="r" b="b" t="t" l="l"/>
              <a:pathLst>
                <a:path h="1408176" w="4828032">
                  <a:moveTo>
                    <a:pt x="0" y="0"/>
                  </a:moveTo>
                  <a:lnTo>
                    <a:pt x="4828032" y="0"/>
                  </a:lnTo>
                  <a:lnTo>
                    <a:pt x="4828032" y="1408176"/>
                  </a:lnTo>
                  <a:lnTo>
                    <a:pt x="0" y="1408176"/>
                  </a:lnTo>
                  <a:close/>
                </a:path>
              </a:pathLst>
            </a:custGeom>
            <a:blipFill>
              <a:blip r:embed="rId2">
                <a:alphaModFix amt="0"/>
              </a:blip>
              <a:stretch>
                <a:fillRect l="0" t="-16805" r="0" b="-16805"/>
              </a:stretch>
            </a:blipFill>
          </p:spPr>
        </p:sp>
        <p:sp>
          <p:nvSpPr>
            <p:cNvPr name="TextBox 17" id="17"/>
            <p:cNvSpPr txBox="true"/>
            <p:nvPr/>
          </p:nvSpPr>
          <p:spPr>
            <a:xfrm>
              <a:off x="0" y="0"/>
              <a:ext cx="4828032" cy="1408176"/>
            </a:xfrm>
            <a:prstGeom prst="rect">
              <a:avLst/>
            </a:prstGeom>
          </p:spPr>
          <p:txBody>
            <a:bodyPr anchor="ctr" rtlCol="false" tIns="0" lIns="0" bIns="0" rIns="0"/>
            <a:lstStyle/>
            <a:p>
              <a:pPr algn="ctr">
                <a:lnSpc>
                  <a:spcPts val="1800"/>
                </a:lnSpc>
              </a:pPr>
              <a:r>
                <a:rPr lang="en-US" sz="1500" b="true">
                  <a:solidFill>
                    <a:srgbClr val="FFFFFF"/>
                  </a:solidFill>
                  <a:latin typeface="Aptos Bold"/>
                  <a:ea typeface="Aptos Bold"/>
                  <a:cs typeface="Aptos Bold"/>
                  <a:sym typeface="Aptos Bold"/>
                </a:rPr>
                <a:t>Paper / Year</a:t>
              </a:r>
            </a:p>
          </p:txBody>
        </p:sp>
      </p:grpSp>
      <p:grpSp>
        <p:nvGrpSpPr>
          <p:cNvPr name="Group 18" id="18"/>
          <p:cNvGrpSpPr/>
          <p:nvPr/>
        </p:nvGrpSpPr>
        <p:grpSpPr>
          <a:xfrm rot="0">
            <a:off x="4724876" y="1913096"/>
            <a:ext cx="6872288" cy="1180148"/>
            <a:chOff x="0" y="0"/>
            <a:chExt cx="9163050" cy="1573530"/>
          </a:xfrm>
        </p:grpSpPr>
        <p:sp>
          <p:nvSpPr>
            <p:cNvPr name="Freeform 19" id="19"/>
            <p:cNvSpPr/>
            <p:nvPr/>
          </p:nvSpPr>
          <p:spPr>
            <a:xfrm flipH="false" flipV="false" rot="0">
              <a:off x="0" y="0"/>
              <a:ext cx="9163050" cy="1573530"/>
            </a:xfrm>
            <a:custGeom>
              <a:avLst/>
              <a:gdLst/>
              <a:ahLst/>
              <a:cxnLst/>
              <a:rect r="r" b="b" t="t" l="l"/>
              <a:pathLst>
                <a:path h="1573530" w="9163050">
                  <a:moveTo>
                    <a:pt x="0" y="0"/>
                  </a:moveTo>
                  <a:lnTo>
                    <a:pt x="9163050" y="0"/>
                  </a:lnTo>
                  <a:lnTo>
                    <a:pt x="9163050" y="1573530"/>
                  </a:lnTo>
                  <a:lnTo>
                    <a:pt x="0" y="1573530"/>
                  </a:lnTo>
                  <a:close/>
                </a:path>
              </a:pathLst>
            </a:custGeom>
            <a:solidFill>
              <a:srgbClr val="083052"/>
            </a:solidFill>
            <a:ln w="14288" cap="sq">
              <a:solidFill>
                <a:srgbClr val="FFFFFF"/>
              </a:solidFill>
              <a:prstDash val="solid"/>
              <a:miter/>
            </a:ln>
          </p:spPr>
        </p:sp>
      </p:grpSp>
      <p:grpSp>
        <p:nvGrpSpPr>
          <p:cNvPr name="Group 20" id="20"/>
          <p:cNvGrpSpPr/>
          <p:nvPr/>
        </p:nvGrpSpPr>
        <p:grpSpPr>
          <a:xfrm rot="0">
            <a:off x="4773168" y="1975104"/>
            <a:ext cx="6775704" cy="1056132"/>
            <a:chOff x="0" y="0"/>
            <a:chExt cx="9034272" cy="1408176"/>
          </a:xfrm>
        </p:grpSpPr>
        <p:sp>
          <p:nvSpPr>
            <p:cNvPr name="Freeform 21" id="21"/>
            <p:cNvSpPr/>
            <p:nvPr/>
          </p:nvSpPr>
          <p:spPr>
            <a:xfrm flipH="false" flipV="false" rot="0">
              <a:off x="0" y="0"/>
              <a:ext cx="9034272" cy="1408176"/>
            </a:xfrm>
            <a:custGeom>
              <a:avLst/>
              <a:gdLst/>
              <a:ahLst/>
              <a:cxnLst/>
              <a:rect r="r" b="b" t="t" l="l"/>
              <a:pathLst>
                <a:path h="1408176" w="9034272">
                  <a:moveTo>
                    <a:pt x="0" y="0"/>
                  </a:moveTo>
                  <a:lnTo>
                    <a:pt x="9034272" y="0"/>
                  </a:lnTo>
                  <a:lnTo>
                    <a:pt x="9034272" y="1408176"/>
                  </a:lnTo>
                  <a:lnTo>
                    <a:pt x="0" y="1408176"/>
                  </a:lnTo>
                  <a:close/>
                </a:path>
              </a:pathLst>
            </a:custGeom>
            <a:blipFill>
              <a:blip r:embed="rId2">
                <a:alphaModFix amt="0"/>
              </a:blip>
              <a:stretch>
                <a:fillRect l="0" t="-75007" r="0" b="-75007"/>
              </a:stretch>
            </a:blipFill>
          </p:spPr>
        </p:sp>
        <p:sp>
          <p:nvSpPr>
            <p:cNvPr name="TextBox 22" id="22"/>
            <p:cNvSpPr txBox="true"/>
            <p:nvPr/>
          </p:nvSpPr>
          <p:spPr>
            <a:xfrm>
              <a:off x="0" y="0"/>
              <a:ext cx="9034272" cy="1408176"/>
            </a:xfrm>
            <a:prstGeom prst="rect">
              <a:avLst/>
            </a:prstGeom>
          </p:spPr>
          <p:txBody>
            <a:bodyPr anchor="ctr" rtlCol="false" tIns="0" lIns="0" bIns="0" rIns="0"/>
            <a:lstStyle/>
            <a:p>
              <a:pPr algn="ctr">
                <a:lnSpc>
                  <a:spcPts val="1800"/>
                </a:lnSpc>
              </a:pPr>
              <a:r>
                <a:rPr lang="en-US" sz="1500" b="true">
                  <a:solidFill>
                    <a:srgbClr val="FFFFFF"/>
                  </a:solidFill>
                  <a:latin typeface="Aptos Bold"/>
                  <a:ea typeface="Aptos Bold"/>
                  <a:cs typeface="Aptos Bold"/>
                  <a:sym typeface="Aptos Bold"/>
                </a:rPr>
                <a:t>Approach / Key Finding</a:t>
              </a:r>
            </a:p>
          </p:txBody>
        </p:sp>
      </p:grpSp>
      <p:grpSp>
        <p:nvGrpSpPr>
          <p:cNvPr name="Group 23" id="23"/>
          <p:cNvGrpSpPr/>
          <p:nvPr/>
        </p:nvGrpSpPr>
        <p:grpSpPr>
          <a:xfrm rot="0">
            <a:off x="11582876" y="1913096"/>
            <a:ext cx="5637847" cy="1180148"/>
            <a:chOff x="0" y="0"/>
            <a:chExt cx="7517130" cy="1573530"/>
          </a:xfrm>
        </p:grpSpPr>
        <p:sp>
          <p:nvSpPr>
            <p:cNvPr name="Freeform 24" id="24"/>
            <p:cNvSpPr/>
            <p:nvPr/>
          </p:nvSpPr>
          <p:spPr>
            <a:xfrm flipH="false" flipV="false" rot="0">
              <a:off x="0" y="0"/>
              <a:ext cx="7517130" cy="1573530"/>
            </a:xfrm>
            <a:custGeom>
              <a:avLst/>
              <a:gdLst/>
              <a:ahLst/>
              <a:cxnLst/>
              <a:rect r="r" b="b" t="t" l="l"/>
              <a:pathLst>
                <a:path h="1573530" w="7517130">
                  <a:moveTo>
                    <a:pt x="0" y="0"/>
                  </a:moveTo>
                  <a:lnTo>
                    <a:pt x="7517130" y="0"/>
                  </a:lnTo>
                  <a:lnTo>
                    <a:pt x="7517130" y="1573530"/>
                  </a:lnTo>
                  <a:lnTo>
                    <a:pt x="0" y="1573530"/>
                  </a:lnTo>
                  <a:close/>
                </a:path>
              </a:pathLst>
            </a:custGeom>
            <a:solidFill>
              <a:srgbClr val="083052"/>
            </a:solidFill>
            <a:ln w="14288" cap="sq">
              <a:solidFill>
                <a:srgbClr val="FFFFFF"/>
              </a:solidFill>
              <a:prstDash val="solid"/>
              <a:miter/>
            </a:ln>
          </p:spPr>
        </p:sp>
      </p:grpSp>
      <p:grpSp>
        <p:nvGrpSpPr>
          <p:cNvPr name="Group 25" id="25"/>
          <p:cNvGrpSpPr/>
          <p:nvPr/>
        </p:nvGrpSpPr>
        <p:grpSpPr>
          <a:xfrm rot="0">
            <a:off x="11631168" y="1975104"/>
            <a:ext cx="5541264" cy="1056132"/>
            <a:chOff x="0" y="0"/>
            <a:chExt cx="7388352" cy="1408176"/>
          </a:xfrm>
        </p:grpSpPr>
        <p:sp>
          <p:nvSpPr>
            <p:cNvPr name="Freeform 26" id="26"/>
            <p:cNvSpPr/>
            <p:nvPr/>
          </p:nvSpPr>
          <p:spPr>
            <a:xfrm flipH="false" flipV="false" rot="0">
              <a:off x="0" y="0"/>
              <a:ext cx="7388352" cy="1408176"/>
            </a:xfrm>
            <a:custGeom>
              <a:avLst/>
              <a:gdLst/>
              <a:ahLst/>
              <a:cxnLst/>
              <a:rect r="r" b="b" t="t" l="l"/>
              <a:pathLst>
                <a:path h="1408176" w="7388352">
                  <a:moveTo>
                    <a:pt x="0" y="0"/>
                  </a:moveTo>
                  <a:lnTo>
                    <a:pt x="7388352" y="0"/>
                  </a:lnTo>
                  <a:lnTo>
                    <a:pt x="7388352" y="1408176"/>
                  </a:lnTo>
                  <a:lnTo>
                    <a:pt x="0" y="1408176"/>
                  </a:lnTo>
                  <a:close/>
                </a:path>
              </a:pathLst>
            </a:custGeom>
            <a:blipFill>
              <a:blip r:embed="rId2">
                <a:alphaModFix amt="0"/>
              </a:blip>
              <a:stretch>
                <a:fillRect l="0" t="-52233" r="0" b="-52233"/>
              </a:stretch>
            </a:blipFill>
          </p:spPr>
        </p:sp>
        <p:sp>
          <p:nvSpPr>
            <p:cNvPr name="TextBox 27" id="27"/>
            <p:cNvSpPr txBox="true"/>
            <p:nvPr/>
          </p:nvSpPr>
          <p:spPr>
            <a:xfrm>
              <a:off x="0" y="0"/>
              <a:ext cx="7388352" cy="1408176"/>
            </a:xfrm>
            <a:prstGeom prst="rect">
              <a:avLst/>
            </a:prstGeom>
          </p:spPr>
          <p:txBody>
            <a:bodyPr anchor="ctr" rtlCol="false" tIns="0" lIns="0" bIns="0" rIns="0"/>
            <a:lstStyle/>
            <a:p>
              <a:pPr algn="ctr">
                <a:lnSpc>
                  <a:spcPts val="1800"/>
                </a:lnSpc>
              </a:pPr>
              <a:r>
                <a:rPr lang="en-US" sz="1500" b="true">
                  <a:solidFill>
                    <a:srgbClr val="FFFFFF"/>
                  </a:solidFill>
                  <a:latin typeface="Aptos Bold"/>
                  <a:ea typeface="Aptos Bold"/>
                  <a:cs typeface="Aptos Bold"/>
                  <a:sym typeface="Aptos Bold"/>
                </a:rPr>
                <a:t>Limitation / Gap</a:t>
              </a:r>
            </a:p>
          </p:txBody>
        </p:sp>
      </p:grpSp>
      <p:grpSp>
        <p:nvGrpSpPr>
          <p:cNvPr name="Group 28" id="28"/>
          <p:cNvGrpSpPr/>
          <p:nvPr/>
        </p:nvGrpSpPr>
        <p:grpSpPr>
          <a:xfrm rot="0">
            <a:off x="1021556" y="3078956"/>
            <a:ext cx="3717608" cy="1180148"/>
            <a:chOff x="0" y="0"/>
            <a:chExt cx="4956810" cy="1573530"/>
          </a:xfrm>
        </p:grpSpPr>
        <p:sp>
          <p:nvSpPr>
            <p:cNvPr name="Freeform 29" id="29"/>
            <p:cNvSpPr/>
            <p:nvPr/>
          </p:nvSpPr>
          <p:spPr>
            <a:xfrm flipH="false" flipV="false" rot="0">
              <a:off x="0" y="0"/>
              <a:ext cx="4956810" cy="1573530"/>
            </a:xfrm>
            <a:custGeom>
              <a:avLst/>
              <a:gdLst/>
              <a:ahLst/>
              <a:cxnLst/>
              <a:rect r="r" b="b" t="t" l="l"/>
              <a:pathLst>
                <a:path h="1573530" w="4956810">
                  <a:moveTo>
                    <a:pt x="0" y="0"/>
                  </a:moveTo>
                  <a:lnTo>
                    <a:pt x="4956810" y="0"/>
                  </a:lnTo>
                  <a:lnTo>
                    <a:pt x="4956810" y="1573530"/>
                  </a:lnTo>
                  <a:lnTo>
                    <a:pt x="0" y="1573530"/>
                  </a:lnTo>
                  <a:close/>
                </a:path>
              </a:pathLst>
            </a:custGeom>
            <a:solidFill>
              <a:srgbClr val="FFFFFF"/>
            </a:solidFill>
            <a:ln w="14288" cap="sq">
              <a:solidFill>
                <a:srgbClr val="CDDEE8"/>
              </a:solidFill>
              <a:prstDash val="solid"/>
              <a:miter/>
            </a:ln>
          </p:spPr>
        </p:sp>
      </p:grpSp>
      <p:grpSp>
        <p:nvGrpSpPr>
          <p:cNvPr name="Group 30" id="30"/>
          <p:cNvGrpSpPr/>
          <p:nvPr/>
        </p:nvGrpSpPr>
        <p:grpSpPr>
          <a:xfrm rot="0">
            <a:off x="1083564" y="3127248"/>
            <a:ext cx="3593592" cy="1083564"/>
            <a:chOff x="0" y="0"/>
            <a:chExt cx="4791456" cy="1444752"/>
          </a:xfrm>
        </p:grpSpPr>
        <p:sp>
          <p:nvSpPr>
            <p:cNvPr name="Freeform 31" id="31"/>
            <p:cNvSpPr/>
            <p:nvPr/>
          </p:nvSpPr>
          <p:spPr>
            <a:xfrm flipH="false" flipV="false" rot="0">
              <a:off x="0" y="0"/>
              <a:ext cx="4791456" cy="1444752"/>
            </a:xfrm>
            <a:custGeom>
              <a:avLst/>
              <a:gdLst/>
              <a:ahLst/>
              <a:cxnLst/>
              <a:rect r="r" b="b" t="t" l="l"/>
              <a:pathLst>
                <a:path h="1444752" w="4791456">
                  <a:moveTo>
                    <a:pt x="0" y="0"/>
                  </a:moveTo>
                  <a:lnTo>
                    <a:pt x="4791456" y="0"/>
                  </a:lnTo>
                  <a:lnTo>
                    <a:pt x="4791456" y="1444752"/>
                  </a:lnTo>
                  <a:lnTo>
                    <a:pt x="0" y="1444752"/>
                  </a:lnTo>
                  <a:close/>
                </a:path>
              </a:pathLst>
            </a:custGeom>
            <a:blipFill>
              <a:blip r:embed="rId2">
                <a:alphaModFix amt="0"/>
              </a:blip>
              <a:stretch>
                <a:fillRect l="0" t="-14621" r="0" b="-14621"/>
              </a:stretch>
            </a:blipFill>
          </p:spPr>
        </p:sp>
        <p:sp>
          <p:nvSpPr>
            <p:cNvPr name="TextBox 32" id="32"/>
            <p:cNvSpPr txBox="true"/>
            <p:nvPr/>
          </p:nvSpPr>
          <p:spPr>
            <a:xfrm>
              <a:off x="0" y="0"/>
              <a:ext cx="479145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Online Doctor Appointment System (2020)</a:t>
              </a:r>
            </a:p>
          </p:txBody>
        </p:sp>
      </p:grpSp>
      <p:grpSp>
        <p:nvGrpSpPr>
          <p:cNvPr name="Group 33" id="33"/>
          <p:cNvGrpSpPr/>
          <p:nvPr/>
        </p:nvGrpSpPr>
        <p:grpSpPr>
          <a:xfrm rot="0">
            <a:off x="4724876" y="3078956"/>
            <a:ext cx="6872288" cy="1180148"/>
            <a:chOff x="0" y="0"/>
            <a:chExt cx="9163050" cy="1573530"/>
          </a:xfrm>
        </p:grpSpPr>
        <p:sp>
          <p:nvSpPr>
            <p:cNvPr name="Freeform 34" id="34"/>
            <p:cNvSpPr/>
            <p:nvPr/>
          </p:nvSpPr>
          <p:spPr>
            <a:xfrm flipH="false" flipV="false" rot="0">
              <a:off x="0" y="0"/>
              <a:ext cx="9163050" cy="1573530"/>
            </a:xfrm>
            <a:custGeom>
              <a:avLst/>
              <a:gdLst/>
              <a:ahLst/>
              <a:cxnLst/>
              <a:rect r="r" b="b" t="t" l="l"/>
              <a:pathLst>
                <a:path h="1573530" w="9163050">
                  <a:moveTo>
                    <a:pt x="0" y="0"/>
                  </a:moveTo>
                  <a:lnTo>
                    <a:pt x="9163050" y="0"/>
                  </a:lnTo>
                  <a:lnTo>
                    <a:pt x="9163050" y="1573530"/>
                  </a:lnTo>
                  <a:lnTo>
                    <a:pt x="0" y="1573530"/>
                  </a:lnTo>
                  <a:close/>
                </a:path>
              </a:pathLst>
            </a:custGeom>
            <a:solidFill>
              <a:srgbClr val="FFFFFF"/>
            </a:solidFill>
            <a:ln w="14288" cap="sq">
              <a:solidFill>
                <a:srgbClr val="CDDEE8"/>
              </a:solidFill>
              <a:prstDash val="solid"/>
              <a:miter/>
            </a:ln>
          </p:spPr>
        </p:sp>
      </p:grpSp>
      <p:grpSp>
        <p:nvGrpSpPr>
          <p:cNvPr name="Group 35" id="35"/>
          <p:cNvGrpSpPr/>
          <p:nvPr/>
        </p:nvGrpSpPr>
        <p:grpSpPr>
          <a:xfrm rot="0">
            <a:off x="4786884" y="3127248"/>
            <a:ext cx="6748272" cy="1083564"/>
            <a:chOff x="0" y="0"/>
            <a:chExt cx="8997696" cy="1444752"/>
          </a:xfrm>
        </p:grpSpPr>
        <p:sp>
          <p:nvSpPr>
            <p:cNvPr name="Freeform 36" id="36"/>
            <p:cNvSpPr/>
            <p:nvPr/>
          </p:nvSpPr>
          <p:spPr>
            <a:xfrm flipH="false" flipV="false" rot="0">
              <a:off x="0" y="0"/>
              <a:ext cx="8997696" cy="1444752"/>
            </a:xfrm>
            <a:custGeom>
              <a:avLst/>
              <a:gdLst/>
              <a:ahLst/>
              <a:cxnLst/>
              <a:rect r="r" b="b" t="t" l="l"/>
              <a:pathLst>
                <a:path h="1444752" w="8997696">
                  <a:moveTo>
                    <a:pt x="0" y="0"/>
                  </a:moveTo>
                  <a:lnTo>
                    <a:pt x="8997696" y="0"/>
                  </a:lnTo>
                  <a:lnTo>
                    <a:pt x="8997696" y="1444752"/>
                  </a:lnTo>
                  <a:lnTo>
                    <a:pt x="0" y="1444752"/>
                  </a:lnTo>
                  <a:close/>
                </a:path>
              </a:pathLst>
            </a:custGeom>
            <a:blipFill>
              <a:blip r:embed="rId2">
                <a:alphaModFix amt="0"/>
              </a:blip>
              <a:stretch>
                <a:fillRect l="0" t="-71349" r="0" b="-71349"/>
              </a:stretch>
            </a:blipFill>
          </p:spPr>
        </p:sp>
        <p:sp>
          <p:nvSpPr>
            <p:cNvPr name="TextBox 37" id="37"/>
            <p:cNvSpPr txBox="true"/>
            <p:nvPr/>
          </p:nvSpPr>
          <p:spPr>
            <a:xfrm>
              <a:off x="0" y="0"/>
              <a:ext cx="899769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Web page where patients can request an appointment</a:t>
              </a:r>
            </a:p>
          </p:txBody>
        </p:sp>
      </p:grpSp>
      <p:grpSp>
        <p:nvGrpSpPr>
          <p:cNvPr name="Group 38" id="38"/>
          <p:cNvGrpSpPr/>
          <p:nvPr/>
        </p:nvGrpSpPr>
        <p:grpSpPr>
          <a:xfrm rot="0">
            <a:off x="11582876" y="3078956"/>
            <a:ext cx="5637847" cy="1180148"/>
            <a:chOff x="0" y="0"/>
            <a:chExt cx="7517130" cy="1573530"/>
          </a:xfrm>
        </p:grpSpPr>
        <p:sp>
          <p:nvSpPr>
            <p:cNvPr name="Freeform 39" id="39"/>
            <p:cNvSpPr/>
            <p:nvPr/>
          </p:nvSpPr>
          <p:spPr>
            <a:xfrm flipH="false" flipV="false" rot="0">
              <a:off x="0" y="0"/>
              <a:ext cx="7517130" cy="1573530"/>
            </a:xfrm>
            <a:custGeom>
              <a:avLst/>
              <a:gdLst/>
              <a:ahLst/>
              <a:cxnLst/>
              <a:rect r="r" b="b" t="t" l="l"/>
              <a:pathLst>
                <a:path h="1573530" w="7517130">
                  <a:moveTo>
                    <a:pt x="0" y="0"/>
                  </a:moveTo>
                  <a:lnTo>
                    <a:pt x="7517130" y="0"/>
                  </a:lnTo>
                  <a:lnTo>
                    <a:pt x="7517130" y="1573530"/>
                  </a:lnTo>
                  <a:lnTo>
                    <a:pt x="0" y="1573530"/>
                  </a:lnTo>
                  <a:close/>
                </a:path>
              </a:pathLst>
            </a:custGeom>
            <a:solidFill>
              <a:srgbClr val="FFFFFF"/>
            </a:solidFill>
            <a:ln w="14288" cap="sq">
              <a:solidFill>
                <a:srgbClr val="CDDEE8"/>
              </a:solidFill>
              <a:prstDash val="solid"/>
              <a:miter/>
            </a:ln>
          </p:spPr>
        </p:sp>
      </p:grpSp>
      <p:grpSp>
        <p:nvGrpSpPr>
          <p:cNvPr name="Group 40" id="40"/>
          <p:cNvGrpSpPr/>
          <p:nvPr/>
        </p:nvGrpSpPr>
        <p:grpSpPr>
          <a:xfrm rot="0">
            <a:off x="11644884" y="3127248"/>
            <a:ext cx="5513832" cy="1083564"/>
            <a:chOff x="0" y="0"/>
            <a:chExt cx="7351776" cy="1444752"/>
          </a:xfrm>
        </p:grpSpPr>
        <p:sp>
          <p:nvSpPr>
            <p:cNvPr name="Freeform 41" id="41"/>
            <p:cNvSpPr/>
            <p:nvPr/>
          </p:nvSpPr>
          <p:spPr>
            <a:xfrm flipH="false" flipV="false" rot="0">
              <a:off x="0" y="0"/>
              <a:ext cx="7351774" cy="1444752"/>
            </a:xfrm>
            <a:custGeom>
              <a:avLst/>
              <a:gdLst/>
              <a:ahLst/>
              <a:cxnLst/>
              <a:rect r="r" b="b" t="t" l="l"/>
              <a:pathLst>
                <a:path h="1444752" w="7351774">
                  <a:moveTo>
                    <a:pt x="0" y="0"/>
                  </a:moveTo>
                  <a:lnTo>
                    <a:pt x="7351774" y="0"/>
                  </a:lnTo>
                  <a:lnTo>
                    <a:pt x="7351774" y="1444752"/>
                  </a:lnTo>
                  <a:lnTo>
                    <a:pt x="0" y="1444752"/>
                  </a:lnTo>
                  <a:close/>
                </a:path>
              </a:pathLst>
            </a:custGeom>
            <a:blipFill>
              <a:blip r:embed="rId2">
                <a:alphaModFix amt="0"/>
              </a:blip>
              <a:stretch>
                <a:fillRect l="0" t="-49151" r="0" b="-49151"/>
              </a:stretch>
            </a:blipFill>
          </p:spPr>
        </p:sp>
        <p:sp>
          <p:nvSpPr>
            <p:cNvPr name="TextBox 42" id="42"/>
            <p:cNvSpPr txBox="true"/>
            <p:nvPr/>
          </p:nvSpPr>
          <p:spPr>
            <a:xfrm>
              <a:off x="0" y="0"/>
              <a:ext cx="735177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Doctor availability is not updated live</a:t>
              </a:r>
            </a:p>
          </p:txBody>
        </p:sp>
      </p:grpSp>
      <p:grpSp>
        <p:nvGrpSpPr>
          <p:cNvPr name="Group 43" id="43"/>
          <p:cNvGrpSpPr/>
          <p:nvPr/>
        </p:nvGrpSpPr>
        <p:grpSpPr>
          <a:xfrm rot="0">
            <a:off x="1021556" y="4244816"/>
            <a:ext cx="3717608" cy="1180148"/>
            <a:chOff x="0" y="0"/>
            <a:chExt cx="4956810" cy="1573530"/>
          </a:xfrm>
        </p:grpSpPr>
        <p:sp>
          <p:nvSpPr>
            <p:cNvPr name="Freeform 44" id="44"/>
            <p:cNvSpPr/>
            <p:nvPr/>
          </p:nvSpPr>
          <p:spPr>
            <a:xfrm flipH="false" flipV="false" rot="0">
              <a:off x="0" y="0"/>
              <a:ext cx="4956810" cy="1573530"/>
            </a:xfrm>
            <a:custGeom>
              <a:avLst/>
              <a:gdLst/>
              <a:ahLst/>
              <a:cxnLst/>
              <a:rect r="r" b="b" t="t" l="l"/>
              <a:pathLst>
                <a:path h="1573530" w="4956810">
                  <a:moveTo>
                    <a:pt x="0" y="0"/>
                  </a:moveTo>
                  <a:lnTo>
                    <a:pt x="4956810" y="0"/>
                  </a:lnTo>
                  <a:lnTo>
                    <a:pt x="4956810" y="1573530"/>
                  </a:lnTo>
                  <a:lnTo>
                    <a:pt x="0" y="1573530"/>
                  </a:lnTo>
                  <a:close/>
                </a:path>
              </a:pathLst>
            </a:custGeom>
            <a:solidFill>
              <a:srgbClr val="FFFFFF"/>
            </a:solidFill>
            <a:ln w="14288" cap="sq">
              <a:solidFill>
                <a:srgbClr val="CDDEE8"/>
              </a:solidFill>
              <a:prstDash val="solid"/>
              <a:miter/>
            </a:ln>
          </p:spPr>
        </p:sp>
      </p:grpSp>
      <p:grpSp>
        <p:nvGrpSpPr>
          <p:cNvPr name="Group 45" id="45"/>
          <p:cNvGrpSpPr/>
          <p:nvPr/>
        </p:nvGrpSpPr>
        <p:grpSpPr>
          <a:xfrm rot="0">
            <a:off x="1083564" y="4293108"/>
            <a:ext cx="3593592" cy="1083564"/>
            <a:chOff x="0" y="0"/>
            <a:chExt cx="4791456" cy="1444752"/>
          </a:xfrm>
        </p:grpSpPr>
        <p:sp>
          <p:nvSpPr>
            <p:cNvPr name="Freeform 46" id="46"/>
            <p:cNvSpPr/>
            <p:nvPr/>
          </p:nvSpPr>
          <p:spPr>
            <a:xfrm flipH="false" flipV="false" rot="0">
              <a:off x="0" y="0"/>
              <a:ext cx="4791456" cy="1444752"/>
            </a:xfrm>
            <a:custGeom>
              <a:avLst/>
              <a:gdLst/>
              <a:ahLst/>
              <a:cxnLst/>
              <a:rect r="r" b="b" t="t" l="l"/>
              <a:pathLst>
                <a:path h="1444752" w="4791456">
                  <a:moveTo>
                    <a:pt x="0" y="0"/>
                  </a:moveTo>
                  <a:lnTo>
                    <a:pt x="4791456" y="0"/>
                  </a:lnTo>
                  <a:lnTo>
                    <a:pt x="4791456" y="1444752"/>
                  </a:lnTo>
                  <a:lnTo>
                    <a:pt x="0" y="1444752"/>
                  </a:lnTo>
                  <a:close/>
                </a:path>
              </a:pathLst>
            </a:custGeom>
            <a:blipFill>
              <a:blip r:embed="rId2">
                <a:alphaModFix amt="0"/>
              </a:blip>
              <a:stretch>
                <a:fillRect l="0" t="-14621" r="0" b="-14621"/>
              </a:stretch>
            </a:blipFill>
          </p:spPr>
        </p:sp>
        <p:sp>
          <p:nvSpPr>
            <p:cNvPr name="TextBox 47" id="47"/>
            <p:cNvSpPr txBox="true"/>
            <p:nvPr/>
          </p:nvSpPr>
          <p:spPr>
            <a:xfrm>
              <a:off x="0" y="0"/>
              <a:ext cx="479145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Hospital Management System (2021)</a:t>
              </a:r>
            </a:p>
          </p:txBody>
        </p:sp>
      </p:grpSp>
      <p:grpSp>
        <p:nvGrpSpPr>
          <p:cNvPr name="Group 48" id="48"/>
          <p:cNvGrpSpPr/>
          <p:nvPr/>
        </p:nvGrpSpPr>
        <p:grpSpPr>
          <a:xfrm rot="0">
            <a:off x="4724876" y="4244816"/>
            <a:ext cx="6872288" cy="1180148"/>
            <a:chOff x="0" y="0"/>
            <a:chExt cx="9163050" cy="1573530"/>
          </a:xfrm>
        </p:grpSpPr>
        <p:sp>
          <p:nvSpPr>
            <p:cNvPr name="Freeform 49" id="49"/>
            <p:cNvSpPr/>
            <p:nvPr/>
          </p:nvSpPr>
          <p:spPr>
            <a:xfrm flipH="false" flipV="false" rot="0">
              <a:off x="0" y="0"/>
              <a:ext cx="9163050" cy="1573530"/>
            </a:xfrm>
            <a:custGeom>
              <a:avLst/>
              <a:gdLst/>
              <a:ahLst/>
              <a:cxnLst/>
              <a:rect r="r" b="b" t="t" l="l"/>
              <a:pathLst>
                <a:path h="1573530" w="9163050">
                  <a:moveTo>
                    <a:pt x="0" y="0"/>
                  </a:moveTo>
                  <a:lnTo>
                    <a:pt x="9163050" y="0"/>
                  </a:lnTo>
                  <a:lnTo>
                    <a:pt x="9163050" y="1573530"/>
                  </a:lnTo>
                  <a:lnTo>
                    <a:pt x="0" y="1573530"/>
                  </a:lnTo>
                  <a:close/>
                </a:path>
              </a:pathLst>
            </a:custGeom>
            <a:solidFill>
              <a:srgbClr val="FFFFFF"/>
            </a:solidFill>
            <a:ln w="14288" cap="sq">
              <a:solidFill>
                <a:srgbClr val="CDDEE8"/>
              </a:solidFill>
              <a:prstDash val="solid"/>
              <a:miter/>
            </a:ln>
          </p:spPr>
        </p:sp>
      </p:grpSp>
      <p:grpSp>
        <p:nvGrpSpPr>
          <p:cNvPr name="Group 50" id="50"/>
          <p:cNvGrpSpPr/>
          <p:nvPr/>
        </p:nvGrpSpPr>
        <p:grpSpPr>
          <a:xfrm rot="0">
            <a:off x="4786884" y="4293108"/>
            <a:ext cx="6748272" cy="1083564"/>
            <a:chOff x="0" y="0"/>
            <a:chExt cx="8997696" cy="1444752"/>
          </a:xfrm>
        </p:grpSpPr>
        <p:sp>
          <p:nvSpPr>
            <p:cNvPr name="Freeform 51" id="51"/>
            <p:cNvSpPr/>
            <p:nvPr/>
          </p:nvSpPr>
          <p:spPr>
            <a:xfrm flipH="false" flipV="false" rot="0">
              <a:off x="0" y="0"/>
              <a:ext cx="8997696" cy="1444752"/>
            </a:xfrm>
            <a:custGeom>
              <a:avLst/>
              <a:gdLst/>
              <a:ahLst/>
              <a:cxnLst/>
              <a:rect r="r" b="b" t="t" l="l"/>
              <a:pathLst>
                <a:path h="1444752" w="8997696">
                  <a:moveTo>
                    <a:pt x="0" y="0"/>
                  </a:moveTo>
                  <a:lnTo>
                    <a:pt x="8997696" y="0"/>
                  </a:lnTo>
                  <a:lnTo>
                    <a:pt x="8997696" y="1444752"/>
                  </a:lnTo>
                  <a:lnTo>
                    <a:pt x="0" y="1444752"/>
                  </a:lnTo>
                  <a:close/>
                </a:path>
              </a:pathLst>
            </a:custGeom>
            <a:blipFill>
              <a:blip r:embed="rId2">
                <a:alphaModFix amt="0"/>
              </a:blip>
              <a:stretch>
                <a:fillRect l="0" t="-71349" r="0" b="-71349"/>
              </a:stretch>
            </a:blipFill>
          </p:spPr>
        </p:sp>
        <p:sp>
          <p:nvSpPr>
            <p:cNvPr name="TextBox 52" id="52"/>
            <p:cNvSpPr txBox="true"/>
            <p:nvPr/>
          </p:nvSpPr>
          <p:spPr>
            <a:xfrm>
              <a:off x="0" y="0"/>
              <a:ext cx="899769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Stores patient, doctor and visit records</a:t>
              </a:r>
            </a:p>
          </p:txBody>
        </p:sp>
      </p:grpSp>
      <p:grpSp>
        <p:nvGrpSpPr>
          <p:cNvPr name="Group 53" id="53"/>
          <p:cNvGrpSpPr/>
          <p:nvPr/>
        </p:nvGrpSpPr>
        <p:grpSpPr>
          <a:xfrm rot="0">
            <a:off x="11582876" y="4244816"/>
            <a:ext cx="5637847" cy="1180148"/>
            <a:chOff x="0" y="0"/>
            <a:chExt cx="7517130" cy="1573530"/>
          </a:xfrm>
        </p:grpSpPr>
        <p:sp>
          <p:nvSpPr>
            <p:cNvPr name="Freeform 54" id="54"/>
            <p:cNvSpPr/>
            <p:nvPr/>
          </p:nvSpPr>
          <p:spPr>
            <a:xfrm flipH="false" flipV="false" rot="0">
              <a:off x="0" y="0"/>
              <a:ext cx="7517130" cy="1573530"/>
            </a:xfrm>
            <a:custGeom>
              <a:avLst/>
              <a:gdLst/>
              <a:ahLst/>
              <a:cxnLst/>
              <a:rect r="r" b="b" t="t" l="l"/>
              <a:pathLst>
                <a:path h="1573530" w="7517130">
                  <a:moveTo>
                    <a:pt x="0" y="0"/>
                  </a:moveTo>
                  <a:lnTo>
                    <a:pt x="7517130" y="0"/>
                  </a:lnTo>
                  <a:lnTo>
                    <a:pt x="7517130" y="1573530"/>
                  </a:lnTo>
                  <a:lnTo>
                    <a:pt x="0" y="1573530"/>
                  </a:lnTo>
                  <a:close/>
                </a:path>
              </a:pathLst>
            </a:custGeom>
            <a:solidFill>
              <a:srgbClr val="FFFFFF"/>
            </a:solidFill>
            <a:ln w="14288" cap="sq">
              <a:solidFill>
                <a:srgbClr val="CDDEE8"/>
              </a:solidFill>
              <a:prstDash val="solid"/>
              <a:miter/>
            </a:ln>
          </p:spPr>
        </p:sp>
      </p:grpSp>
      <p:grpSp>
        <p:nvGrpSpPr>
          <p:cNvPr name="Group 55" id="55"/>
          <p:cNvGrpSpPr/>
          <p:nvPr/>
        </p:nvGrpSpPr>
        <p:grpSpPr>
          <a:xfrm rot="0">
            <a:off x="11644884" y="4293108"/>
            <a:ext cx="5513832" cy="1083564"/>
            <a:chOff x="0" y="0"/>
            <a:chExt cx="7351776" cy="1444752"/>
          </a:xfrm>
        </p:grpSpPr>
        <p:sp>
          <p:nvSpPr>
            <p:cNvPr name="Freeform 56" id="56"/>
            <p:cNvSpPr/>
            <p:nvPr/>
          </p:nvSpPr>
          <p:spPr>
            <a:xfrm flipH="false" flipV="false" rot="0">
              <a:off x="0" y="0"/>
              <a:ext cx="7351774" cy="1444752"/>
            </a:xfrm>
            <a:custGeom>
              <a:avLst/>
              <a:gdLst/>
              <a:ahLst/>
              <a:cxnLst/>
              <a:rect r="r" b="b" t="t" l="l"/>
              <a:pathLst>
                <a:path h="1444752" w="7351774">
                  <a:moveTo>
                    <a:pt x="0" y="0"/>
                  </a:moveTo>
                  <a:lnTo>
                    <a:pt x="7351774" y="0"/>
                  </a:lnTo>
                  <a:lnTo>
                    <a:pt x="7351774" y="1444752"/>
                  </a:lnTo>
                  <a:lnTo>
                    <a:pt x="0" y="1444752"/>
                  </a:lnTo>
                  <a:close/>
                </a:path>
              </a:pathLst>
            </a:custGeom>
            <a:blipFill>
              <a:blip r:embed="rId2">
                <a:alphaModFix amt="0"/>
              </a:blip>
              <a:stretch>
                <a:fillRect l="0" t="-49151" r="0" b="-49151"/>
              </a:stretch>
            </a:blipFill>
          </p:spPr>
        </p:sp>
        <p:sp>
          <p:nvSpPr>
            <p:cNvPr name="TextBox 57" id="57"/>
            <p:cNvSpPr txBox="true"/>
            <p:nvPr/>
          </p:nvSpPr>
          <p:spPr>
            <a:xfrm>
              <a:off x="0" y="0"/>
              <a:ext cx="735177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Booking is done by staff, not by the patient</a:t>
              </a:r>
            </a:p>
          </p:txBody>
        </p:sp>
      </p:grpSp>
      <p:grpSp>
        <p:nvGrpSpPr>
          <p:cNvPr name="Group 58" id="58"/>
          <p:cNvGrpSpPr/>
          <p:nvPr/>
        </p:nvGrpSpPr>
        <p:grpSpPr>
          <a:xfrm rot="0">
            <a:off x="1021556" y="5410676"/>
            <a:ext cx="3717608" cy="1180148"/>
            <a:chOff x="0" y="0"/>
            <a:chExt cx="4956810" cy="1573530"/>
          </a:xfrm>
        </p:grpSpPr>
        <p:sp>
          <p:nvSpPr>
            <p:cNvPr name="Freeform 59" id="59"/>
            <p:cNvSpPr/>
            <p:nvPr/>
          </p:nvSpPr>
          <p:spPr>
            <a:xfrm flipH="false" flipV="false" rot="0">
              <a:off x="0" y="0"/>
              <a:ext cx="4956810" cy="1573530"/>
            </a:xfrm>
            <a:custGeom>
              <a:avLst/>
              <a:gdLst/>
              <a:ahLst/>
              <a:cxnLst/>
              <a:rect r="r" b="b" t="t" l="l"/>
              <a:pathLst>
                <a:path h="1573530" w="4956810">
                  <a:moveTo>
                    <a:pt x="0" y="0"/>
                  </a:moveTo>
                  <a:lnTo>
                    <a:pt x="4956810" y="0"/>
                  </a:lnTo>
                  <a:lnTo>
                    <a:pt x="4956810" y="1573530"/>
                  </a:lnTo>
                  <a:lnTo>
                    <a:pt x="0" y="1573530"/>
                  </a:lnTo>
                  <a:close/>
                </a:path>
              </a:pathLst>
            </a:custGeom>
            <a:solidFill>
              <a:srgbClr val="FFFFFF"/>
            </a:solidFill>
            <a:ln w="14288" cap="sq">
              <a:solidFill>
                <a:srgbClr val="CDDEE8"/>
              </a:solidFill>
              <a:prstDash val="solid"/>
              <a:miter/>
            </a:ln>
          </p:spPr>
        </p:sp>
      </p:grpSp>
      <p:grpSp>
        <p:nvGrpSpPr>
          <p:cNvPr name="Group 60" id="60"/>
          <p:cNvGrpSpPr/>
          <p:nvPr/>
        </p:nvGrpSpPr>
        <p:grpSpPr>
          <a:xfrm rot="0">
            <a:off x="1083564" y="5458968"/>
            <a:ext cx="3593592" cy="1083564"/>
            <a:chOff x="0" y="0"/>
            <a:chExt cx="4791456" cy="1444752"/>
          </a:xfrm>
        </p:grpSpPr>
        <p:sp>
          <p:nvSpPr>
            <p:cNvPr name="Freeform 61" id="61"/>
            <p:cNvSpPr/>
            <p:nvPr/>
          </p:nvSpPr>
          <p:spPr>
            <a:xfrm flipH="false" flipV="false" rot="0">
              <a:off x="0" y="0"/>
              <a:ext cx="4791456" cy="1444752"/>
            </a:xfrm>
            <a:custGeom>
              <a:avLst/>
              <a:gdLst/>
              <a:ahLst/>
              <a:cxnLst/>
              <a:rect r="r" b="b" t="t" l="l"/>
              <a:pathLst>
                <a:path h="1444752" w="4791456">
                  <a:moveTo>
                    <a:pt x="0" y="0"/>
                  </a:moveTo>
                  <a:lnTo>
                    <a:pt x="4791456" y="0"/>
                  </a:lnTo>
                  <a:lnTo>
                    <a:pt x="4791456" y="1444752"/>
                  </a:lnTo>
                  <a:lnTo>
                    <a:pt x="0" y="1444752"/>
                  </a:lnTo>
                  <a:close/>
                </a:path>
              </a:pathLst>
            </a:custGeom>
            <a:blipFill>
              <a:blip r:embed="rId2">
                <a:alphaModFix amt="0"/>
              </a:blip>
              <a:stretch>
                <a:fillRect l="0" t="-14621" r="0" b="-14621"/>
              </a:stretch>
            </a:blipFill>
          </p:spPr>
        </p:sp>
        <p:sp>
          <p:nvSpPr>
            <p:cNvPr name="TextBox 62" id="62"/>
            <p:cNvSpPr txBox="true"/>
            <p:nvPr/>
          </p:nvSpPr>
          <p:spPr>
            <a:xfrm>
              <a:off x="0" y="0"/>
              <a:ext cx="479145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Smart Healthcare Booking App (2022)</a:t>
              </a:r>
            </a:p>
          </p:txBody>
        </p:sp>
      </p:grpSp>
      <p:grpSp>
        <p:nvGrpSpPr>
          <p:cNvPr name="Group 63" id="63"/>
          <p:cNvGrpSpPr/>
          <p:nvPr/>
        </p:nvGrpSpPr>
        <p:grpSpPr>
          <a:xfrm rot="0">
            <a:off x="4724876" y="5410676"/>
            <a:ext cx="6872288" cy="1180148"/>
            <a:chOff x="0" y="0"/>
            <a:chExt cx="9163050" cy="1573530"/>
          </a:xfrm>
        </p:grpSpPr>
        <p:sp>
          <p:nvSpPr>
            <p:cNvPr name="Freeform 64" id="64"/>
            <p:cNvSpPr/>
            <p:nvPr/>
          </p:nvSpPr>
          <p:spPr>
            <a:xfrm flipH="false" flipV="false" rot="0">
              <a:off x="0" y="0"/>
              <a:ext cx="9163050" cy="1573530"/>
            </a:xfrm>
            <a:custGeom>
              <a:avLst/>
              <a:gdLst/>
              <a:ahLst/>
              <a:cxnLst/>
              <a:rect r="r" b="b" t="t" l="l"/>
              <a:pathLst>
                <a:path h="1573530" w="9163050">
                  <a:moveTo>
                    <a:pt x="0" y="0"/>
                  </a:moveTo>
                  <a:lnTo>
                    <a:pt x="9163050" y="0"/>
                  </a:lnTo>
                  <a:lnTo>
                    <a:pt x="9163050" y="1573530"/>
                  </a:lnTo>
                  <a:lnTo>
                    <a:pt x="0" y="1573530"/>
                  </a:lnTo>
                  <a:close/>
                </a:path>
              </a:pathLst>
            </a:custGeom>
            <a:solidFill>
              <a:srgbClr val="FFFFFF"/>
            </a:solidFill>
            <a:ln w="14288" cap="sq">
              <a:solidFill>
                <a:srgbClr val="CDDEE8"/>
              </a:solidFill>
              <a:prstDash val="solid"/>
              <a:miter/>
            </a:ln>
          </p:spPr>
        </p:sp>
      </p:grpSp>
      <p:grpSp>
        <p:nvGrpSpPr>
          <p:cNvPr name="Group 65" id="65"/>
          <p:cNvGrpSpPr/>
          <p:nvPr/>
        </p:nvGrpSpPr>
        <p:grpSpPr>
          <a:xfrm rot="0">
            <a:off x="4786884" y="5458968"/>
            <a:ext cx="6748272" cy="1083564"/>
            <a:chOff x="0" y="0"/>
            <a:chExt cx="8997696" cy="1444752"/>
          </a:xfrm>
        </p:grpSpPr>
        <p:sp>
          <p:nvSpPr>
            <p:cNvPr name="Freeform 66" id="66"/>
            <p:cNvSpPr/>
            <p:nvPr/>
          </p:nvSpPr>
          <p:spPr>
            <a:xfrm flipH="false" flipV="false" rot="0">
              <a:off x="0" y="0"/>
              <a:ext cx="8997696" cy="1444752"/>
            </a:xfrm>
            <a:custGeom>
              <a:avLst/>
              <a:gdLst/>
              <a:ahLst/>
              <a:cxnLst/>
              <a:rect r="r" b="b" t="t" l="l"/>
              <a:pathLst>
                <a:path h="1444752" w="8997696">
                  <a:moveTo>
                    <a:pt x="0" y="0"/>
                  </a:moveTo>
                  <a:lnTo>
                    <a:pt x="8997696" y="0"/>
                  </a:lnTo>
                  <a:lnTo>
                    <a:pt x="8997696" y="1444752"/>
                  </a:lnTo>
                  <a:lnTo>
                    <a:pt x="0" y="1444752"/>
                  </a:lnTo>
                  <a:close/>
                </a:path>
              </a:pathLst>
            </a:custGeom>
            <a:blipFill>
              <a:blip r:embed="rId2">
                <a:alphaModFix amt="0"/>
              </a:blip>
              <a:stretch>
                <a:fillRect l="0" t="-71349" r="0" b="-71349"/>
              </a:stretch>
            </a:blipFill>
          </p:spPr>
        </p:sp>
        <p:sp>
          <p:nvSpPr>
            <p:cNvPr name="TextBox 67" id="67"/>
            <p:cNvSpPr txBox="true"/>
            <p:nvPr/>
          </p:nvSpPr>
          <p:spPr>
            <a:xfrm>
              <a:off x="0" y="0"/>
              <a:ext cx="899769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Mobile app for picking appointment slots</a:t>
              </a:r>
            </a:p>
          </p:txBody>
        </p:sp>
      </p:grpSp>
      <p:grpSp>
        <p:nvGrpSpPr>
          <p:cNvPr name="Group 68" id="68"/>
          <p:cNvGrpSpPr/>
          <p:nvPr/>
        </p:nvGrpSpPr>
        <p:grpSpPr>
          <a:xfrm rot="0">
            <a:off x="11582876" y="5410676"/>
            <a:ext cx="5637847" cy="1180148"/>
            <a:chOff x="0" y="0"/>
            <a:chExt cx="7517130" cy="1573530"/>
          </a:xfrm>
        </p:grpSpPr>
        <p:sp>
          <p:nvSpPr>
            <p:cNvPr name="Freeform 69" id="69"/>
            <p:cNvSpPr/>
            <p:nvPr/>
          </p:nvSpPr>
          <p:spPr>
            <a:xfrm flipH="false" flipV="false" rot="0">
              <a:off x="0" y="0"/>
              <a:ext cx="7517130" cy="1573530"/>
            </a:xfrm>
            <a:custGeom>
              <a:avLst/>
              <a:gdLst/>
              <a:ahLst/>
              <a:cxnLst/>
              <a:rect r="r" b="b" t="t" l="l"/>
              <a:pathLst>
                <a:path h="1573530" w="7517130">
                  <a:moveTo>
                    <a:pt x="0" y="0"/>
                  </a:moveTo>
                  <a:lnTo>
                    <a:pt x="7517130" y="0"/>
                  </a:lnTo>
                  <a:lnTo>
                    <a:pt x="7517130" y="1573530"/>
                  </a:lnTo>
                  <a:lnTo>
                    <a:pt x="0" y="1573530"/>
                  </a:lnTo>
                  <a:close/>
                </a:path>
              </a:pathLst>
            </a:custGeom>
            <a:solidFill>
              <a:srgbClr val="FFFFFF"/>
            </a:solidFill>
            <a:ln w="14288" cap="sq">
              <a:solidFill>
                <a:srgbClr val="CDDEE8"/>
              </a:solidFill>
              <a:prstDash val="solid"/>
              <a:miter/>
            </a:ln>
          </p:spPr>
        </p:sp>
      </p:grpSp>
      <p:grpSp>
        <p:nvGrpSpPr>
          <p:cNvPr name="Group 70" id="70"/>
          <p:cNvGrpSpPr/>
          <p:nvPr/>
        </p:nvGrpSpPr>
        <p:grpSpPr>
          <a:xfrm rot="0">
            <a:off x="11644884" y="5458968"/>
            <a:ext cx="5513832" cy="1083564"/>
            <a:chOff x="0" y="0"/>
            <a:chExt cx="7351776" cy="1444752"/>
          </a:xfrm>
        </p:grpSpPr>
        <p:sp>
          <p:nvSpPr>
            <p:cNvPr name="Freeform 71" id="71"/>
            <p:cNvSpPr/>
            <p:nvPr/>
          </p:nvSpPr>
          <p:spPr>
            <a:xfrm flipH="false" flipV="false" rot="0">
              <a:off x="0" y="0"/>
              <a:ext cx="7351774" cy="1444752"/>
            </a:xfrm>
            <a:custGeom>
              <a:avLst/>
              <a:gdLst/>
              <a:ahLst/>
              <a:cxnLst/>
              <a:rect r="r" b="b" t="t" l="l"/>
              <a:pathLst>
                <a:path h="1444752" w="7351774">
                  <a:moveTo>
                    <a:pt x="0" y="0"/>
                  </a:moveTo>
                  <a:lnTo>
                    <a:pt x="7351774" y="0"/>
                  </a:lnTo>
                  <a:lnTo>
                    <a:pt x="7351774" y="1444752"/>
                  </a:lnTo>
                  <a:lnTo>
                    <a:pt x="0" y="1444752"/>
                  </a:lnTo>
                  <a:close/>
                </a:path>
              </a:pathLst>
            </a:custGeom>
            <a:blipFill>
              <a:blip r:embed="rId2">
                <a:alphaModFix amt="0"/>
              </a:blip>
              <a:stretch>
                <a:fillRect l="0" t="-49151" r="0" b="-49151"/>
              </a:stretch>
            </a:blipFill>
          </p:spPr>
        </p:sp>
        <p:sp>
          <p:nvSpPr>
            <p:cNvPr name="TextBox 72" id="72"/>
            <p:cNvSpPr txBox="true"/>
            <p:nvPr/>
          </p:nvSpPr>
          <p:spPr>
            <a:xfrm>
              <a:off x="0" y="0"/>
              <a:ext cx="735177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No separate admin control panel</a:t>
              </a:r>
            </a:p>
          </p:txBody>
        </p:sp>
      </p:grpSp>
      <p:grpSp>
        <p:nvGrpSpPr>
          <p:cNvPr name="Group 73" id="73"/>
          <p:cNvGrpSpPr/>
          <p:nvPr/>
        </p:nvGrpSpPr>
        <p:grpSpPr>
          <a:xfrm rot="0">
            <a:off x="1021556" y="6576536"/>
            <a:ext cx="3717608" cy="1180148"/>
            <a:chOff x="0" y="0"/>
            <a:chExt cx="4956810" cy="1573530"/>
          </a:xfrm>
        </p:grpSpPr>
        <p:sp>
          <p:nvSpPr>
            <p:cNvPr name="Freeform 74" id="74"/>
            <p:cNvSpPr/>
            <p:nvPr/>
          </p:nvSpPr>
          <p:spPr>
            <a:xfrm flipH="false" flipV="false" rot="0">
              <a:off x="0" y="0"/>
              <a:ext cx="4956810" cy="1573530"/>
            </a:xfrm>
            <a:custGeom>
              <a:avLst/>
              <a:gdLst/>
              <a:ahLst/>
              <a:cxnLst/>
              <a:rect r="r" b="b" t="t" l="l"/>
              <a:pathLst>
                <a:path h="1573530" w="4956810">
                  <a:moveTo>
                    <a:pt x="0" y="0"/>
                  </a:moveTo>
                  <a:lnTo>
                    <a:pt x="4956810" y="0"/>
                  </a:lnTo>
                  <a:lnTo>
                    <a:pt x="4956810" y="1573530"/>
                  </a:lnTo>
                  <a:lnTo>
                    <a:pt x="0" y="1573530"/>
                  </a:lnTo>
                  <a:close/>
                </a:path>
              </a:pathLst>
            </a:custGeom>
            <a:solidFill>
              <a:srgbClr val="FFFFFF"/>
            </a:solidFill>
            <a:ln w="14288" cap="sq">
              <a:solidFill>
                <a:srgbClr val="CDDEE8"/>
              </a:solidFill>
              <a:prstDash val="solid"/>
              <a:miter/>
            </a:ln>
          </p:spPr>
        </p:sp>
      </p:grpSp>
      <p:grpSp>
        <p:nvGrpSpPr>
          <p:cNvPr name="Group 75" id="75"/>
          <p:cNvGrpSpPr/>
          <p:nvPr/>
        </p:nvGrpSpPr>
        <p:grpSpPr>
          <a:xfrm rot="0">
            <a:off x="1083564" y="6624828"/>
            <a:ext cx="3593592" cy="1083564"/>
            <a:chOff x="0" y="0"/>
            <a:chExt cx="4791456" cy="1444752"/>
          </a:xfrm>
        </p:grpSpPr>
        <p:sp>
          <p:nvSpPr>
            <p:cNvPr name="Freeform 76" id="76"/>
            <p:cNvSpPr/>
            <p:nvPr/>
          </p:nvSpPr>
          <p:spPr>
            <a:xfrm flipH="false" flipV="false" rot="0">
              <a:off x="0" y="0"/>
              <a:ext cx="4791456" cy="1444752"/>
            </a:xfrm>
            <a:custGeom>
              <a:avLst/>
              <a:gdLst/>
              <a:ahLst/>
              <a:cxnLst/>
              <a:rect r="r" b="b" t="t" l="l"/>
              <a:pathLst>
                <a:path h="1444752" w="4791456">
                  <a:moveTo>
                    <a:pt x="0" y="0"/>
                  </a:moveTo>
                  <a:lnTo>
                    <a:pt x="4791456" y="0"/>
                  </a:lnTo>
                  <a:lnTo>
                    <a:pt x="4791456" y="1444752"/>
                  </a:lnTo>
                  <a:lnTo>
                    <a:pt x="0" y="1444752"/>
                  </a:lnTo>
                  <a:close/>
                </a:path>
              </a:pathLst>
            </a:custGeom>
            <a:blipFill>
              <a:blip r:embed="rId2">
                <a:alphaModFix amt="0"/>
              </a:blip>
              <a:stretch>
                <a:fillRect l="0" t="-14621" r="0" b="-14621"/>
              </a:stretch>
            </a:blipFill>
          </p:spPr>
        </p:sp>
        <p:sp>
          <p:nvSpPr>
            <p:cNvPr name="TextBox 77" id="77"/>
            <p:cNvSpPr txBox="true"/>
            <p:nvPr/>
          </p:nvSpPr>
          <p:spPr>
            <a:xfrm>
              <a:off x="0" y="0"/>
              <a:ext cx="479145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Cloud Based Clinic Scheduling (2023)</a:t>
              </a:r>
            </a:p>
          </p:txBody>
        </p:sp>
      </p:grpSp>
      <p:grpSp>
        <p:nvGrpSpPr>
          <p:cNvPr name="Group 78" id="78"/>
          <p:cNvGrpSpPr/>
          <p:nvPr/>
        </p:nvGrpSpPr>
        <p:grpSpPr>
          <a:xfrm rot="0">
            <a:off x="4724876" y="6576536"/>
            <a:ext cx="6872288" cy="1180148"/>
            <a:chOff x="0" y="0"/>
            <a:chExt cx="9163050" cy="1573530"/>
          </a:xfrm>
        </p:grpSpPr>
        <p:sp>
          <p:nvSpPr>
            <p:cNvPr name="Freeform 79" id="79"/>
            <p:cNvSpPr/>
            <p:nvPr/>
          </p:nvSpPr>
          <p:spPr>
            <a:xfrm flipH="false" flipV="false" rot="0">
              <a:off x="0" y="0"/>
              <a:ext cx="9163050" cy="1573530"/>
            </a:xfrm>
            <a:custGeom>
              <a:avLst/>
              <a:gdLst/>
              <a:ahLst/>
              <a:cxnLst/>
              <a:rect r="r" b="b" t="t" l="l"/>
              <a:pathLst>
                <a:path h="1573530" w="9163050">
                  <a:moveTo>
                    <a:pt x="0" y="0"/>
                  </a:moveTo>
                  <a:lnTo>
                    <a:pt x="9163050" y="0"/>
                  </a:lnTo>
                  <a:lnTo>
                    <a:pt x="9163050" y="1573530"/>
                  </a:lnTo>
                  <a:lnTo>
                    <a:pt x="0" y="1573530"/>
                  </a:lnTo>
                  <a:close/>
                </a:path>
              </a:pathLst>
            </a:custGeom>
            <a:solidFill>
              <a:srgbClr val="FFFFFF"/>
            </a:solidFill>
            <a:ln w="14288" cap="sq">
              <a:solidFill>
                <a:srgbClr val="CDDEE8"/>
              </a:solidFill>
              <a:prstDash val="solid"/>
              <a:miter/>
            </a:ln>
          </p:spPr>
        </p:sp>
      </p:grpSp>
      <p:grpSp>
        <p:nvGrpSpPr>
          <p:cNvPr name="Group 80" id="80"/>
          <p:cNvGrpSpPr/>
          <p:nvPr/>
        </p:nvGrpSpPr>
        <p:grpSpPr>
          <a:xfrm rot="0">
            <a:off x="4786884" y="6624828"/>
            <a:ext cx="6748272" cy="1083564"/>
            <a:chOff x="0" y="0"/>
            <a:chExt cx="8997696" cy="1444752"/>
          </a:xfrm>
        </p:grpSpPr>
        <p:sp>
          <p:nvSpPr>
            <p:cNvPr name="Freeform 81" id="81"/>
            <p:cNvSpPr/>
            <p:nvPr/>
          </p:nvSpPr>
          <p:spPr>
            <a:xfrm flipH="false" flipV="false" rot="0">
              <a:off x="0" y="0"/>
              <a:ext cx="8997696" cy="1444752"/>
            </a:xfrm>
            <a:custGeom>
              <a:avLst/>
              <a:gdLst/>
              <a:ahLst/>
              <a:cxnLst/>
              <a:rect r="r" b="b" t="t" l="l"/>
              <a:pathLst>
                <a:path h="1444752" w="8997696">
                  <a:moveTo>
                    <a:pt x="0" y="0"/>
                  </a:moveTo>
                  <a:lnTo>
                    <a:pt x="8997696" y="0"/>
                  </a:lnTo>
                  <a:lnTo>
                    <a:pt x="8997696" y="1444752"/>
                  </a:lnTo>
                  <a:lnTo>
                    <a:pt x="0" y="1444752"/>
                  </a:lnTo>
                  <a:close/>
                </a:path>
              </a:pathLst>
            </a:custGeom>
            <a:blipFill>
              <a:blip r:embed="rId2">
                <a:alphaModFix amt="0"/>
              </a:blip>
              <a:stretch>
                <a:fillRect l="0" t="-71349" r="0" b="-71349"/>
              </a:stretch>
            </a:blipFill>
          </p:spPr>
        </p:sp>
        <p:sp>
          <p:nvSpPr>
            <p:cNvPr name="TextBox 82" id="82"/>
            <p:cNvSpPr txBox="true"/>
            <p:nvPr/>
          </p:nvSpPr>
          <p:spPr>
            <a:xfrm>
              <a:off x="0" y="0"/>
              <a:ext cx="899769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Appointment data is stored on the cloud</a:t>
              </a:r>
            </a:p>
          </p:txBody>
        </p:sp>
      </p:grpSp>
      <p:grpSp>
        <p:nvGrpSpPr>
          <p:cNvPr name="Group 83" id="83"/>
          <p:cNvGrpSpPr/>
          <p:nvPr/>
        </p:nvGrpSpPr>
        <p:grpSpPr>
          <a:xfrm rot="0">
            <a:off x="11582876" y="6576536"/>
            <a:ext cx="5637847" cy="1180148"/>
            <a:chOff x="0" y="0"/>
            <a:chExt cx="7517130" cy="1573530"/>
          </a:xfrm>
        </p:grpSpPr>
        <p:sp>
          <p:nvSpPr>
            <p:cNvPr name="Freeform 84" id="84"/>
            <p:cNvSpPr/>
            <p:nvPr/>
          </p:nvSpPr>
          <p:spPr>
            <a:xfrm flipH="false" flipV="false" rot="0">
              <a:off x="0" y="0"/>
              <a:ext cx="7517130" cy="1573530"/>
            </a:xfrm>
            <a:custGeom>
              <a:avLst/>
              <a:gdLst/>
              <a:ahLst/>
              <a:cxnLst/>
              <a:rect r="r" b="b" t="t" l="l"/>
              <a:pathLst>
                <a:path h="1573530" w="7517130">
                  <a:moveTo>
                    <a:pt x="0" y="0"/>
                  </a:moveTo>
                  <a:lnTo>
                    <a:pt x="7517130" y="0"/>
                  </a:lnTo>
                  <a:lnTo>
                    <a:pt x="7517130" y="1573530"/>
                  </a:lnTo>
                  <a:lnTo>
                    <a:pt x="0" y="1573530"/>
                  </a:lnTo>
                  <a:close/>
                </a:path>
              </a:pathLst>
            </a:custGeom>
            <a:solidFill>
              <a:srgbClr val="FFFFFF"/>
            </a:solidFill>
            <a:ln w="14288" cap="sq">
              <a:solidFill>
                <a:srgbClr val="CDDEE8"/>
              </a:solidFill>
              <a:prstDash val="solid"/>
              <a:miter/>
            </a:ln>
          </p:spPr>
        </p:sp>
      </p:grpSp>
      <p:grpSp>
        <p:nvGrpSpPr>
          <p:cNvPr name="Group 85" id="85"/>
          <p:cNvGrpSpPr/>
          <p:nvPr/>
        </p:nvGrpSpPr>
        <p:grpSpPr>
          <a:xfrm rot="0">
            <a:off x="11644884" y="6624828"/>
            <a:ext cx="5513832" cy="1083564"/>
            <a:chOff x="0" y="0"/>
            <a:chExt cx="7351776" cy="1444752"/>
          </a:xfrm>
        </p:grpSpPr>
        <p:sp>
          <p:nvSpPr>
            <p:cNvPr name="Freeform 86" id="86"/>
            <p:cNvSpPr/>
            <p:nvPr/>
          </p:nvSpPr>
          <p:spPr>
            <a:xfrm flipH="false" flipV="false" rot="0">
              <a:off x="0" y="0"/>
              <a:ext cx="7351774" cy="1444752"/>
            </a:xfrm>
            <a:custGeom>
              <a:avLst/>
              <a:gdLst/>
              <a:ahLst/>
              <a:cxnLst/>
              <a:rect r="r" b="b" t="t" l="l"/>
              <a:pathLst>
                <a:path h="1444752" w="7351774">
                  <a:moveTo>
                    <a:pt x="0" y="0"/>
                  </a:moveTo>
                  <a:lnTo>
                    <a:pt x="7351774" y="0"/>
                  </a:lnTo>
                  <a:lnTo>
                    <a:pt x="7351774" y="1444752"/>
                  </a:lnTo>
                  <a:lnTo>
                    <a:pt x="0" y="1444752"/>
                  </a:lnTo>
                  <a:close/>
                </a:path>
              </a:pathLst>
            </a:custGeom>
            <a:blipFill>
              <a:blip r:embed="rId2">
                <a:alphaModFix amt="0"/>
              </a:blip>
              <a:stretch>
                <a:fillRect l="0" t="-49151" r="0" b="-49151"/>
              </a:stretch>
            </a:blipFill>
          </p:spPr>
        </p:sp>
        <p:sp>
          <p:nvSpPr>
            <p:cNvPr name="TextBox 87" id="87"/>
            <p:cNvSpPr txBox="true"/>
            <p:nvPr/>
          </p:nvSpPr>
          <p:spPr>
            <a:xfrm>
              <a:off x="0" y="0"/>
              <a:ext cx="7351776" cy="1444752"/>
            </a:xfrm>
            <a:prstGeom prst="rect">
              <a:avLst/>
            </a:prstGeom>
          </p:spPr>
          <p:txBody>
            <a:bodyPr anchor="ctr" rtlCol="false" tIns="0" lIns="0" bIns="0" rIns="0"/>
            <a:lstStyle/>
            <a:p>
              <a:pPr algn="ctr">
                <a:lnSpc>
                  <a:spcPts val="1800"/>
                </a:lnSpc>
              </a:pPr>
              <a:r>
                <a:rPr lang="en-US" sz="1500">
                  <a:solidFill>
                    <a:srgbClr val="233440"/>
                  </a:solidFill>
                  <a:latin typeface="Aptos"/>
                  <a:ea typeface="Aptos"/>
                  <a:cs typeface="Aptos"/>
                  <a:sym typeface="Aptos"/>
                </a:rPr>
                <a:t>Setup is complex and costly for small clinics</a:t>
              </a:r>
            </a:p>
          </p:txBody>
        </p:sp>
      </p:grpSp>
      <p:sp>
        <p:nvSpPr>
          <p:cNvPr name="TextBox 88" id="88"/>
          <p:cNvSpPr txBox="true"/>
          <p:nvPr/>
        </p:nvSpPr>
        <p:spPr>
          <a:xfrm rot="0">
            <a:off x="1394460" y="8574405"/>
            <a:ext cx="15179040" cy="323850"/>
          </a:xfrm>
          <a:prstGeom prst="rect">
            <a:avLst/>
          </a:prstGeom>
        </p:spPr>
        <p:txBody>
          <a:bodyPr anchor="t" rtlCol="false" tIns="0" lIns="0" bIns="0" rIns="0">
            <a:spAutoFit/>
          </a:bodyPr>
          <a:lstStyle/>
          <a:p>
            <a:pPr algn="ctr">
              <a:lnSpc>
                <a:spcPts val="2520"/>
              </a:lnSpc>
            </a:pPr>
            <a:r>
              <a:rPr lang="en-US" sz="2100" b="true">
                <a:solidFill>
                  <a:srgbClr val="009DB2"/>
                </a:solidFill>
                <a:latin typeface="Aptos Bold"/>
                <a:ea typeface="Aptos Bold"/>
                <a:cs typeface="Aptos Bold"/>
                <a:sym typeface="Aptos Bold"/>
              </a:rPr>
              <a:t>Med Connect combines patient booking, live doctor availability and admin control in one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24145"/>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7. Existing System</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7</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grpSp>
        <p:nvGrpSpPr>
          <p:cNvPr name="Group 12" id="12"/>
          <p:cNvGrpSpPr/>
          <p:nvPr/>
        </p:nvGrpSpPr>
        <p:grpSpPr>
          <a:xfrm rot="0">
            <a:off x="1694826" y="2430780"/>
            <a:ext cx="1851660" cy="1851660"/>
            <a:chOff x="0" y="0"/>
            <a:chExt cx="2468880" cy="2468880"/>
          </a:xfrm>
        </p:grpSpPr>
        <p:sp>
          <p:nvSpPr>
            <p:cNvPr name="Freeform 13" id="13"/>
            <p:cNvSpPr/>
            <p:nvPr/>
          </p:nvSpPr>
          <p:spPr>
            <a:xfrm flipH="false" flipV="false" rot="0">
              <a:off x="0" y="0"/>
              <a:ext cx="2468880" cy="2468880"/>
            </a:xfrm>
            <a:custGeom>
              <a:avLst/>
              <a:gdLst/>
              <a:ahLst/>
              <a:cxnLst/>
              <a:rect r="r" b="b" t="t" l="l"/>
              <a:pathLst>
                <a:path h="2468880" w="2468880">
                  <a:moveTo>
                    <a:pt x="0" y="1234440"/>
                  </a:moveTo>
                  <a:cubicBezTo>
                    <a:pt x="0" y="552704"/>
                    <a:pt x="552704" y="0"/>
                    <a:pt x="1234440" y="0"/>
                  </a:cubicBezTo>
                  <a:cubicBezTo>
                    <a:pt x="1916176" y="0"/>
                    <a:pt x="2468880" y="552704"/>
                    <a:pt x="2468880" y="1234440"/>
                  </a:cubicBezTo>
                  <a:cubicBezTo>
                    <a:pt x="2468880" y="1916176"/>
                    <a:pt x="1916176" y="2468880"/>
                    <a:pt x="1234440" y="2468880"/>
                  </a:cubicBezTo>
                  <a:cubicBezTo>
                    <a:pt x="552704" y="2468880"/>
                    <a:pt x="0" y="1916176"/>
                    <a:pt x="0" y="1234440"/>
                  </a:cubicBezTo>
                  <a:close/>
                </a:path>
              </a:pathLst>
            </a:custGeom>
            <a:solidFill>
              <a:srgbClr val="E8F3F8"/>
            </a:solidFill>
          </p:spPr>
        </p:sp>
      </p:grpSp>
      <p:grpSp>
        <p:nvGrpSpPr>
          <p:cNvPr name="Group 14" id="14"/>
          <p:cNvGrpSpPr/>
          <p:nvPr/>
        </p:nvGrpSpPr>
        <p:grpSpPr>
          <a:xfrm rot="0">
            <a:off x="1371600" y="3092136"/>
            <a:ext cx="2498113" cy="528948"/>
            <a:chOff x="0" y="0"/>
            <a:chExt cx="2468880" cy="522759"/>
          </a:xfrm>
        </p:grpSpPr>
        <p:sp>
          <p:nvSpPr>
            <p:cNvPr name="Freeform 15" id="15"/>
            <p:cNvSpPr/>
            <p:nvPr/>
          </p:nvSpPr>
          <p:spPr>
            <a:xfrm flipH="false" flipV="false" rot="0">
              <a:off x="0" y="0"/>
              <a:ext cx="2468880" cy="522759"/>
            </a:xfrm>
            <a:custGeom>
              <a:avLst/>
              <a:gdLst/>
              <a:ahLst/>
              <a:cxnLst/>
              <a:rect r="r" b="b" t="t" l="l"/>
              <a:pathLst>
                <a:path h="522759" w="2468880">
                  <a:moveTo>
                    <a:pt x="0" y="0"/>
                  </a:moveTo>
                  <a:lnTo>
                    <a:pt x="2468880" y="0"/>
                  </a:lnTo>
                  <a:lnTo>
                    <a:pt x="2468880" y="522759"/>
                  </a:lnTo>
                  <a:lnTo>
                    <a:pt x="0" y="522759"/>
                  </a:lnTo>
                  <a:close/>
                </a:path>
              </a:pathLst>
            </a:custGeom>
            <a:blipFill>
              <a:blip r:embed="rId2">
                <a:alphaModFix amt="0"/>
              </a:blip>
              <a:stretch>
                <a:fillRect l="-35535" t="0" r="-35535" b="-214852"/>
              </a:stretch>
            </a:blipFill>
          </p:spPr>
        </p:sp>
        <p:sp>
          <p:nvSpPr>
            <p:cNvPr name="TextBox 16" id="16"/>
            <p:cNvSpPr txBox="true"/>
            <p:nvPr/>
          </p:nvSpPr>
          <p:spPr>
            <a:xfrm>
              <a:off x="0" y="9525"/>
              <a:ext cx="2468880" cy="513234"/>
            </a:xfrm>
            <a:prstGeom prst="rect">
              <a:avLst/>
            </a:prstGeom>
          </p:spPr>
          <p:txBody>
            <a:bodyPr anchor="ctr" rtlCol="false" tIns="0" lIns="0" bIns="0" rIns="0"/>
            <a:lstStyle/>
            <a:p>
              <a:pPr algn="ctr">
                <a:lnSpc>
                  <a:spcPts val="2999"/>
                </a:lnSpc>
              </a:pPr>
              <a:r>
                <a:rPr lang="en-US" sz="2499" b="true">
                  <a:solidFill>
                    <a:srgbClr val="083052"/>
                  </a:solidFill>
                  <a:latin typeface="Aptos Bold"/>
                  <a:ea typeface="Aptos Bold"/>
                  <a:cs typeface="Aptos Bold"/>
                  <a:sym typeface="Aptos Bold"/>
                </a:rPr>
                <a:t>NOW</a:t>
              </a:r>
            </a:p>
          </p:txBody>
        </p:sp>
      </p:grpSp>
      <p:sp>
        <p:nvSpPr>
          <p:cNvPr name="Freeform 17" id="17"/>
          <p:cNvSpPr/>
          <p:nvPr/>
        </p:nvSpPr>
        <p:spPr>
          <a:xfrm flipH="false" flipV="false" rot="0">
            <a:off x="2625841" y="5553992"/>
            <a:ext cx="13036318" cy="3429914"/>
          </a:xfrm>
          <a:custGeom>
            <a:avLst/>
            <a:gdLst/>
            <a:ahLst/>
            <a:cxnLst/>
            <a:rect r="r" b="b" t="t" l="l"/>
            <a:pathLst>
              <a:path h="3429914" w="13036318">
                <a:moveTo>
                  <a:pt x="0" y="0"/>
                </a:moveTo>
                <a:lnTo>
                  <a:pt x="13036318" y="0"/>
                </a:lnTo>
                <a:lnTo>
                  <a:pt x="13036318" y="3429914"/>
                </a:lnTo>
                <a:lnTo>
                  <a:pt x="0" y="3429914"/>
                </a:lnTo>
                <a:lnTo>
                  <a:pt x="0" y="0"/>
                </a:lnTo>
                <a:close/>
              </a:path>
            </a:pathLst>
          </a:custGeom>
          <a:blipFill>
            <a:blip r:embed="rId3"/>
            <a:stretch>
              <a:fillRect l="-1558" t="-13817" r="-1817" b="-26647"/>
            </a:stretch>
          </a:blipFill>
        </p:spPr>
      </p:sp>
      <p:sp>
        <p:nvSpPr>
          <p:cNvPr name="TextBox 18" id="18"/>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sp>
        <p:nvSpPr>
          <p:cNvPr name="TextBox 19" id="19"/>
          <p:cNvSpPr txBox="true"/>
          <p:nvPr/>
        </p:nvSpPr>
        <p:spPr>
          <a:xfrm rot="0">
            <a:off x="4206240" y="1738421"/>
            <a:ext cx="11891404" cy="3617377"/>
          </a:xfrm>
          <a:prstGeom prst="rect">
            <a:avLst/>
          </a:prstGeom>
        </p:spPr>
        <p:txBody>
          <a:bodyPr anchor="t" rtlCol="false" tIns="0" lIns="0" bIns="0" rIns="0">
            <a:spAutoFit/>
          </a:bodyPr>
          <a:lstStyle/>
          <a:p>
            <a:pPr algn="l">
              <a:lnSpc>
                <a:spcPts val="3334"/>
              </a:lnSpc>
            </a:pPr>
            <a:r>
              <a:rPr lang="en-US" sz="2778" b="true">
                <a:solidFill>
                  <a:srgbClr val="083052"/>
                </a:solidFill>
                <a:latin typeface="Aptos Bold"/>
                <a:ea typeface="Aptos Bold"/>
                <a:cs typeface="Aptos Bold"/>
                <a:sym typeface="Aptos Bold"/>
              </a:rPr>
              <a:t>At present the whole booking work is done by hand at the hospital counter.</a:t>
            </a:r>
          </a:p>
          <a:p>
            <a:pPr algn="l">
              <a:lnSpc>
                <a:spcPts val="3334"/>
              </a:lnSpc>
            </a:pPr>
          </a:p>
          <a:p>
            <a:pPr algn="l">
              <a:lnSpc>
                <a:spcPts val="3126"/>
              </a:lnSpc>
            </a:pPr>
            <a:r>
              <a:rPr lang="en-US" sz="2605">
                <a:solidFill>
                  <a:srgbClr val="233440"/>
                </a:solidFill>
                <a:latin typeface="Aptos"/>
                <a:ea typeface="Aptos"/>
                <a:cs typeface="Aptos"/>
                <a:sym typeface="Aptos"/>
              </a:rPr>
              <a:t>• Patients book by visiting the hospital or calling the desk</a:t>
            </a:r>
          </a:p>
          <a:p>
            <a:pPr algn="l">
              <a:lnSpc>
                <a:spcPts val="3126"/>
              </a:lnSpc>
            </a:pPr>
          </a:p>
          <a:p>
            <a:pPr algn="l">
              <a:lnSpc>
                <a:spcPts val="3126"/>
              </a:lnSpc>
            </a:pPr>
            <a:r>
              <a:rPr lang="en-US" sz="2605">
                <a:solidFill>
                  <a:srgbClr val="233440"/>
                </a:solidFill>
                <a:latin typeface="Aptos"/>
                <a:ea typeface="Aptos"/>
                <a:cs typeface="Aptos"/>
                <a:sym typeface="Aptos"/>
              </a:rPr>
              <a:t>• Appointments are written in registers or simple sheets</a:t>
            </a:r>
          </a:p>
          <a:p>
            <a:pPr algn="l">
              <a:lnSpc>
                <a:spcPts val="3126"/>
              </a:lnSpc>
            </a:pPr>
          </a:p>
          <a:p>
            <a:pPr algn="l">
              <a:lnSpc>
                <a:spcPts val="3126"/>
              </a:lnSpc>
            </a:pPr>
            <a:r>
              <a:rPr lang="en-US" sz="2605">
                <a:solidFill>
                  <a:srgbClr val="233440"/>
                </a:solidFill>
                <a:latin typeface="Aptos"/>
                <a:ea typeface="Aptos"/>
                <a:cs typeface="Aptos"/>
                <a:sym typeface="Aptos"/>
              </a:rPr>
              <a:t>• Doctor free time is not known before the patient arrives</a:t>
            </a:r>
          </a:p>
          <a:p>
            <a:pPr algn="l">
              <a:lnSpc>
                <a:spcPts val="3126"/>
              </a:lnSpc>
            </a:pPr>
          </a:p>
          <a:p>
            <a:pPr algn="l">
              <a:lnSpc>
                <a:spcPts val="3126"/>
              </a:lnSpc>
            </a:pPr>
            <a:r>
              <a:rPr lang="en-US" sz="2605">
                <a:solidFill>
                  <a:srgbClr val="233440"/>
                </a:solidFill>
                <a:latin typeface="Aptos"/>
                <a:ea typeface="Aptos"/>
                <a:cs typeface="Aptos"/>
                <a:sym typeface="Aptos"/>
              </a:rPr>
              <a:t>• Double booking, long queues and lost records are common</a:t>
            </a:r>
          </a:p>
        </p:txBody>
      </p:sp>
      <p:sp>
        <p:nvSpPr>
          <p:cNvPr name="TextBox 20" id="20"/>
          <p:cNvSpPr txBox="true"/>
          <p:nvPr/>
        </p:nvSpPr>
        <p:spPr>
          <a:xfrm rot="0">
            <a:off x="4206240" y="9163050"/>
            <a:ext cx="12161520" cy="266700"/>
          </a:xfrm>
          <a:prstGeom prst="rect">
            <a:avLst/>
          </a:prstGeom>
        </p:spPr>
        <p:txBody>
          <a:bodyPr anchor="t" rtlCol="false" tIns="0" lIns="0" bIns="0" rIns="0">
            <a:spAutoFit/>
          </a:bodyPr>
          <a:lstStyle/>
          <a:p>
            <a:pPr algn="ctr">
              <a:lnSpc>
                <a:spcPts val="2160"/>
              </a:lnSpc>
            </a:pPr>
            <a:r>
              <a:rPr lang="en-US" sz="1800" b="true">
                <a:solidFill>
                  <a:srgbClr val="8A4A4A"/>
                </a:solidFill>
                <a:latin typeface="Aptos Bold"/>
                <a:ea typeface="Aptos Bold"/>
                <a:cs typeface="Aptos Bold"/>
                <a:sym typeface="Aptos Bold"/>
              </a:rPr>
              <a:t>Present manual process - slow, unclear and easy to make mistakes.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566928"/>
            <a:ext cx="14767560" cy="662940"/>
          </a:xfrm>
          <a:prstGeom prst="rect">
            <a:avLst/>
          </a:prstGeom>
        </p:spPr>
        <p:txBody>
          <a:bodyPr anchor="t" rtlCol="false" tIns="0" lIns="0" bIns="0" rIns="0">
            <a:spAutoFit/>
          </a:bodyPr>
          <a:lstStyle/>
          <a:p>
            <a:pPr algn="l">
              <a:lnSpc>
                <a:spcPts val="4500"/>
              </a:lnSpc>
            </a:pPr>
            <a:r>
              <a:rPr lang="en-US" sz="3750" b="true">
                <a:solidFill>
                  <a:srgbClr val="083052"/>
                </a:solidFill>
                <a:latin typeface="Aptos Bold"/>
                <a:ea typeface="Aptos Bold"/>
                <a:cs typeface="Aptos Bold"/>
                <a:sym typeface="Aptos Bold"/>
              </a:rPr>
              <a:t>8. Proposed System</a:t>
            </a:r>
          </a:p>
        </p:txBody>
      </p:sp>
      <p:grpSp>
        <p:nvGrpSpPr>
          <p:cNvPr name="Group 3" id="3"/>
          <p:cNvGrpSpPr/>
          <p:nvPr/>
        </p:nvGrpSpPr>
        <p:grpSpPr>
          <a:xfrm rot="0">
            <a:off x="16253460" y="521208"/>
            <a:ext cx="891540" cy="576072"/>
            <a:chOff x="0" y="0"/>
            <a:chExt cx="1188720" cy="768096"/>
          </a:xfrm>
        </p:grpSpPr>
        <p:sp>
          <p:nvSpPr>
            <p:cNvPr name="Freeform 4" id="4"/>
            <p:cNvSpPr/>
            <p:nvPr/>
          </p:nvSpPr>
          <p:spPr>
            <a:xfrm flipH="false" flipV="false" rot="0">
              <a:off x="0" y="0"/>
              <a:ext cx="1188720" cy="768096"/>
            </a:xfrm>
            <a:custGeom>
              <a:avLst/>
              <a:gdLst/>
              <a:ahLst/>
              <a:cxnLst/>
              <a:rect r="r" b="b" t="t" l="l"/>
              <a:pathLst>
                <a:path h="768096" w="1188720">
                  <a:moveTo>
                    <a:pt x="0" y="128016"/>
                  </a:moveTo>
                  <a:cubicBezTo>
                    <a:pt x="0" y="57277"/>
                    <a:pt x="57277" y="0"/>
                    <a:pt x="128016" y="0"/>
                  </a:cubicBezTo>
                  <a:lnTo>
                    <a:pt x="1060704" y="0"/>
                  </a:lnTo>
                  <a:cubicBezTo>
                    <a:pt x="1131443" y="0"/>
                    <a:pt x="1188720" y="57277"/>
                    <a:pt x="1188720" y="128016"/>
                  </a:cubicBezTo>
                  <a:lnTo>
                    <a:pt x="1188720" y="640080"/>
                  </a:lnTo>
                  <a:cubicBezTo>
                    <a:pt x="1188720" y="710819"/>
                    <a:pt x="1131443" y="768096"/>
                    <a:pt x="1060704" y="768096"/>
                  </a:cubicBezTo>
                  <a:lnTo>
                    <a:pt x="128016" y="768096"/>
                  </a:lnTo>
                  <a:cubicBezTo>
                    <a:pt x="57277" y="768096"/>
                    <a:pt x="0" y="710819"/>
                    <a:pt x="0" y="640080"/>
                  </a:cubicBezTo>
                  <a:close/>
                </a:path>
              </a:pathLst>
            </a:custGeom>
            <a:solidFill>
              <a:srgbClr val="0A6FA6"/>
            </a:solidFill>
          </p:spPr>
        </p:sp>
      </p:grpSp>
      <p:grpSp>
        <p:nvGrpSpPr>
          <p:cNvPr name="Group 5" id="5"/>
          <p:cNvGrpSpPr/>
          <p:nvPr/>
        </p:nvGrpSpPr>
        <p:grpSpPr>
          <a:xfrm rot="0">
            <a:off x="16253460" y="534924"/>
            <a:ext cx="891540" cy="521208"/>
            <a:chOff x="0" y="0"/>
            <a:chExt cx="1188720" cy="694944"/>
          </a:xfrm>
        </p:grpSpPr>
        <p:sp>
          <p:nvSpPr>
            <p:cNvPr name="Freeform 6" id="6"/>
            <p:cNvSpPr/>
            <p:nvPr/>
          </p:nvSpPr>
          <p:spPr>
            <a:xfrm flipH="false" flipV="false" rot="0">
              <a:off x="0" y="0"/>
              <a:ext cx="1188720" cy="694944"/>
            </a:xfrm>
            <a:custGeom>
              <a:avLst/>
              <a:gdLst/>
              <a:ahLst/>
              <a:cxnLst/>
              <a:rect r="r" b="b" t="t" l="l"/>
              <a:pathLst>
                <a:path h="694944" w="1188720">
                  <a:moveTo>
                    <a:pt x="0" y="0"/>
                  </a:moveTo>
                  <a:lnTo>
                    <a:pt x="1188720" y="0"/>
                  </a:lnTo>
                  <a:lnTo>
                    <a:pt x="1188720" y="694944"/>
                  </a:lnTo>
                  <a:lnTo>
                    <a:pt x="0" y="694944"/>
                  </a:lnTo>
                  <a:close/>
                </a:path>
              </a:pathLst>
            </a:custGeom>
            <a:blipFill>
              <a:blip r:embed="rId2">
                <a:alphaModFix amt="0"/>
              </a:blip>
              <a:stretch>
                <a:fillRect l="-25008" t="0" r="-25008" b="0"/>
              </a:stretch>
            </a:blipFill>
          </p:spPr>
        </p:sp>
        <p:sp>
          <p:nvSpPr>
            <p:cNvPr name="TextBox 7" id="7"/>
            <p:cNvSpPr txBox="true"/>
            <p:nvPr/>
          </p:nvSpPr>
          <p:spPr>
            <a:xfrm>
              <a:off x="0" y="0"/>
              <a:ext cx="1188720" cy="694944"/>
            </a:xfrm>
            <a:prstGeom prst="rect">
              <a:avLst/>
            </a:prstGeom>
          </p:spPr>
          <p:txBody>
            <a:bodyPr anchor="ctr" rtlCol="false" tIns="0" lIns="0" bIns="0" rIns="0"/>
            <a:lstStyle/>
            <a:p>
              <a:pPr algn="ctr">
                <a:lnSpc>
                  <a:spcPts val="2340"/>
                </a:lnSpc>
              </a:pPr>
              <a:r>
                <a:rPr lang="en-US" sz="1950" b="true">
                  <a:solidFill>
                    <a:srgbClr val="FFFFFF"/>
                  </a:solidFill>
                  <a:latin typeface="Aptos Bold"/>
                  <a:ea typeface="Aptos Bold"/>
                  <a:cs typeface="Aptos Bold"/>
                  <a:sym typeface="Aptos Bold"/>
                </a:rPr>
                <a:t>8</a:t>
              </a:r>
            </a:p>
          </p:txBody>
        </p:sp>
      </p:grpSp>
      <p:grpSp>
        <p:nvGrpSpPr>
          <p:cNvPr name="Group 8" id="8"/>
          <p:cNvGrpSpPr/>
          <p:nvPr/>
        </p:nvGrpSpPr>
        <p:grpSpPr>
          <a:xfrm rot="0">
            <a:off x="0" y="0"/>
            <a:ext cx="18287543" cy="137160"/>
            <a:chOff x="0" y="0"/>
            <a:chExt cx="24383390" cy="182880"/>
          </a:xfrm>
        </p:grpSpPr>
        <p:sp>
          <p:nvSpPr>
            <p:cNvPr name="Freeform 9" id="9"/>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009DB2"/>
            </a:solidFill>
          </p:spPr>
        </p:sp>
      </p:grpSp>
      <p:grpSp>
        <p:nvGrpSpPr>
          <p:cNvPr name="Group 10" id="10"/>
          <p:cNvGrpSpPr/>
          <p:nvPr/>
        </p:nvGrpSpPr>
        <p:grpSpPr>
          <a:xfrm rot="0">
            <a:off x="0" y="10177272"/>
            <a:ext cx="18287543" cy="109728"/>
            <a:chOff x="0" y="0"/>
            <a:chExt cx="24383390" cy="146304"/>
          </a:xfrm>
        </p:grpSpPr>
        <p:sp>
          <p:nvSpPr>
            <p:cNvPr name="Freeform 11" id="11"/>
            <p:cNvSpPr/>
            <p:nvPr/>
          </p:nvSpPr>
          <p:spPr>
            <a:xfrm flipH="false" flipV="false" rot="0">
              <a:off x="0" y="0"/>
              <a:ext cx="24383364" cy="146304"/>
            </a:xfrm>
            <a:custGeom>
              <a:avLst/>
              <a:gdLst/>
              <a:ahLst/>
              <a:cxnLst/>
              <a:rect r="r" b="b" t="t" l="l"/>
              <a:pathLst>
                <a:path h="146304" w="24383364">
                  <a:moveTo>
                    <a:pt x="0" y="0"/>
                  </a:moveTo>
                  <a:lnTo>
                    <a:pt x="24383364" y="0"/>
                  </a:lnTo>
                  <a:lnTo>
                    <a:pt x="24383364" y="146304"/>
                  </a:lnTo>
                  <a:lnTo>
                    <a:pt x="0" y="146304"/>
                  </a:lnTo>
                  <a:close/>
                </a:path>
              </a:pathLst>
            </a:custGeom>
            <a:solidFill>
              <a:srgbClr val="0A6FA6"/>
            </a:solidFill>
          </p:spPr>
        </p:sp>
      </p:grpSp>
      <p:grpSp>
        <p:nvGrpSpPr>
          <p:cNvPr name="Group 12" id="12"/>
          <p:cNvGrpSpPr/>
          <p:nvPr/>
        </p:nvGrpSpPr>
        <p:grpSpPr>
          <a:xfrm rot="0">
            <a:off x="1371600" y="2240280"/>
            <a:ext cx="1851660" cy="1851660"/>
            <a:chOff x="0" y="0"/>
            <a:chExt cx="2468880" cy="2468880"/>
          </a:xfrm>
        </p:grpSpPr>
        <p:sp>
          <p:nvSpPr>
            <p:cNvPr name="Freeform 13" id="13"/>
            <p:cNvSpPr/>
            <p:nvPr/>
          </p:nvSpPr>
          <p:spPr>
            <a:xfrm flipH="false" flipV="false" rot="0">
              <a:off x="0" y="0"/>
              <a:ext cx="2468880" cy="2468880"/>
            </a:xfrm>
            <a:custGeom>
              <a:avLst/>
              <a:gdLst/>
              <a:ahLst/>
              <a:cxnLst/>
              <a:rect r="r" b="b" t="t" l="l"/>
              <a:pathLst>
                <a:path h="2468880" w="2468880">
                  <a:moveTo>
                    <a:pt x="0" y="1234440"/>
                  </a:moveTo>
                  <a:cubicBezTo>
                    <a:pt x="0" y="552704"/>
                    <a:pt x="552704" y="0"/>
                    <a:pt x="1234440" y="0"/>
                  </a:cubicBezTo>
                  <a:cubicBezTo>
                    <a:pt x="1916176" y="0"/>
                    <a:pt x="2468880" y="552704"/>
                    <a:pt x="2468880" y="1234440"/>
                  </a:cubicBezTo>
                  <a:cubicBezTo>
                    <a:pt x="2468880" y="1916176"/>
                    <a:pt x="1916176" y="2468880"/>
                    <a:pt x="1234440" y="2468880"/>
                  </a:cubicBezTo>
                  <a:cubicBezTo>
                    <a:pt x="552704" y="2468880"/>
                    <a:pt x="0" y="1916176"/>
                    <a:pt x="0" y="1234440"/>
                  </a:cubicBezTo>
                  <a:close/>
                </a:path>
              </a:pathLst>
            </a:custGeom>
            <a:solidFill>
              <a:srgbClr val="E8F3F8"/>
            </a:solidFill>
          </p:spPr>
        </p:sp>
      </p:grpSp>
      <p:grpSp>
        <p:nvGrpSpPr>
          <p:cNvPr name="Group 14" id="14"/>
          <p:cNvGrpSpPr/>
          <p:nvPr/>
        </p:nvGrpSpPr>
        <p:grpSpPr>
          <a:xfrm rot="0">
            <a:off x="1371600" y="2548890"/>
            <a:ext cx="1851660" cy="1234440"/>
            <a:chOff x="0" y="0"/>
            <a:chExt cx="2468880" cy="1645920"/>
          </a:xfrm>
        </p:grpSpPr>
        <p:sp>
          <p:nvSpPr>
            <p:cNvPr name="Freeform 15" id="15"/>
            <p:cNvSpPr/>
            <p:nvPr/>
          </p:nvSpPr>
          <p:spPr>
            <a:xfrm flipH="false" flipV="false" rot="0">
              <a:off x="0" y="0"/>
              <a:ext cx="2468880" cy="1645920"/>
            </a:xfrm>
            <a:custGeom>
              <a:avLst/>
              <a:gdLst/>
              <a:ahLst/>
              <a:cxnLst/>
              <a:rect r="r" b="b" t="t" l="l"/>
              <a:pathLst>
                <a:path h="1645920" w="2468880">
                  <a:moveTo>
                    <a:pt x="0" y="0"/>
                  </a:moveTo>
                  <a:lnTo>
                    <a:pt x="2468880" y="0"/>
                  </a:lnTo>
                  <a:lnTo>
                    <a:pt x="2468880" y="1645920"/>
                  </a:lnTo>
                  <a:lnTo>
                    <a:pt x="0" y="1645920"/>
                  </a:lnTo>
                  <a:close/>
                </a:path>
              </a:pathLst>
            </a:custGeom>
            <a:blipFill>
              <a:blip r:embed="rId2">
                <a:alphaModFix amt="0"/>
              </a:blip>
              <a:stretch>
                <a:fillRect l="-35535" t="0" r="-35535" b="0"/>
              </a:stretch>
            </a:blipFill>
          </p:spPr>
        </p:sp>
        <p:sp>
          <p:nvSpPr>
            <p:cNvPr name="TextBox 16" id="16"/>
            <p:cNvSpPr txBox="true"/>
            <p:nvPr/>
          </p:nvSpPr>
          <p:spPr>
            <a:xfrm>
              <a:off x="0" y="9525"/>
              <a:ext cx="2468880" cy="1636395"/>
            </a:xfrm>
            <a:prstGeom prst="rect">
              <a:avLst/>
            </a:prstGeom>
          </p:spPr>
          <p:txBody>
            <a:bodyPr anchor="ctr" rtlCol="false" tIns="0" lIns="0" bIns="0" rIns="0"/>
            <a:lstStyle/>
            <a:p>
              <a:pPr algn="ctr">
                <a:lnSpc>
                  <a:spcPts val="2999"/>
                </a:lnSpc>
              </a:pPr>
              <a:r>
                <a:rPr lang="en-US" sz="2499" b="true">
                  <a:solidFill>
                    <a:srgbClr val="083052"/>
                  </a:solidFill>
                  <a:latin typeface="Aptos Bold"/>
                  <a:ea typeface="Aptos Bold"/>
                  <a:cs typeface="Aptos Bold"/>
                  <a:sym typeface="Aptos Bold"/>
                </a:rPr>
                <a:t>IDEA</a:t>
              </a:r>
            </a:p>
          </p:txBody>
        </p:sp>
      </p:grpSp>
      <p:sp>
        <p:nvSpPr>
          <p:cNvPr name="Freeform 17" id="17"/>
          <p:cNvSpPr/>
          <p:nvPr/>
        </p:nvSpPr>
        <p:spPr>
          <a:xfrm flipH="false" flipV="false" rot="0">
            <a:off x="2730616" y="5678171"/>
            <a:ext cx="12826768" cy="3255212"/>
          </a:xfrm>
          <a:custGeom>
            <a:avLst/>
            <a:gdLst/>
            <a:ahLst/>
            <a:cxnLst/>
            <a:rect r="r" b="b" t="t" l="l"/>
            <a:pathLst>
              <a:path h="3255212" w="12826768">
                <a:moveTo>
                  <a:pt x="0" y="0"/>
                </a:moveTo>
                <a:lnTo>
                  <a:pt x="12826768" y="0"/>
                </a:lnTo>
                <a:lnTo>
                  <a:pt x="12826768" y="3255213"/>
                </a:lnTo>
                <a:lnTo>
                  <a:pt x="0" y="3255213"/>
                </a:lnTo>
                <a:lnTo>
                  <a:pt x="0" y="0"/>
                </a:lnTo>
                <a:close/>
              </a:path>
            </a:pathLst>
          </a:custGeom>
          <a:blipFill>
            <a:blip r:embed="rId3"/>
            <a:stretch>
              <a:fillRect l="-1440" t="-18726" r="-567" b="-24969"/>
            </a:stretch>
          </a:blipFill>
        </p:spPr>
      </p:sp>
      <p:sp>
        <p:nvSpPr>
          <p:cNvPr name="TextBox 18" id="18"/>
          <p:cNvSpPr txBox="true"/>
          <p:nvPr/>
        </p:nvSpPr>
        <p:spPr>
          <a:xfrm rot="0">
            <a:off x="982980" y="9705975"/>
            <a:ext cx="14630400" cy="219837"/>
          </a:xfrm>
          <a:prstGeom prst="rect">
            <a:avLst/>
          </a:prstGeom>
        </p:spPr>
        <p:txBody>
          <a:bodyPr anchor="t" rtlCol="false" tIns="0" lIns="0" bIns="0" rIns="0">
            <a:spAutoFit/>
          </a:bodyPr>
          <a:lstStyle/>
          <a:p>
            <a:pPr algn="l">
              <a:lnSpc>
                <a:spcPts val="1530"/>
              </a:lnSpc>
            </a:pPr>
            <a:r>
              <a:rPr lang="en-US" sz="1275">
                <a:solidFill>
                  <a:srgbClr val="697882"/>
                </a:solidFill>
                <a:latin typeface="Aptos"/>
                <a:ea typeface="Aptos"/>
                <a:cs typeface="Aptos"/>
                <a:sym typeface="Aptos"/>
              </a:rPr>
              <a:t>Department of Computer Science &amp; Engineering  |  KPRIT  |  A.Y. 2026–2027</a:t>
            </a:r>
          </a:p>
        </p:txBody>
      </p:sp>
      <p:sp>
        <p:nvSpPr>
          <p:cNvPr name="TextBox 19" id="19"/>
          <p:cNvSpPr txBox="true"/>
          <p:nvPr/>
        </p:nvSpPr>
        <p:spPr>
          <a:xfrm rot="0">
            <a:off x="4036522" y="2015695"/>
            <a:ext cx="12216938" cy="3505200"/>
          </a:xfrm>
          <a:prstGeom prst="rect">
            <a:avLst/>
          </a:prstGeom>
        </p:spPr>
        <p:txBody>
          <a:bodyPr anchor="t" rtlCol="false" tIns="0" lIns="0" bIns="0" rIns="0">
            <a:spAutoFit/>
          </a:bodyPr>
          <a:lstStyle/>
          <a:p>
            <a:pPr algn="l">
              <a:lnSpc>
                <a:spcPts val="3287"/>
              </a:lnSpc>
            </a:pPr>
            <a:r>
              <a:rPr lang="en-US" sz="2739" b="true">
                <a:solidFill>
                  <a:srgbClr val="083052"/>
                </a:solidFill>
                <a:latin typeface="Aptos Bold"/>
                <a:ea typeface="Aptos Bold"/>
                <a:cs typeface="Aptos Bold"/>
                <a:sym typeface="Aptos Bold"/>
              </a:rPr>
              <a:t>Med Connect moves the same work online, so booking is done in a few clicks.</a:t>
            </a:r>
          </a:p>
          <a:p>
            <a:pPr algn="l">
              <a:lnSpc>
                <a:spcPts val="2879"/>
              </a:lnSpc>
            </a:pPr>
          </a:p>
          <a:p>
            <a:pPr algn="l">
              <a:lnSpc>
                <a:spcPts val="3131"/>
              </a:lnSpc>
            </a:pPr>
            <a:r>
              <a:rPr lang="en-US" sz="2610">
                <a:solidFill>
                  <a:srgbClr val="233440"/>
                </a:solidFill>
                <a:latin typeface="Aptos"/>
                <a:ea typeface="Aptos"/>
                <a:cs typeface="Aptos"/>
                <a:sym typeface="Aptos"/>
              </a:rPr>
              <a:t>• One website with separate logins for patient, doctor and admin</a:t>
            </a:r>
          </a:p>
          <a:p>
            <a:pPr algn="l">
              <a:lnSpc>
                <a:spcPts val="3131"/>
              </a:lnSpc>
            </a:pPr>
          </a:p>
          <a:p>
            <a:pPr algn="l">
              <a:lnSpc>
                <a:spcPts val="3131"/>
              </a:lnSpc>
            </a:pPr>
            <a:r>
              <a:rPr lang="en-US" sz="2610">
                <a:solidFill>
                  <a:srgbClr val="233440"/>
                </a:solidFill>
                <a:latin typeface="Aptos"/>
                <a:ea typeface="Aptos"/>
                <a:cs typeface="Aptos"/>
                <a:sym typeface="Aptos"/>
              </a:rPr>
              <a:t>• Patient picks a doctor, sees free slots and books at once</a:t>
            </a:r>
          </a:p>
          <a:p>
            <a:pPr algn="l">
              <a:lnSpc>
                <a:spcPts val="3131"/>
              </a:lnSpc>
            </a:pPr>
          </a:p>
          <a:p>
            <a:pPr algn="l">
              <a:lnSpc>
                <a:spcPts val="3131"/>
              </a:lnSpc>
            </a:pPr>
            <a:r>
              <a:rPr lang="en-US" sz="2610">
                <a:solidFill>
                  <a:srgbClr val="233440"/>
                </a:solidFill>
                <a:latin typeface="Aptos"/>
                <a:ea typeface="Aptos"/>
                <a:cs typeface="Aptos"/>
                <a:sym typeface="Aptos"/>
              </a:rPr>
              <a:t>• Doctor updates availability and views the day schedule</a:t>
            </a:r>
          </a:p>
          <a:p>
            <a:pPr algn="l">
              <a:lnSpc>
                <a:spcPts val="3131"/>
              </a:lnSpc>
            </a:pPr>
          </a:p>
          <a:p>
            <a:pPr algn="l">
              <a:lnSpc>
                <a:spcPts val="3131"/>
              </a:lnSpc>
            </a:pPr>
            <a:r>
              <a:rPr lang="en-US" sz="2610">
                <a:solidFill>
                  <a:srgbClr val="233440"/>
                </a:solidFill>
                <a:latin typeface="Aptos"/>
                <a:ea typeface="Aptos"/>
                <a:cs typeface="Aptos"/>
                <a:sym typeface="Aptos"/>
              </a:rPr>
              <a:t>• Admin manages doctors, patients and all booking records</a:t>
            </a:r>
          </a:p>
        </p:txBody>
      </p:sp>
      <p:sp>
        <p:nvSpPr>
          <p:cNvPr name="TextBox 20" id="20"/>
          <p:cNvSpPr txBox="true"/>
          <p:nvPr/>
        </p:nvSpPr>
        <p:spPr>
          <a:xfrm rot="0">
            <a:off x="3488055" y="9147810"/>
            <a:ext cx="12161520" cy="320040"/>
          </a:xfrm>
          <a:prstGeom prst="rect">
            <a:avLst/>
          </a:prstGeom>
        </p:spPr>
        <p:txBody>
          <a:bodyPr anchor="t" rtlCol="false" tIns="0" lIns="0" bIns="0" rIns="0">
            <a:spAutoFit/>
          </a:bodyPr>
          <a:lstStyle/>
          <a:p>
            <a:pPr algn="ctr">
              <a:lnSpc>
                <a:spcPts val="2160"/>
              </a:lnSpc>
            </a:pPr>
            <a:r>
              <a:rPr lang="en-US" sz="1800" b="true">
                <a:solidFill>
                  <a:srgbClr val="009DB2"/>
                </a:solidFill>
                <a:latin typeface="Aptos Bold"/>
                <a:ea typeface="Aptos Bold"/>
                <a:cs typeface="Aptos Bold"/>
                <a:sym typeface="Aptos Bold"/>
              </a:rPr>
              <a:t>New online process - faster, organised and confirmed in real time.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60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83052"/>
            </a:solidFill>
          </p:spPr>
        </p:sp>
      </p:grpSp>
      <p:grpSp>
        <p:nvGrpSpPr>
          <p:cNvPr name="Group 4" id="4"/>
          <p:cNvGrpSpPr/>
          <p:nvPr/>
        </p:nvGrpSpPr>
        <p:grpSpPr>
          <a:xfrm rot="0">
            <a:off x="14058900" y="0"/>
            <a:ext cx="4228643" cy="10287000"/>
            <a:chOff x="0" y="0"/>
            <a:chExt cx="5638190" cy="13716000"/>
          </a:xfrm>
        </p:grpSpPr>
        <p:sp>
          <p:nvSpPr>
            <p:cNvPr name="Freeform 5" id="5"/>
            <p:cNvSpPr/>
            <p:nvPr/>
          </p:nvSpPr>
          <p:spPr>
            <a:xfrm flipH="false" flipV="false" rot="0">
              <a:off x="0" y="0"/>
              <a:ext cx="5638165" cy="13716000"/>
            </a:xfrm>
            <a:custGeom>
              <a:avLst/>
              <a:gdLst/>
              <a:ahLst/>
              <a:cxnLst/>
              <a:rect r="r" b="b" t="t" l="l"/>
              <a:pathLst>
                <a:path h="13716000" w="5638165">
                  <a:moveTo>
                    <a:pt x="0" y="0"/>
                  </a:moveTo>
                  <a:lnTo>
                    <a:pt x="5638165" y="0"/>
                  </a:lnTo>
                  <a:lnTo>
                    <a:pt x="5638165" y="13716000"/>
                  </a:lnTo>
                  <a:lnTo>
                    <a:pt x="0" y="13716000"/>
                  </a:lnTo>
                  <a:close/>
                </a:path>
              </a:pathLst>
            </a:custGeom>
            <a:solidFill>
              <a:srgbClr val="0A6FA6"/>
            </a:solidFill>
          </p:spPr>
        </p:sp>
      </p:grpSp>
      <p:grpSp>
        <p:nvGrpSpPr>
          <p:cNvPr name="Group 6" id="6"/>
          <p:cNvGrpSpPr/>
          <p:nvPr/>
        </p:nvGrpSpPr>
        <p:grpSpPr>
          <a:xfrm rot="0">
            <a:off x="15156180" y="0"/>
            <a:ext cx="3131363" cy="10287000"/>
            <a:chOff x="0" y="0"/>
            <a:chExt cx="4175150" cy="13716000"/>
          </a:xfrm>
        </p:grpSpPr>
        <p:sp>
          <p:nvSpPr>
            <p:cNvPr name="Freeform 7" id="7"/>
            <p:cNvSpPr/>
            <p:nvPr/>
          </p:nvSpPr>
          <p:spPr>
            <a:xfrm flipH="false" flipV="false" rot="0">
              <a:off x="0" y="0"/>
              <a:ext cx="4175125" cy="13716000"/>
            </a:xfrm>
            <a:custGeom>
              <a:avLst/>
              <a:gdLst/>
              <a:ahLst/>
              <a:cxnLst/>
              <a:rect r="r" b="b" t="t" l="l"/>
              <a:pathLst>
                <a:path h="13716000" w="4175125">
                  <a:moveTo>
                    <a:pt x="0" y="0"/>
                  </a:moveTo>
                  <a:lnTo>
                    <a:pt x="4175125" y="0"/>
                  </a:lnTo>
                  <a:lnTo>
                    <a:pt x="4175125" y="13716000"/>
                  </a:lnTo>
                  <a:lnTo>
                    <a:pt x="0" y="13716000"/>
                  </a:lnTo>
                  <a:close/>
                </a:path>
              </a:pathLst>
            </a:custGeom>
            <a:solidFill>
              <a:srgbClr val="009DB2"/>
            </a:solidFill>
          </p:spPr>
        </p:sp>
      </p:grpSp>
      <p:grpSp>
        <p:nvGrpSpPr>
          <p:cNvPr name="Group 8" id="8"/>
          <p:cNvGrpSpPr/>
          <p:nvPr/>
        </p:nvGrpSpPr>
        <p:grpSpPr>
          <a:xfrm rot="0">
            <a:off x="685800" y="610657"/>
            <a:ext cx="1920240" cy="1577340"/>
            <a:chOff x="0" y="0"/>
            <a:chExt cx="2560320" cy="2103120"/>
          </a:xfrm>
        </p:grpSpPr>
        <p:sp>
          <p:nvSpPr>
            <p:cNvPr name="Freeform 9" id="9"/>
            <p:cNvSpPr/>
            <p:nvPr/>
          </p:nvSpPr>
          <p:spPr>
            <a:xfrm flipH="false" flipV="false" rot="0">
              <a:off x="0" y="0"/>
              <a:ext cx="2560320" cy="2103120"/>
            </a:xfrm>
            <a:custGeom>
              <a:avLst/>
              <a:gdLst/>
              <a:ahLst/>
              <a:cxnLst/>
              <a:rect r="r" b="b" t="t" l="l"/>
              <a:pathLst>
                <a:path h="2103120" w="2560320">
                  <a:moveTo>
                    <a:pt x="0" y="350520"/>
                  </a:moveTo>
                  <a:cubicBezTo>
                    <a:pt x="0" y="156972"/>
                    <a:pt x="156972" y="0"/>
                    <a:pt x="350520" y="0"/>
                  </a:cubicBezTo>
                  <a:lnTo>
                    <a:pt x="2209800" y="0"/>
                  </a:lnTo>
                  <a:cubicBezTo>
                    <a:pt x="2403348" y="0"/>
                    <a:pt x="2560320" y="156972"/>
                    <a:pt x="2560320" y="350520"/>
                  </a:cubicBezTo>
                  <a:lnTo>
                    <a:pt x="2560320" y="1752600"/>
                  </a:lnTo>
                  <a:cubicBezTo>
                    <a:pt x="2560320" y="1946148"/>
                    <a:pt x="2403348" y="2103120"/>
                    <a:pt x="2209800" y="2103120"/>
                  </a:cubicBezTo>
                  <a:lnTo>
                    <a:pt x="350520" y="2103120"/>
                  </a:lnTo>
                  <a:cubicBezTo>
                    <a:pt x="156972" y="2103120"/>
                    <a:pt x="0" y="1946148"/>
                    <a:pt x="0" y="1752600"/>
                  </a:cubicBezTo>
                  <a:close/>
                </a:path>
              </a:pathLst>
            </a:custGeom>
            <a:solidFill>
              <a:srgbClr val="FFFFFF"/>
            </a:solidFill>
          </p:spPr>
        </p:sp>
      </p:grpSp>
      <p:sp>
        <p:nvSpPr>
          <p:cNvPr name="TextBox 10" id="10"/>
          <p:cNvSpPr txBox="true"/>
          <p:nvPr/>
        </p:nvSpPr>
        <p:spPr>
          <a:xfrm rot="0">
            <a:off x="2903220" y="816921"/>
            <a:ext cx="10104120" cy="785727"/>
          </a:xfrm>
          <a:prstGeom prst="rect">
            <a:avLst/>
          </a:prstGeom>
        </p:spPr>
        <p:txBody>
          <a:bodyPr anchor="t" rtlCol="false" tIns="0" lIns="0" bIns="0" rIns="0">
            <a:spAutoFit/>
          </a:bodyPr>
          <a:lstStyle/>
          <a:p>
            <a:pPr algn="l">
              <a:lnSpc>
                <a:spcPts val="2879"/>
              </a:lnSpc>
            </a:pPr>
            <a:r>
              <a:rPr lang="en-US" sz="2400" b="true">
                <a:solidFill>
                  <a:srgbClr val="FFFFFF"/>
                </a:solidFill>
                <a:latin typeface="Aptos Bold"/>
                <a:ea typeface="Aptos Bold"/>
                <a:cs typeface="Aptos Bold"/>
                <a:sym typeface="Aptos Bold"/>
              </a:rPr>
              <a:t>KOMMURI PRATAP REDDY</a:t>
            </a:r>
          </a:p>
          <a:p>
            <a:pPr algn="l">
              <a:lnSpc>
                <a:spcPts val="2879"/>
              </a:lnSpc>
            </a:pPr>
            <a:r>
              <a:rPr lang="en-US" sz="2400" b="true">
                <a:solidFill>
                  <a:srgbClr val="FFFFFF"/>
                </a:solidFill>
                <a:latin typeface="Aptos Bold"/>
                <a:ea typeface="Aptos Bold"/>
                <a:cs typeface="Aptos Bold"/>
                <a:sym typeface="Aptos Bold"/>
              </a:rPr>
              <a:t>INSTITUTE OF TECHNOLOGY</a:t>
            </a:r>
          </a:p>
        </p:txBody>
      </p:sp>
      <p:sp>
        <p:nvSpPr>
          <p:cNvPr name="TextBox 11" id="11"/>
          <p:cNvSpPr txBox="true"/>
          <p:nvPr/>
        </p:nvSpPr>
        <p:spPr>
          <a:xfrm rot="0">
            <a:off x="2903220" y="1795139"/>
            <a:ext cx="9692640" cy="347139"/>
          </a:xfrm>
          <a:prstGeom prst="rect">
            <a:avLst/>
          </a:prstGeom>
        </p:spPr>
        <p:txBody>
          <a:bodyPr anchor="t" rtlCol="false" tIns="0" lIns="0" bIns="0" rIns="0">
            <a:spAutoFit/>
          </a:bodyPr>
          <a:lstStyle/>
          <a:p>
            <a:pPr algn="l">
              <a:lnSpc>
                <a:spcPts val="2340"/>
              </a:lnSpc>
            </a:pPr>
            <a:r>
              <a:rPr lang="en-US" sz="1950" b="true">
                <a:solidFill>
                  <a:srgbClr val="D2EBF5"/>
                </a:solidFill>
                <a:latin typeface="Aptos Bold"/>
                <a:ea typeface="Aptos Bold"/>
                <a:cs typeface="Aptos Bold"/>
                <a:sym typeface="Aptos Bold"/>
              </a:rPr>
              <a:t>DEPARTMENT OF COMPUTER SCIENCE &amp; ENGINEERING</a:t>
            </a:r>
          </a:p>
        </p:txBody>
      </p:sp>
      <p:sp>
        <p:nvSpPr>
          <p:cNvPr name="TextBox 12" id="12"/>
          <p:cNvSpPr txBox="true"/>
          <p:nvPr/>
        </p:nvSpPr>
        <p:spPr>
          <a:xfrm rot="0">
            <a:off x="1737360" y="3670935"/>
            <a:ext cx="11887200" cy="1015365"/>
          </a:xfrm>
          <a:prstGeom prst="rect">
            <a:avLst/>
          </a:prstGeom>
        </p:spPr>
        <p:txBody>
          <a:bodyPr anchor="t" rtlCol="false" tIns="0" lIns="0" bIns="0" rIns="0">
            <a:spAutoFit/>
          </a:bodyPr>
          <a:lstStyle/>
          <a:p>
            <a:pPr algn="ctr">
              <a:lnSpc>
                <a:spcPts val="7200"/>
              </a:lnSpc>
            </a:pPr>
            <a:r>
              <a:rPr lang="en-US" sz="6000" b="true">
                <a:solidFill>
                  <a:srgbClr val="FFFFFF"/>
                </a:solidFill>
                <a:latin typeface="Aptos Bold"/>
                <a:ea typeface="Aptos Bold"/>
                <a:cs typeface="Aptos Bold"/>
                <a:sym typeface="Aptos Bold"/>
              </a:rPr>
              <a:t>Thank You</a:t>
            </a:r>
          </a:p>
        </p:txBody>
      </p:sp>
      <p:sp>
        <p:nvSpPr>
          <p:cNvPr name="TextBox 13" id="13"/>
          <p:cNvSpPr txBox="true"/>
          <p:nvPr/>
        </p:nvSpPr>
        <p:spPr>
          <a:xfrm rot="0">
            <a:off x="1737360" y="4914900"/>
            <a:ext cx="11887200" cy="457200"/>
          </a:xfrm>
          <a:prstGeom prst="rect">
            <a:avLst/>
          </a:prstGeom>
        </p:spPr>
        <p:txBody>
          <a:bodyPr anchor="t" rtlCol="false" tIns="0" lIns="0" bIns="0" rIns="0">
            <a:spAutoFit/>
          </a:bodyPr>
          <a:lstStyle/>
          <a:p>
            <a:pPr algn="ctr">
              <a:lnSpc>
                <a:spcPts val="3240"/>
              </a:lnSpc>
            </a:pPr>
            <a:r>
              <a:rPr lang="en-US" sz="2700">
                <a:solidFill>
                  <a:srgbClr val="D2EBF5"/>
                </a:solidFill>
                <a:latin typeface="Aptos"/>
                <a:ea typeface="Aptos"/>
                <a:cs typeface="Aptos"/>
                <a:sym typeface="Aptos"/>
              </a:rPr>
              <a:t>For Your Valuable Attention</a:t>
            </a:r>
          </a:p>
        </p:txBody>
      </p:sp>
      <p:sp>
        <p:nvSpPr>
          <p:cNvPr name="TextBox 14" id="14"/>
          <p:cNvSpPr txBox="true"/>
          <p:nvPr/>
        </p:nvSpPr>
        <p:spPr>
          <a:xfrm rot="0">
            <a:off x="1737360" y="6286500"/>
            <a:ext cx="11887200" cy="295275"/>
          </a:xfrm>
          <a:prstGeom prst="rect">
            <a:avLst/>
          </a:prstGeom>
        </p:spPr>
        <p:txBody>
          <a:bodyPr anchor="t" rtlCol="false" tIns="0" lIns="0" bIns="0" rIns="0">
            <a:spAutoFit/>
          </a:bodyPr>
          <a:lstStyle/>
          <a:p>
            <a:pPr algn="ctr">
              <a:lnSpc>
                <a:spcPts val="2340"/>
              </a:lnSpc>
            </a:pPr>
            <a:r>
              <a:rPr lang="en-US" sz="1950" b="true">
                <a:solidFill>
                  <a:srgbClr val="FFFFFF"/>
                </a:solidFill>
                <a:latin typeface="Aptos Bold"/>
                <a:ea typeface="Aptos Bold"/>
                <a:cs typeface="Aptos Bold"/>
                <a:sym typeface="Aptos Bold"/>
              </a:rPr>
              <a:t>Guide: Mrs. C. Vinitha Reddy, Assistant Professor          Section: CSE – A</a:t>
            </a:r>
          </a:p>
        </p:txBody>
      </p:sp>
      <p:sp>
        <p:nvSpPr>
          <p:cNvPr name="TextBox 15" id="15"/>
          <p:cNvSpPr txBox="true"/>
          <p:nvPr/>
        </p:nvSpPr>
        <p:spPr>
          <a:xfrm rot="0">
            <a:off x="1737360" y="6972300"/>
            <a:ext cx="11887200" cy="295275"/>
          </a:xfrm>
          <a:prstGeom prst="rect">
            <a:avLst/>
          </a:prstGeom>
        </p:spPr>
        <p:txBody>
          <a:bodyPr anchor="t" rtlCol="false" tIns="0" lIns="0" bIns="0" rIns="0">
            <a:spAutoFit/>
          </a:bodyPr>
          <a:lstStyle/>
          <a:p>
            <a:pPr algn="ctr">
              <a:lnSpc>
                <a:spcPts val="2340"/>
              </a:lnSpc>
            </a:pPr>
            <a:r>
              <a:rPr lang="en-US" sz="1950">
                <a:solidFill>
                  <a:srgbClr val="D2EBF5"/>
                </a:solidFill>
                <a:latin typeface="Aptos"/>
                <a:ea typeface="Aptos"/>
                <a:cs typeface="Aptos"/>
                <a:sym typeface="Aptos"/>
              </a:rPr>
              <a:t>IV B.Tech CSE  |  A.Y. 2026-2027  |  Review-I  |  16 / 09 / 2026</a:t>
            </a:r>
          </a:p>
        </p:txBody>
      </p:sp>
      <p:grpSp>
        <p:nvGrpSpPr>
          <p:cNvPr name="Group 16" id="16"/>
          <p:cNvGrpSpPr/>
          <p:nvPr/>
        </p:nvGrpSpPr>
        <p:grpSpPr>
          <a:xfrm rot="0">
            <a:off x="857250" y="610657"/>
            <a:ext cx="1577340" cy="1577340"/>
            <a:chOff x="0" y="0"/>
            <a:chExt cx="2103120" cy="2103120"/>
          </a:xfrm>
        </p:grpSpPr>
        <p:sp>
          <p:nvSpPr>
            <p:cNvPr name="Freeform 17" id="17" descr="kprit logo-02 (1).png"/>
            <p:cNvSpPr/>
            <p:nvPr/>
          </p:nvSpPr>
          <p:spPr>
            <a:xfrm flipH="false" flipV="false" rot="0">
              <a:off x="0" y="0"/>
              <a:ext cx="2103120" cy="2103120"/>
            </a:xfrm>
            <a:custGeom>
              <a:avLst/>
              <a:gdLst/>
              <a:ahLst/>
              <a:cxnLst/>
              <a:rect r="r" b="b" t="t" l="l"/>
              <a:pathLst>
                <a:path h="2103120" w="2103120">
                  <a:moveTo>
                    <a:pt x="0" y="0"/>
                  </a:moveTo>
                  <a:lnTo>
                    <a:pt x="2103120" y="0"/>
                  </a:lnTo>
                  <a:lnTo>
                    <a:pt x="2103120" y="2103120"/>
                  </a:lnTo>
                  <a:lnTo>
                    <a:pt x="0" y="2103120"/>
                  </a:lnTo>
                  <a:lnTo>
                    <a:pt x="0" y="0"/>
                  </a:lnTo>
                  <a:close/>
                </a:path>
              </a:pathLst>
            </a:custGeom>
            <a:blipFill>
              <a:blip r:embed="rId2"/>
              <a:stretch>
                <a:fillRect l="0" t="0" r="0" b="0"/>
              </a:stretch>
            </a:blipFill>
          </p:spPr>
        </p:sp>
      </p:grpSp>
      <p:grpSp>
        <p:nvGrpSpPr>
          <p:cNvPr name="Group 18" id="18"/>
          <p:cNvGrpSpPr/>
          <p:nvPr/>
        </p:nvGrpSpPr>
        <p:grpSpPr>
          <a:xfrm rot="0">
            <a:off x="-41910" y="5600700"/>
            <a:ext cx="5061335" cy="4960620"/>
            <a:chOff x="0" y="0"/>
            <a:chExt cx="6748447" cy="6614160"/>
          </a:xfrm>
        </p:grpSpPr>
        <p:sp>
          <p:nvSpPr>
            <p:cNvPr name="Freeform 19" id="19" descr="pngtree-transparent-watercolor-flowers-png-image_6646331 (1).png"/>
            <p:cNvSpPr/>
            <p:nvPr/>
          </p:nvSpPr>
          <p:spPr>
            <a:xfrm flipH="false" flipV="false" rot="0">
              <a:off x="0" y="0"/>
              <a:ext cx="6748447" cy="6614160"/>
            </a:xfrm>
            <a:custGeom>
              <a:avLst/>
              <a:gdLst/>
              <a:ahLst/>
              <a:cxnLst/>
              <a:rect r="r" b="b" t="t" l="l"/>
              <a:pathLst>
                <a:path h="6614160" w="6748447">
                  <a:moveTo>
                    <a:pt x="0" y="0"/>
                  </a:moveTo>
                  <a:lnTo>
                    <a:pt x="6748447" y="0"/>
                  </a:lnTo>
                  <a:lnTo>
                    <a:pt x="6748447" y="6614160"/>
                  </a:lnTo>
                  <a:lnTo>
                    <a:pt x="0" y="6614160"/>
                  </a:lnTo>
                  <a:lnTo>
                    <a:pt x="0" y="0"/>
                  </a:lnTo>
                  <a:close/>
                </a:path>
              </a:pathLst>
            </a:custGeom>
            <a:blipFill>
              <a:blip r:embed="rId3"/>
              <a:stretch>
                <a:fillRect l="-811" t="-3686" r="-811" b="0"/>
              </a:stretch>
            </a:blipFill>
          </p:spPr>
        </p:sp>
      </p:grpSp>
      <p:grpSp>
        <p:nvGrpSpPr>
          <p:cNvPr name="Group 20" id="20"/>
          <p:cNvGrpSpPr/>
          <p:nvPr/>
        </p:nvGrpSpPr>
        <p:grpSpPr>
          <a:xfrm rot="0">
            <a:off x="14513947" y="960749"/>
            <a:ext cx="1920240" cy="1577340"/>
            <a:chOff x="0" y="0"/>
            <a:chExt cx="2560320" cy="2103120"/>
          </a:xfrm>
        </p:grpSpPr>
        <p:sp>
          <p:nvSpPr>
            <p:cNvPr name="Freeform 21" id="21"/>
            <p:cNvSpPr/>
            <p:nvPr/>
          </p:nvSpPr>
          <p:spPr>
            <a:xfrm flipH="false" flipV="false" rot="0">
              <a:off x="0" y="0"/>
              <a:ext cx="2560320" cy="2103120"/>
            </a:xfrm>
            <a:custGeom>
              <a:avLst/>
              <a:gdLst/>
              <a:ahLst/>
              <a:cxnLst/>
              <a:rect r="r" b="b" t="t" l="l"/>
              <a:pathLst>
                <a:path h="2103120" w="2560320">
                  <a:moveTo>
                    <a:pt x="0" y="350520"/>
                  </a:moveTo>
                  <a:cubicBezTo>
                    <a:pt x="0" y="156972"/>
                    <a:pt x="156972" y="0"/>
                    <a:pt x="350520" y="0"/>
                  </a:cubicBezTo>
                  <a:lnTo>
                    <a:pt x="2209800" y="0"/>
                  </a:lnTo>
                  <a:cubicBezTo>
                    <a:pt x="2403348" y="0"/>
                    <a:pt x="2560320" y="156972"/>
                    <a:pt x="2560320" y="350520"/>
                  </a:cubicBezTo>
                  <a:lnTo>
                    <a:pt x="2560320" y="1752600"/>
                  </a:lnTo>
                  <a:cubicBezTo>
                    <a:pt x="2560320" y="1946148"/>
                    <a:pt x="2403348" y="2103120"/>
                    <a:pt x="2209800" y="2103120"/>
                  </a:cubicBezTo>
                  <a:lnTo>
                    <a:pt x="350520" y="2103120"/>
                  </a:lnTo>
                  <a:cubicBezTo>
                    <a:pt x="156972" y="2103120"/>
                    <a:pt x="0" y="1946148"/>
                    <a:pt x="0" y="1752600"/>
                  </a:cubicBezTo>
                  <a:close/>
                </a:path>
              </a:pathLst>
            </a:custGeom>
            <a:blipFill>
              <a:blip r:embed="rId4"/>
              <a:stretch>
                <a:fillRect l="-24460" t="0" r="-24460" b="0"/>
              </a:stretch>
            </a:blipFill>
          </p:spPr>
        </p:sp>
      </p:grpSp>
      <p:grpSp>
        <p:nvGrpSpPr>
          <p:cNvPr name="Group 22" id="22"/>
          <p:cNvGrpSpPr/>
          <p:nvPr/>
        </p:nvGrpSpPr>
        <p:grpSpPr>
          <a:xfrm rot="0">
            <a:off x="16178841" y="2846070"/>
            <a:ext cx="1920240" cy="1577340"/>
            <a:chOff x="0" y="0"/>
            <a:chExt cx="2560320" cy="2103120"/>
          </a:xfrm>
        </p:grpSpPr>
        <p:sp>
          <p:nvSpPr>
            <p:cNvPr name="Freeform 23" id="23"/>
            <p:cNvSpPr/>
            <p:nvPr/>
          </p:nvSpPr>
          <p:spPr>
            <a:xfrm flipH="false" flipV="false" rot="0">
              <a:off x="0" y="0"/>
              <a:ext cx="2560320" cy="2103120"/>
            </a:xfrm>
            <a:custGeom>
              <a:avLst/>
              <a:gdLst/>
              <a:ahLst/>
              <a:cxnLst/>
              <a:rect r="r" b="b" t="t" l="l"/>
              <a:pathLst>
                <a:path h="2103120" w="2560320">
                  <a:moveTo>
                    <a:pt x="0" y="350520"/>
                  </a:moveTo>
                  <a:cubicBezTo>
                    <a:pt x="0" y="156972"/>
                    <a:pt x="156972" y="0"/>
                    <a:pt x="350520" y="0"/>
                  </a:cubicBezTo>
                  <a:lnTo>
                    <a:pt x="2209800" y="0"/>
                  </a:lnTo>
                  <a:cubicBezTo>
                    <a:pt x="2403348" y="0"/>
                    <a:pt x="2560320" y="156972"/>
                    <a:pt x="2560320" y="350520"/>
                  </a:cubicBezTo>
                  <a:lnTo>
                    <a:pt x="2560320" y="1752600"/>
                  </a:lnTo>
                  <a:cubicBezTo>
                    <a:pt x="2560320" y="1946148"/>
                    <a:pt x="2403348" y="2103120"/>
                    <a:pt x="2209800" y="2103120"/>
                  </a:cubicBezTo>
                  <a:lnTo>
                    <a:pt x="350520" y="2103120"/>
                  </a:lnTo>
                  <a:cubicBezTo>
                    <a:pt x="156972" y="2103120"/>
                    <a:pt x="0" y="1946148"/>
                    <a:pt x="0" y="1752600"/>
                  </a:cubicBezTo>
                  <a:close/>
                </a:path>
              </a:pathLst>
            </a:custGeom>
            <a:blipFill>
              <a:blip r:embed="rId4"/>
              <a:stretch>
                <a:fillRect l="-24460" t="0" r="-24460" b="0"/>
              </a:stretch>
            </a:blipFill>
          </p:spPr>
        </p:sp>
      </p:grpSp>
      <p:grpSp>
        <p:nvGrpSpPr>
          <p:cNvPr name="Group 24" id="24"/>
          <p:cNvGrpSpPr/>
          <p:nvPr/>
        </p:nvGrpSpPr>
        <p:grpSpPr>
          <a:xfrm rot="0">
            <a:off x="14196060" y="4869180"/>
            <a:ext cx="1920240" cy="1577340"/>
            <a:chOff x="0" y="0"/>
            <a:chExt cx="2560320" cy="2103120"/>
          </a:xfrm>
        </p:grpSpPr>
        <p:sp>
          <p:nvSpPr>
            <p:cNvPr name="Freeform 25" id="25"/>
            <p:cNvSpPr/>
            <p:nvPr/>
          </p:nvSpPr>
          <p:spPr>
            <a:xfrm flipH="false" flipV="false" rot="0">
              <a:off x="0" y="0"/>
              <a:ext cx="2560320" cy="2103120"/>
            </a:xfrm>
            <a:custGeom>
              <a:avLst/>
              <a:gdLst/>
              <a:ahLst/>
              <a:cxnLst/>
              <a:rect r="r" b="b" t="t" l="l"/>
              <a:pathLst>
                <a:path h="2103120" w="2560320">
                  <a:moveTo>
                    <a:pt x="0" y="350520"/>
                  </a:moveTo>
                  <a:cubicBezTo>
                    <a:pt x="0" y="156972"/>
                    <a:pt x="156972" y="0"/>
                    <a:pt x="350520" y="0"/>
                  </a:cubicBezTo>
                  <a:lnTo>
                    <a:pt x="2209800" y="0"/>
                  </a:lnTo>
                  <a:cubicBezTo>
                    <a:pt x="2403348" y="0"/>
                    <a:pt x="2560320" y="156972"/>
                    <a:pt x="2560320" y="350520"/>
                  </a:cubicBezTo>
                  <a:lnTo>
                    <a:pt x="2560320" y="1752600"/>
                  </a:lnTo>
                  <a:cubicBezTo>
                    <a:pt x="2560320" y="1946148"/>
                    <a:pt x="2403348" y="2103120"/>
                    <a:pt x="2209800" y="2103120"/>
                  </a:cubicBezTo>
                  <a:lnTo>
                    <a:pt x="350520" y="2103120"/>
                  </a:lnTo>
                  <a:cubicBezTo>
                    <a:pt x="156972" y="2103120"/>
                    <a:pt x="0" y="1946148"/>
                    <a:pt x="0" y="1752600"/>
                  </a:cubicBezTo>
                  <a:close/>
                </a:path>
              </a:pathLst>
            </a:custGeom>
            <a:blipFill>
              <a:blip r:embed="rId4"/>
              <a:stretch>
                <a:fillRect l="-24460" t="0" r="-24460" b="0"/>
              </a:stretch>
            </a:blipFill>
          </p:spPr>
        </p:sp>
      </p:grpSp>
      <p:grpSp>
        <p:nvGrpSpPr>
          <p:cNvPr name="Group 26" id="26"/>
          <p:cNvGrpSpPr/>
          <p:nvPr/>
        </p:nvGrpSpPr>
        <p:grpSpPr>
          <a:xfrm rot="0">
            <a:off x="16178841" y="6926580"/>
            <a:ext cx="1920240" cy="1577340"/>
            <a:chOff x="0" y="0"/>
            <a:chExt cx="2560320" cy="2103120"/>
          </a:xfrm>
        </p:grpSpPr>
        <p:sp>
          <p:nvSpPr>
            <p:cNvPr name="Freeform 27" id="27"/>
            <p:cNvSpPr/>
            <p:nvPr/>
          </p:nvSpPr>
          <p:spPr>
            <a:xfrm flipH="false" flipV="false" rot="0">
              <a:off x="0" y="0"/>
              <a:ext cx="2560320" cy="2103120"/>
            </a:xfrm>
            <a:custGeom>
              <a:avLst/>
              <a:gdLst/>
              <a:ahLst/>
              <a:cxnLst/>
              <a:rect r="r" b="b" t="t" l="l"/>
              <a:pathLst>
                <a:path h="2103120" w="2560320">
                  <a:moveTo>
                    <a:pt x="0" y="350520"/>
                  </a:moveTo>
                  <a:cubicBezTo>
                    <a:pt x="0" y="156972"/>
                    <a:pt x="156972" y="0"/>
                    <a:pt x="350520" y="0"/>
                  </a:cubicBezTo>
                  <a:lnTo>
                    <a:pt x="2209800" y="0"/>
                  </a:lnTo>
                  <a:cubicBezTo>
                    <a:pt x="2403348" y="0"/>
                    <a:pt x="2560320" y="156972"/>
                    <a:pt x="2560320" y="350520"/>
                  </a:cubicBezTo>
                  <a:lnTo>
                    <a:pt x="2560320" y="1752600"/>
                  </a:lnTo>
                  <a:cubicBezTo>
                    <a:pt x="2560320" y="1946148"/>
                    <a:pt x="2403348" y="2103120"/>
                    <a:pt x="2209800" y="2103120"/>
                  </a:cubicBezTo>
                  <a:lnTo>
                    <a:pt x="350520" y="2103120"/>
                  </a:lnTo>
                  <a:cubicBezTo>
                    <a:pt x="156972" y="2103120"/>
                    <a:pt x="0" y="1946148"/>
                    <a:pt x="0" y="1752600"/>
                  </a:cubicBezTo>
                  <a:close/>
                </a:path>
              </a:pathLst>
            </a:custGeom>
            <a:blipFill>
              <a:blip r:embed="rId4"/>
              <a:stretch>
                <a:fillRect l="-24460" t="0" r="-24460" b="0"/>
              </a:stretch>
            </a:blipFill>
          </p:spPr>
        </p:sp>
      </p:grpSp>
      <p:sp>
        <p:nvSpPr>
          <p:cNvPr name="TextBox 28" id="28"/>
          <p:cNvSpPr txBox="true"/>
          <p:nvPr/>
        </p:nvSpPr>
        <p:spPr>
          <a:xfrm rot="0">
            <a:off x="16525618" y="1651149"/>
            <a:ext cx="1542117" cy="491138"/>
          </a:xfrm>
          <a:prstGeom prst="rect">
            <a:avLst/>
          </a:prstGeom>
        </p:spPr>
        <p:txBody>
          <a:bodyPr anchor="t" rtlCol="false" tIns="0" lIns="0" bIns="0" rIns="0">
            <a:spAutoFit/>
          </a:bodyPr>
          <a:lstStyle/>
          <a:p>
            <a:pPr algn="l">
              <a:lnSpc>
                <a:spcPts val="1620"/>
              </a:lnSpc>
            </a:pPr>
            <a:r>
              <a:rPr lang="en-US" b="true" sz="1350" i="true">
                <a:solidFill>
                  <a:srgbClr val="000000"/>
                </a:solidFill>
                <a:latin typeface="Calibri (MS) Bold Italics"/>
                <a:ea typeface="Calibri (MS) Bold Italics"/>
                <a:cs typeface="Calibri (MS) Bold Italics"/>
                <a:sym typeface="Calibri (MS) Bold Italics"/>
              </a:rPr>
              <a:t>J. LIRISHA</a:t>
            </a:r>
          </a:p>
        </p:txBody>
      </p:sp>
      <p:sp>
        <p:nvSpPr>
          <p:cNvPr name="TextBox 29" id="29"/>
          <p:cNvSpPr txBox="true"/>
          <p:nvPr/>
        </p:nvSpPr>
        <p:spPr>
          <a:xfrm rot="0">
            <a:off x="14308160" y="3651885"/>
            <a:ext cx="1808140" cy="228600"/>
          </a:xfrm>
          <a:prstGeom prst="rect">
            <a:avLst/>
          </a:prstGeom>
        </p:spPr>
        <p:txBody>
          <a:bodyPr anchor="t" rtlCol="false" tIns="0" lIns="0" bIns="0" rIns="0">
            <a:spAutoFit/>
          </a:bodyPr>
          <a:lstStyle/>
          <a:p>
            <a:pPr algn="l">
              <a:lnSpc>
                <a:spcPts val="1620"/>
              </a:lnSpc>
            </a:pPr>
            <a:r>
              <a:rPr lang="en-US" b="true" sz="1350" i="true">
                <a:solidFill>
                  <a:srgbClr val="000000"/>
                </a:solidFill>
                <a:latin typeface="Calibri (MS) Bold Italics"/>
                <a:ea typeface="Calibri (MS) Bold Italics"/>
                <a:cs typeface="Calibri (MS) Bold Italics"/>
                <a:sym typeface="Calibri (MS) Bold Italics"/>
              </a:rPr>
              <a:t>T. BHANU VARA PRASAD</a:t>
            </a:r>
          </a:p>
        </p:txBody>
      </p:sp>
      <p:sp>
        <p:nvSpPr>
          <p:cNvPr name="TextBox 30" id="30"/>
          <p:cNvSpPr txBox="true"/>
          <p:nvPr/>
        </p:nvSpPr>
        <p:spPr>
          <a:xfrm rot="0">
            <a:off x="16270281" y="5703922"/>
            <a:ext cx="1842116" cy="491138"/>
          </a:xfrm>
          <a:prstGeom prst="rect">
            <a:avLst/>
          </a:prstGeom>
        </p:spPr>
        <p:txBody>
          <a:bodyPr anchor="t" rtlCol="false" tIns="0" lIns="0" bIns="0" rIns="0">
            <a:spAutoFit/>
          </a:bodyPr>
          <a:lstStyle/>
          <a:p>
            <a:pPr algn="l">
              <a:lnSpc>
                <a:spcPts val="1620"/>
              </a:lnSpc>
            </a:pPr>
            <a:r>
              <a:rPr lang="en-US" b="true" sz="1350" i="true">
                <a:solidFill>
                  <a:srgbClr val="000000"/>
                </a:solidFill>
                <a:latin typeface="Calibri (MS) Bold Italics"/>
                <a:ea typeface="Calibri (MS) Bold Italics"/>
                <a:cs typeface="Calibri (MS) Bold Italics"/>
                <a:sym typeface="Calibri (MS) Bold Italics"/>
              </a:rPr>
              <a:t>M. ABHINAV</a:t>
            </a:r>
          </a:p>
        </p:txBody>
      </p:sp>
      <p:sp>
        <p:nvSpPr>
          <p:cNvPr name="TextBox 31" id="31"/>
          <p:cNvSpPr txBox="true"/>
          <p:nvPr/>
        </p:nvSpPr>
        <p:spPr>
          <a:xfrm rot="0">
            <a:off x="14041441" y="7809205"/>
            <a:ext cx="1962121" cy="428625"/>
          </a:xfrm>
          <a:prstGeom prst="rect">
            <a:avLst/>
          </a:prstGeom>
        </p:spPr>
        <p:txBody>
          <a:bodyPr anchor="t" rtlCol="false" tIns="0" lIns="0" bIns="0" rIns="0">
            <a:spAutoFit/>
          </a:bodyPr>
          <a:lstStyle/>
          <a:p>
            <a:pPr algn="ctr">
              <a:lnSpc>
                <a:spcPts val="1620"/>
              </a:lnSpc>
            </a:pPr>
            <a:r>
              <a:rPr lang="en-US" b="true" sz="1350" i="true">
                <a:solidFill>
                  <a:srgbClr val="000000"/>
                </a:solidFill>
                <a:latin typeface="Calibri (MS) Bold Italics"/>
                <a:ea typeface="Calibri (MS) Bold Italics"/>
                <a:cs typeface="Calibri (MS) Bold Italics"/>
                <a:sym typeface="Calibri (MS) Bold Italics"/>
              </a:rPr>
              <a:t>J. CHANDRA SHEKAR REDDY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DAHVMb4LipM</dc:identifier>
  <dcterms:modified xsi:type="dcterms:W3CDTF">2011-08-01T06:04:30Z</dcterms:modified>
  <cp:revision>1</cp:revision>
  <dc:title>MedConnect_Major_Project_Review-1.1.pptx</dc:title>
</cp:coreProperties>
</file>